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无掩码</c:v>
                </c:pt>
              </c:strCache>
            </c:strRef>
          </c:tx>
          <c:spPr>
            <a:solidFill>
              <a:srgbClr val="999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Agent0</c:v>
                  </c:pt>
                  <c:pt idx="1">
                    <c:v>Agent1</c:v>
                  </c:pt>
                  <c:pt idx="2">
                    <c:v>Agent2</c:v>
                  </c:pt>
                  <c:pt idx="3">
                    <c:v>Agent3</c:v>
                  </c:pt>
                  <c:pt idx="4">
                    <c:v>总平均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75.2</c:v>
                </c:pt>
                <c:pt idx="1">
                  <c:v>72.5</c:v>
                </c:pt>
                <c:pt idx="2">
                  <c:v>65.9</c:v>
                </c:pt>
                <c:pt idx="3">
                  <c:v>41</c:v>
                </c:pt>
                <c:pt idx="4">
                  <c:v>254.7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有掩码</c:v>
                </c:pt>
              </c:strCache>
            </c:strRef>
          </c:tx>
          <c:spPr>
            <a:solidFill>
              <a:srgbClr val="2B57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Agent0</c:v>
                  </c:pt>
                  <c:pt idx="1">
                    <c:v>Agent1</c:v>
                  </c:pt>
                  <c:pt idx="2">
                    <c:v>Agent2</c:v>
                  </c:pt>
                  <c:pt idx="3">
                    <c:v>Agent3</c:v>
                  </c:pt>
                  <c:pt idx="4">
                    <c:v>总平均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77.6</c:v>
                </c:pt>
                <c:pt idx="1">
                  <c:v>73.3</c:v>
                </c:pt>
                <c:pt idx="2">
                  <c:v>68.2</c:v>
                </c:pt>
                <c:pt idx="3">
                  <c:v>60.8</c:v>
                </c:pt>
                <c:pt idx="4">
                  <c:v>279.8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总平均</c:v>
                </c:pt>
              </c:strCache>
            </c:strRef>
          </c:tx>
          <c:spPr>
            <a:solidFill>
              <a:srgbClr val="2B57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线性</c:v>
                  </c:pt>
                  <c:pt idx="1">
                    <c:v>指数</c:v>
                  </c:pt>
                  <c:pt idx="2">
                    <c:v>反比例</c:v>
                  </c:pt>
                  <c:pt idx="3">
                    <c:v>距离奖励</c:v>
                  </c:pt>
                  <c:pt idx="4">
                    <c:v>稀疏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379.4</c:v>
                </c:pt>
                <c:pt idx="1">
                  <c:v>310.1</c:v>
                </c:pt>
                <c:pt idx="2">
                  <c:v>380.2</c:v>
                </c:pt>
                <c:pt idx="3">
                  <c:v>390.1</c:v>
                </c:pt>
                <c:pt idx="4">
                  <c:v>234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拾球任务(S1)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MLP</c:v>
                  </c:pt>
                  <c:pt idx="1">
                    <c:v>SegMLP</c:v>
                  </c:pt>
                  <c:pt idx="2">
                    <c:v>GRU-96</c:v>
                  </c:pt>
                  <c:pt idx="3">
                    <c:v>GRU-128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862.4</c:v>
                </c:pt>
                <c:pt idx="1">
                  <c:v>940.6</c:v>
                </c:pt>
                <c:pt idx="2">
                  <c:v>894.4</c:v>
                </c:pt>
                <c:pt idx="3">
                  <c:v>905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战斗任务(Sarl)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MLP</c:v>
                  </c:pt>
                  <c:pt idx="1">
                    <c:v>SegMLP</c:v>
                  </c:pt>
                  <c:pt idx="2">
                    <c:v>GRU-96</c:v>
                  </c:pt>
                  <c:pt idx="3">
                    <c:v>GRU-128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775.2</c:v>
                </c:pt>
                <c:pt idx="1">
                  <c:v>714.6</c:v>
                </c:pt>
                <c:pt idx="2">
                  <c:v>582.9</c:v>
                </c:pt>
                <c:pt idx="3">
                  <c:v>578.5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均奖励</c:v>
                </c:pt>
              </c:strCache>
            </c:strRef>
          </c:tx>
          <c:spPr>
            <a:solidFill>
              <a:srgbClr val="999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57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6666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IPPO</c:v>
                  </c:pt>
                  <c:pt idx="1">
                    <c:v>对手池博弈</c:v>
                  </c:pt>
                  <c:pt idx="2">
                    <c:v>平均策略博弈</c:v>
                  </c:pt>
                  <c:pt idx="3">
                    <c:v>初始策略(对照)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495</c:v>
                </c:pt>
                <c:pt idx="1">
                  <c:v>339</c:v>
                </c:pt>
                <c:pt idx="2">
                  <c:v>586.3</c:v>
                </c:pt>
                <c:pt idx="3">
                  <c:v>603.1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0" cy="0"/>
          </a:xfrm>
          <a:prstGeom prst="line">
            <a:avLst/>
          </a:prstGeom>
          <a:noFill/>
          <a:ln w="38100">
            <a:solidFill>
              <a:srgbClr val="2B57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华北电力大学  ·  控制与计算机工程学院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基于机器学习的对抗性机器博弈研究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多智能体博弈环境构建与对抗训练方法对比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答辩人：蒋伦吉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指导教师：刘春阳  副教授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专业：计算机科学与技术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6 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2618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对抗性博弈场景下的多智能体强化学习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804672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环境设计 — Tiny Swords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8366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174维观测 · 6动作 · PBRS多层奖励 · 课程学习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804672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94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249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单智能体基础实验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505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观测消融 · 奖励塑形 · 避障策略 · 网络架构对比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16352"/>
            <a:ext cx="804672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712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871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多智能体博弈训练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1272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IPPO · 对手池博弈 · 平均策略博弈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38144"/>
            <a:ext cx="804672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930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评估结果与统计分析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749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三类方法的多维量化对比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59936"/>
            <a:ext cx="804672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14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3708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主要贡献与未来方向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突破往往发生在博弈对抗场景中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AlphaGo (2016)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围棋超越人类顶尖棋手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AlphaStar (2019)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星际争霸II 宗师级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Five (2019)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Dota 2 击败世界冠军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多智能体博弈的核心挑战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840480" cy="1828800"/>
          </a:xfrm>
          <a:prstGeom prst="rect">
            <a:avLst/>
          </a:prstGeom>
          <a:solidFill>
            <a:srgbClr val="D6E4F0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087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非平稳性 (Non-stationarity)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每个智能体策略更新 → 其他智能体面对的环境转移概率改变 → MDP 假设不再成立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CTDE 局限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集中式训练需全局信息共享 → 对完全对抗场景不可行 → 采用 DTDE (IPPO)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研究路径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8046720" cy="0"/>
          </a:xfrm>
          <a:prstGeom prst="line">
            <a:avLst/>
          </a:prstGeom>
          <a:noFill/>
          <a:ln w="12700">
            <a:solidFill>
              <a:srgbClr val="2B57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88620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环境构建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Godot + 174维观测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38862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388620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基础训练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课程学习+ PBRS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94760" y="38862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388620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单智能体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实验对比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94960" y="38862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388620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博弈训练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IPPO/Pool/Avg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38862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3886200"/>
            <a:ext cx="1463040" cy="64008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多维评估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统计检验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相关理论与技术基础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2560320" cy="3657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 算法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Actor-Critic 架构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GAE 广义优势估计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Clipped surrogate objective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限制新旧策略差异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超参数鲁棒 · 样本高效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IPPO: 每智能体独立 PPO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0" cy="31089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05840"/>
            <a:ext cx="2560320" cy="3657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奖励塑形 (PBRS)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46304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= γΦ(s') - Φ(s)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势函数 Φ 注入领域知识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 MDP 最优策略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稠密引导替代稀疏终局奖励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加速策略收敛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多层奖励体系设计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0" cy="31089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005840"/>
            <a:ext cx="2560320" cy="3657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博弈论基础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自博弈 (Self-Play)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虚拟自我博弈 (FSP/NFSP)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PSRO — 策略空间响应 Oracle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联盟训练 (AlphaStar)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对手池采样 (PFSP)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非平稳性处理框架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博弈环境 — Tiny Swords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游戏类型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俯视角四人混战竞技场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99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399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Godot 4.x + Godot RL Agents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46504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792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18×18 栅格正方形竞技场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39696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局时长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1854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 / 1350 动作步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32888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78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578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个，各出生在四角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敌人 NPC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5 个，随机游走 + 追杀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19272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649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364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类(出生点) + B 类(中央，可重生)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12464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581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758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半径 200px，部分可观测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智能体差异化风格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0" y="150876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1554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战士型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560" y="17830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0, 2  ·  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进攻导向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1965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高战斗收益 · 低采集收益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246888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2514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2743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1  ·  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避战收集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29260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高拾球收益 · 低战斗收益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342900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3474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3703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3  ·  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保守稳健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23560" y="3886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中间值 · 低风险得分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训练架构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Godot 环境 ← TCP Socket → Python PPO 训练端  ·  CleanRL 风格手写实现  ·  每 8 物理帧一次决策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观测空间与动作空间设计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 维分段式观测空间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389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分段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 · 血量 · 朝向 · 冷却 · 速度 · 上一步动作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PLAYER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(3×11)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对手相对位置 · 血量 · 朝向 · 速度 · 有效掩码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BALL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 (8×5)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奖励球相对位置 · 类型 · 距离排序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ENEMY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(5×10)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敌人相对位置 · 血量 · 攻击状态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LiDAR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 (36×1)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 条射线检测障碍物距离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种离散动作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0" y="137160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上移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0" y="137160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下移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187452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左移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32320" y="187452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右移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237744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⏸ 待机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32320" y="237744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0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⚔ 攻击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编码设计原则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以自身为中心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2402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 → 相对偏移量，除以视野归一化 [-1,1]，保证平移不变性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194560" y="3401568"/>
            <a:ext cx="0" cy="384048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固定槽位编码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550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PLAYER 按 ID 固定槽 · BALL 按距离排序 · 保证时序位置一致性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309360" y="3401568"/>
            <a:ext cx="0" cy="384048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3931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有效位掩码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24028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每个实体槽位末尾标记有效位 0/1，区分有效信息与填充零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194560" y="3950208"/>
            <a:ext cx="0" cy="384048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3931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动力学信息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35508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攻击动画 · 冷却比例 · 速度 · 上一动作 one-hot — 捕获瞬时动态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309360" y="3950208"/>
            <a:ext cx="0" cy="384048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奖励函数设计 — 基于 PBRS 的多层体系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PBRS 理论基础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F(s, a, s') = γ·Φ(s') − Φ(s)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塑形奖励 = 势函数的折扣差分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不改变 MDP 的最优策略 (Ng et al., 1999)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将领域知识注入学习过程，稠密引导替代稀疏奖励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双层奖励体系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89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事件稀疏奖励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拾球 · 攻击伤害 · 击杀 · 受伤 · 死亡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8928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势能稠密塑形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075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Φ(d) = −d (线性) · 引导走向奖励球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37744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957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撞墙惩罚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578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−0.5/次 (稀疏) · 平衡得分与避障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98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机动惩罚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0815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 −0.001/帧 · 静止 −0.005/帧 · 防止惰性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38328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4015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中心区域奖励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584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+0.003/帧 · 鼓励进入资源密集区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88620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904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攻击惩罚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40873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−0.02/次 · 防止无意义攻击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Welford 在线 z-score 归一化到 [−1, 1]  ·  零和约束：战士=采集+均衡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课程学习 — 五阶段渐进式训练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1508760" cy="2560320"/>
          </a:xfrm>
          <a:prstGeom prst="rect">
            <a:avLst/>
          </a:prstGeom>
          <a:solidFill>
            <a:srgbClr val="A8D8EA">
              <a:alpha val="60000"/>
            </a:srgbClr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无障碍拾球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无墙、无敌人 — 仅学拾球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1005840"/>
            <a:ext cx="182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12848" y="1005840"/>
            <a:ext cx="1508760" cy="2560320"/>
          </a:xfrm>
          <a:prstGeom prst="rect">
            <a:avLst/>
          </a:prstGeom>
          <a:solidFill>
            <a:srgbClr val="AA96DA">
              <a:alpha val="60000"/>
            </a:srgbClr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58568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避障+拾球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58568" y="1920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58568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引入障碍物 — 学习避障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21608" y="1005840"/>
            <a:ext cx="182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77056" y="1005840"/>
            <a:ext cx="1508760" cy="2560320"/>
          </a:xfrm>
          <a:prstGeom prst="rect">
            <a:avLst/>
          </a:prstGeom>
          <a:solidFill>
            <a:srgbClr val="FCBAD3">
              <a:alpha val="60000"/>
            </a:srgbClr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22776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敌人战斗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22776" y="1920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+200万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22776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引入敌人 — 学习战斗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85816" y="1005840"/>
            <a:ext cx="182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41264" y="1005840"/>
            <a:ext cx="1508760" cy="2560320"/>
          </a:xfrm>
          <a:prstGeom prst="rect">
            <a:avLst/>
          </a:prstGeom>
          <a:solidFill>
            <a:srgbClr val="FFD3B6">
              <a:alpha val="60000"/>
            </a:srgbClr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86984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综合场景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86984" y="1920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86984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敌人+障碍+球 — 综合训练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50024" y="1005840"/>
            <a:ext cx="182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05472" y="1005840"/>
            <a:ext cx="1508760" cy="2560320"/>
          </a:xfrm>
          <a:prstGeom prst="rect">
            <a:avLst/>
          </a:prstGeom>
          <a:solidFill>
            <a:srgbClr val="D5E8D4">
              <a:alpha val="60000"/>
            </a:srgbClr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251192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完整环境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51192" y="1920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51192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四角出生点 · 最终部署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累计训练步数：500 万步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每阶段继承上一阶段最优检查点  ·  PP0 算法  ·  4 智能体同步训练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单智能体实验 — 四大对比维度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38404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7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观测空间消融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474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有效掩码是否必要？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有掩码 vs 无掩码 (174维 vs 158维)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356616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38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有掩码总得分 +9.9%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Agent3 改善最显著 +48.3%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840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1005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奖励球塑形方案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3474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哪种势函数最优？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645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 / 指数 / 反比例 / 距离奖励 / 稀疏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920240"/>
            <a:ext cx="356616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38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距离奖励 390.1 最高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 PBRS 379.4 次之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最近球 vs 所有球: +67%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3840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2834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障碍物避障策略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200400"/>
            <a:ext cx="3474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如何平衡得分与避障？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474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稀疏惩罚(0.05/0.5/5.0) + 稠密塑形(PBRS/直接)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3749040"/>
            <a:ext cx="356616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7673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惩罚0.5: 撞墙−29% 得分持平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稠密塑形撞墙−54% 但得分微降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38404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94960" y="2834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网络架构对比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3200400"/>
            <a:ext cx="3474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MLP/SegMLP/GRU-MLP?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474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拾球任务 + 战斗任务 + Optuna搜索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3749040"/>
            <a:ext cx="356616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7673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战斗: MLP 775.2 最优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Optuna: SegMLP 1116.3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 表现持续落后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 ① — 观测消融与奖励塑形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有效掩码消融 — 总得分对比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38404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奖励塑形方案对比 — 总得分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54880" y="1188720"/>
          <a:ext cx="38404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3703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有效掩码提升 9.9%，Agent3 改善幅度最大 (+48.3%) — 区分有效/无效信息对弱势出生点尤为关键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线性势函数 (379.4) 与距离奖励 (390.1) 接近，但线性 PBRS 保证最优策略不变性 → 最终选择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最近球模式高出所有球模式 67% — 将多目标分解为阶段性子目标效率更高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 ② — 避障策略与网络架构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撞墙惩罚力度对比 (100万步训练)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惩罚值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总得分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撞墙次数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272.6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161.5 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274.1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114.8 (−29%)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122.0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16.7 (过度保守)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网络架构对比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754880" y="128016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MLP 在战斗任务中表现最佳 (775.2) —— 与直觉相反，视野半径大可观测大部分信息，无需历史记忆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Segmented MLP 在拾球任务和 Optuna 搜索中均领先，具有进一步优化潜力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GRU-MLP 表现持续落后，Optuna 仅分配 17 个 trial 后自动放弃 —— 当前环境下时序网络优势有限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 0.5 实现最佳平衡：撞墙减少 29%，得分不受影响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多智能体博弈 — 三种训练方法对比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核心问题：已具备基础技能的智能体共处对抗环境时，何种训练机制能产生应对多样化对手的鲁棒策略？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256032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PPO · 基线方法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个智能体同时独立运行 PPO，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其他智能体策略更新 = 环境非平稳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不引入集中式组件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2377440" cy="457200"/>
          </a:xfrm>
          <a:prstGeom prst="rect">
            <a:avLst/>
          </a:prstGeom>
          <a:solidFill>
            <a:srgbClr val="999999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均奖励: 495.0 (±41.8 CI)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5603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463040"/>
            <a:ext cx="2560320" cy="4114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对手池博弈 (Pool)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PFSP 优先采样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从对手池中按奖励加权采样对手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聚焦困难对手 (低奖励=高概率)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ε-greedy 保持探索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611880"/>
            <a:ext cx="2377440" cy="457200"/>
          </a:xfrm>
          <a:prstGeom prst="rect">
            <a:avLst/>
          </a:prstGeom>
          <a:solidFill>
            <a:srgbClr val="C00000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均奖励: 339.0 (±51.9 CI)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5603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7A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463040"/>
            <a:ext cx="2560320" cy="411480"/>
          </a:xfrm>
          <a:prstGeom prst="rect">
            <a:avLst/>
          </a:prstGeom>
          <a:solidFill>
            <a:srgbClr val="2B7A2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平均策略博弈 (Avg)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虚拟自我博弈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对手池 N=20 组策略动作概率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取算术平均构成虚拟对手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理论: 经典博弈论虚拟博弈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611880"/>
            <a:ext cx="2377440" cy="457200"/>
          </a:xfrm>
          <a:prstGeom prst="rect">
            <a:avLst/>
          </a:prstGeom>
          <a:solidFill>
            <a:srgbClr val="2B7A2B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7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均奖励: 586.3 (±44.5 CI)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每种方法训练 800 万步  ·  统一对手池 (20 组 × 4 智能体) 评估  ·  每组 100 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对手池构建 — 轮换冻结迭代博弈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097280"/>
            <a:ext cx="502920" cy="50292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同步初始训练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智能体同步 IPPO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100 万步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0240" y="1005840"/>
            <a:ext cx="228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21408" y="100584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4328" y="1097280"/>
            <a:ext cx="502920" cy="50292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12" name="Text 10"/>
          <p:cNvSpPr/>
          <p:nvPr/>
        </p:nvSpPr>
        <p:spPr>
          <a:xfrm>
            <a:off x="2624328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12848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冻结对手训练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2848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Agent 1/2/3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仅训练 Agent 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75888" y="1005840"/>
            <a:ext cx="228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77056" y="100584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1097280"/>
            <a:ext cx="502920" cy="50292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18" name="Text 16"/>
          <p:cNvSpPr/>
          <p:nvPr/>
        </p:nvSpPr>
        <p:spPr>
          <a:xfrm>
            <a:off x="4379976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68496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轮换解冻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68496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依次解冻下一智能体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冻结其余 3 个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31536" y="1005840"/>
            <a:ext cx="228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32704" y="100584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35624" y="1097280"/>
            <a:ext cx="502920" cy="50292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24" name="Text 22"/>
          <p:cNvSpPr/>
          <p:nvPr/>
        </p:nvSpPr>
        <p:spPr>
          <a:xfrm>
            <a:off x="6135624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24144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多轮迭代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24144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8 轮 · 每智能体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 50 万步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87184" y="1005840"/>
            <a:ext cx="228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88352" y="100584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91272" y="1097280"/>
            <a:ext cx="502920" cy="50292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30" name="Text 28"/>
          <p:cNvSpPr/>
          <p:nvPr/>
        </p:nvSpPr>
        <p:spPr>
          <a:xfrm>
            <a:off x="7891272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79792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构建对手池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79792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每智能体选最近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个检查点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108960"/>
            <a:ext cx="804672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154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PFSP 对手采样策略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34290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P(c) ∝ exp(−(R_ema − min R_ema) / T)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奖励越低的对手被采样概率越高 → 聚焦困难对手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ε = 10% 均匀随机采样 → 保持统计新鲜度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EMA 胜率追踪 (0.95 衰减) + ELO K=32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 — 多维量化对比 (20 组对手 × 100 局)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960120"/>
          <a:ext cx="4572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960120"/>
          <a:ext cx="3474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914400"/>
                <a:gridCol w="640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均奖励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CI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IPPO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495.0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[474, 516]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对手池博弈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339.0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[314, 366]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146.1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平均策略博弈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586.3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[564, 608]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117.7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初始策略对照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603.1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[576, 630]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104.7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383280"/>
            <a:ext cx="8046720" cy="0"/>
          </a:xfrm>
          <a:prstGeom prst="line">
            <a:avLst/>
          </a:prstGeom>
          <a:noFill/>
          <a:ln w="12700">
            <a:solidFill>
              <a:srgbClr val="2B579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三种继续训练方法中，平均策略博弈均奖励最高 (586.3 &gt; 495.0 &gt; 339.0)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对手池博弈标准差最高 (146.1) — PFSP 聚焦采样在多人策略循环中损害泛化稳定性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B7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初始策略均奖励 603.1，与平均策略博弈差异不显著 (p=0.301) — 课程学习已提供强基线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统计显著性检验 — 配对 t 检验与效应量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配对比较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 奖励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p-value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Cohen's 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IPPO vs Pool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+156.1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1.39e-8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+2.10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***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IPPO vs Avg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−91.3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1.36e-6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−1.55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***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IPPO vs Init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−108.0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8.48e-7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***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Pool vs Avg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−247.4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6.64e-13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−3.78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***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Pool vs Init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−264.1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3.49e-12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−3.44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***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Avg vs Init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−16.8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n.s.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效应量可视化 (Cohen's d)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26480" y="1280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IPPO vs Pool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1280160" cy="1371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63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126480" y="1810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 vs Avg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010912" y="2039112"/>
            <a:ext cx="2304288" cy="1371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1993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-3.78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126480" y="23408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IPPO vs Avg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370320" y="2569464"/>
            <a:ext cx="944880" cy="1371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25237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-1.55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126480" y="28712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 vs Init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18176" y="3099816"/>
            <a:ext cx="2097024" cy="1371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0" y="3054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-3.44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26480" y="34015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IPPO vs Init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339840" y="3630168"/>
            <a:ext cx="975360" cy="1371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0" y="3584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-1.60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26480" y="3931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Avg vs Init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168896" y="4160520"/>
            <a:ext cx="146304" cy="1371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0" y="4114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-0.24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48640" y="3657600"/>
            <a:ext cx="8046720" cy="0"/>
          </a:xfrm>
          <a:prstGeom prst="line">
            <a:avLst/>
          </a:prstGeom>
          <a:noFill/>
          <a:ln w="12700">
            <a:solidFill>
              <a:srgbClr val="2B57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749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*** p &lt; 0.001</a:t>
            </a:r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n.s. = 不显著</a:t>
            </a:r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|d| &gt; 0.8 = 大效应    |d| &gt; 0.5 = 中效应    |d| &lt; 0.2 = 微小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8640" y="40690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除「Avg vs 初始策略」外，所有配对差异高度显著 (p &lt; 0.001)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42885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 vs Avg 效应量最大 (d=−3.78) — 两种方法结果差异极大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45079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Avg vs 初始策略 d=−0.24，效应微小且不显著 — 课程学习已提供强基线，博弈训练增量有限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 — 对手池博弈表现差劲的原因分析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256032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560320" cy="411480"/>
          </a:xfrm>
          <a:prstGeom prst="rect">
            <a:avLst/>
          </a:prstGeom>
          <a:solidFill>
            <a:srgbClr val="C00000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24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策略循环的脆弱性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4人混战 ≠ 两人零和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没有单一纳什均衡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策略循环不断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PFSP 聚焦困难对手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反复适应被淘汰策略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56032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005840"/>
            <a:ext cx="2560320" cy="411480"/>
          </a:xfrm>
          <a:prstGeom prst="rect">
            <a:avLst/>
          </a:prstGeom>
          <a:solidFill>
            <a:srgbClr val="C00000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24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多人博弈的采样偏差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5544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PFSP 采样关注 "智能体0" 胜率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但4人博弈中，胜率包含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其他智能体策略交互效应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聚焦低胜率对手 ≠ 有价值训练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采样信号被污染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56032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05840"/>
            <a:ext cx="2560320" cy="411480"/>
          </a:xfrm>
          <a:prstGeom prst="rect">
            <a:avLst/>
          </a:prstGeom>
          <a:solidFill>
            <a:srgbClr val="C00000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24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博弈训练的边际收益递减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初始课程策略已 603.1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所有博弈训练均未能超越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近战对称风险 + 资源稳定收益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"避免对抗、稳定拾球"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仍是强竞争策略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平均策略博弈的优势：策略平均天然平滑化 → 不追逐极端 → 在多人策略循环中更鲁棒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4343400"/>
            <a:ext cx="5486400" cy="0"/>
          </a:xfrm>
          <a:prstGeom prst="line">
            <a:avLst/>
          </a:prstGeom>
          <a:noFill/>
          <a:ln w="12700">
            <a:solidFill>
              <a:srgbClr val="2B57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总结与主要贡献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主要贡献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完整实验方案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从环境构建 (Tiny Swords) → 基础训练 (课程学习 + PBRS) → 博弈训练 (IPPO/Pool/Avg) → 多维量化评估 的端到端研究管线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多维度实证对比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在非对称四人一般和博弈场景下，对三类训练方法进行了具备统计检验 (配对t/F-test) 和效应量 (Cohen's d) 分析的实证比较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560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环境-方法关系揭示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788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初始策略对照揭示了课程学习、博弈训练、环境对抗强度与评估指标之间的复杂关系：强基线 + 对称性 → 博弈训练增量有限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200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工程经验积累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Godot RL Agents 集成、观测编码设计 (固定槽位/有效掩码)、奖励归一化 (Welford)、Optuna 超参数搜索 的实践方案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理论层面 · 工程层面 · 评估层面 — 三者结合的系统性贡献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0" cy="0"/>
          </a:xfrm>
          <a:prstGeom prst="line">
            <a:avLst/>
          </a:prstGeom>
          <a:noFill/>
          <a:ln w="38100">
            <a:solidFill>
              <a:srgbClr val="2B57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未来研究方向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实现完整联盟训练 (AlphaStar 风格)：Main Agent + Main Exploiter + League Exploiter 三类角色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将平均策略从手工算术平均升级为神经网络逼近 (NFSP)，提升表达能力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丰富策略多样性：引入远程攻击、技能冷却系统、控制效果、地形争夺等新机制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97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从两人零和博弈 (如石头剪刀布) 开始深入探讨 RL + 博弈论结合的理论保证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0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扩展为支持任意人数、可配置分组的多人混战模式，增强博弈复杂性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8046720" cy="0"/>
          </a:xfrm>
          <a:prstGeom prst="line">
            <a:avLst/>
          </a:prstGeom>
          <a:noFill/>
          <a:ln w="254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3383280"/>
            <a:ext cx="548640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感谢各位老师批评指正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蒋伦吉  ·  华北电力大学  ·  计算机科学与技术  ·  2026 年 6 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基于机器学习的对抗性机器博弈研究 — 答辩幻灯片</dc:title>
  <dc:subject>PptxGenJS Presentation</dc:subject>
  <dc:creator>蒋伦吉</dc:creator>
  <cp:lastModifiedBy>蒋伦吉</cp:lastModifiedBy>
  <cp:revision>1</cp:revision>
  <dcterms:created xsi:type="dcterms:W3CDTF">2026-06-03T11:58:24Z</dcterms:created>
  <dcterms:modified xsi:type="dcterms:W3CDTF">2026-06-03T11:58:24Z</dcterms:modified>
</cp:coreProperties>
</file>