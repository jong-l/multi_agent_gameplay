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36"/>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943" y="1143000"/>
            <a:ext cx="5486114"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尊敬的各位评委老师好！我是华北电力大学计算机科学与技术专业的蒋伦吉，我的毕业设计课题是《基于机器学习的对抗性机器博弈研究》，接下来我将从环境设计、训练方法等方面展开答辩，请各位老师批评指正。</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本次答辩内容共分为五个部分，整体遵循从背景提出到方案设计，再到实验验证，最后总结展望的逻辑递进展开：首先阐述研究意义与目标，明确论文核心研究主线；其次说明本文设计的</a:t>
            </a:r>
            <a:r>
              <a:rPr lang="en-US" altLang="zh-CN"/>
              <a:t>Tiny Swords 2D</a:t>
            </a:r>
            <a:r>
              <a:rPr lang="zh-CN" altLang="en-US"/>
              <a:t>俯视角博弈对抗环境；接着介绍本文采用的</a:t>
            </a:r>
            <a:r>
              <a:rPr lang="en-US" altLang="zh-CN"/>
              <a:t>PBRS</a:t>
            </a:r>
            <a:r>
              <a:rPr lang="zh-CN" altLang="en-US"/>
              <a:t>奖励塑形、课程学习及网络架构等核心方法与算法；随后展示三种训练范式的对比实验与迁移实验的设计及结果；最后总结本文主要贡献，并对后续研究方向进行展望。</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博弈对抗能力是衡量人工智能综合性能的核心标准，对策略模型的鲁棒性与泛化性提出极高要求。多智能体对抗场景下，环境动态随对手策略持续变化，传统强化学习依赖的马尔可夫平稳假设不再成立，这是本研究要解决的核心问题。</a:t>
            </a:r>
            <a:r>
              <a:rPr lang="en-US" altLang="zh-CN"/>
              <a:t>
</a:t>
            </a:r>
            <a:r>
              <a:rPr lang="zh-CN" altLang="en-US"/>
              <a:t>本研究设定三项核心目标：第一，基于</a:t>
            </a:r>
            <a:r>
              <a:rPr lang="en-US" altLang="zh-CN"/>
              <a:t>Godot</a:t>
            </a:r>
            <a:r>
              <a:rPr lang="zh-CN" altLang="en-US"/>
              <a:t>引擎构建专属</a:t>
            </a:r>
            <a:r>
              <a:rPr lang="en-US" altLang="zh-CN"/>
              <a:t>2D</a:t>
            </a:r>
            <a:r>
              <a:rPr lang="zh-CN" altLang="en-US"/>
              <a:t>四人混战博弈环境；第二，结合</a:t>
            </a:r>
            <a:r>
              <a:rPr lang="en-US" altLang="zh-CN"/>
              <a:t>PBRS</a:t>
            </a:r>
            <a:r>
              <a:rPr lang="zh-CN" altLang="en-US"/>
              <a:t>奖励塑形、课程学习验证单智能体训练方案，对比不同网络架构性能；第三，对比</a:t>
            </a:r>
            <a:r>
              <a:rPr lang="en-US" altLang="zh-CN"/>
              <a:t>IPPO</a:t>
            </a:r>
            <a:r>
              <a:rPr lang="zh-CN" altLang="en-US"/>
              <a:t>、对手池博弈、平均策略博弈三类主流训练方法的实际效果，明确各范式适用场景。</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本研究基于</a:t>
            </a:r>
            <a:r>
              <a:rPr lang="en-US" altLang="zh-CN"/>
              <a:t>Godot 4.x</a:t>
            </a:r>
            <a:r>
              <a:rPr lang="zh-CN" altLang="en-US"/>
              <a:t>引擎与</a:t>
            </a:r>
            <a:r>
              <a:rPr lang="en-US" altLang="zh-CN"/>
              <a:t>Godot RL Agents</a:t>
            </a:r>
            <a:r>
              <a:rPr lang="zh-CN" altLang="en-US"/>
              <a:t>集成框架，构建专属对抗博弈训练环境</a:t>
            </a:r>
            <a:r>
              <a:rPr lang="en-US" altLang="zh-CN"/>
              <a:t>Tiny Swords</a:t>
            </a:r>
            <a:r>
              <a:rPr lang="zh-CN" altLang="en-US"/>
              <a:t>。该环境为</a:t>
            </a:r>
            <a:r>
              <a:rPr lang="en-US" altLang="zh-CN"/>
              <a:t>18</a:t>
            </a:r>
            <a:r>
              <a:rPr lang="zh-CN" altLang="en-US"/>
              <a:t>×</a:t>
            </a:r>
            <a:r>
              <a:rPr lang="en-US" altLang="zh-CN"/>
              <a:t>18</a:t>
            </a:r>
            <a:r>
              <a:rPr lang="zh-CN" altLang="en-US"/>
              <a:t>栅格封闭的</a:t>
            </a:r>
            <a:r>
              <a:rPr lang="en-US" altLang="zh-CN"/>
              <a:t>2D</a:t>
            </a:r>
            <a:r>
              <a:rPr lang="zh-CN" altLang="en-US"/>
              <a:t>俯视角四人混战竞技场，内置障碍物、奖励球、</a:t>
            </a:r>
            <a:r>
              <a:rPr lang="en-US" altLang="zh-CN"/>
              <a:t>NPC</a:t>
            </a:r>
            <a:r>
              <a:rPr lang="zh-CN" altLang="en-US"/>
              <a:t>野怪三类场景元素。</a:t>
            </a:r>
            <a:r>
              <a:rPr lang="en-US" altLang="zh-CN"/>
              <a:t>
</a:t>
            </a:r>
            <a:r>
              <a:rPr lang="zh-CN" altLang="en-US"/>
              <a:t>环境配置了多类核心对抗机制，包含</a:t>
            </a:r>
            <a:r>
              <a:rPr lang="en-US" altLang="zh-CN"/>
              <a:t>A/B</a:t>
            </a:r>
            <a:r>
              <a:rPr lang="zh-CN" altLang="en-US"/>
              <a:t>类奖励球、中央资源区与视野限制，采用会话制训练规则，单局时长</a:t>
            </a:r>
            <a:r>
              <a:rPr lang="en-US" altLang="zh-CN"/>
              <a:t>3</a:t>
            </a:r>
            <a:r>
              <a:rPr lang="zh-CN" altLang="en-US"/>
              <a:t>分钟共</a:t>
            </a:r>
            <a:r>
              <a:rPr lang="en-US" altLang="zh-CN"/>
              <a:t>1350</a:t>
            </a:r>
            <a:r>
              <a:rPr lang="zh-CN" altLang="en-US"/>
              <a:t>次决策，每</a:t>
            </a:r>
            <a:r>
              <a:rPr lang="en-US" altLang="zh-CN"/>
              <a:t>8</a:t>
            </a:r>
            <a:r>
              <a:rPr lang="zh-CN" altLang="en-US"/>
              <a:t>个物理帧执行一次动作决策，完全满足对抗博弈训练的需求。</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观测采用</a:t>
            </a:r>
            <a:r>
              <a:rPr lang="en-US" altLang="zh-CN"/>
              <a:t>174</a:t>
            </a:r>
            <a:r>
              <a:rPr lang="zh-CN" altLang="en-US"/>
              <a:t>维分段式向量设计，四项核心编码规则强化观测合理性。以自身为中心的相对坐标归一化，保证平移不变性；固定槽位编码适配循环网络输入；有效位掩码过滤无效填充噪声；额外编码动力学信息完善状态表征。</a:t>
            </a:r>
            <a:r>
              <a:rPr lang="en-US" altLang="zh-CN"/>
              <a:t>
</a:t>
            </a:r>
            <a:r>
              <a:rPr lang="zh-CN" altLang="en-US"/>
              <a:t>动作空间设</a:t>
            </a:r>
            <a:r>
              <a:rPr lang="en-US" altLang="zh-CN"/>
              <a:t>6</a:t>
            </a:r>
            <a:r>
              <a:rPr lang="zh-CN" altLang="en-US"/>
              <a:t>类离散动作，攻击逻辑贴合操作直觉，参数设计明确平衡策略探索空间。</a:t>
            </a:r>
            <a:r>
              <a:rPr lang="en-US" altLang="zh-CN"/>
              <a:t>
</a:t>
            </a:r>
            <a:r>
              <a:rPr lang="zh-CN" altLang="en-US"/>
              <a:t>奖励体系采用三层架构，核心事件奖励定义基础目标，</a:t>
            </a:r>
            <a:r>
              <a:rPr lang="en-US" altLang="zh-CN"/>
              <a:t>PBRS</a:t>
            </a:r>
            <a:r>
              <a:rPr lang="zh-CN" altLang="en-US"/>
              <a:t>势能提供稠密引导，差异化配置支撑不同角色策略训练。</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本研究采用基础事件奖励结合</a:t>
            </a:r>
            <a:r>
              <a:rPr lang="en-US" altLang="zh-CN"/>
              <a:t>PBRS</a:t>
            </a:r>
            <a:r>
              <a:rPr lang="zh-CN" altLang="en-US"/>
              <a:t>势能塑形的双层奖励结构，为不同类型智能体配置差异化奖励，适配多角色博弈需求。</a:t>
            </a:r>
            <a:r>
              <a:rPr lang="en-US" altLang="zh-CN"/>
              <a:t>
</a:t>
            </a:r>
            <a:r>
              <a:rPr lang="zh-CN" altLang="en-US"/>
              <a:t>对比三类势函数形式，最终选择保留最优策略不变性的线性势函数，搭配最近球模式简化引导逻辑。</a:t>
            </a:r>
            <a:r>
              <a:rPr lang="en-US" altLang="zh-CN"/>
              <a:t>
</a:t>
            </a:r>
            <a:r>
              <a:rPr lang="zh-CN" altLang="en-US"/>
              <a:t>采用</a:t>
            </a:r>
            <a:r>
              <a:rPr lang="en-US" altLang="zh-CN"/>
              <a:t>Welford</a:t>
            </a:r>
            <a:r>
              <a:rPr lang="zh-CN" altLang="en-US"/>
              <a:t>在线算法实现奖励的</a:t>
            </a:r>
            <a:r>
              <a:rPr lang="en-US" altLang="zh-CN"/>
              <a:t>z-score</a:t>
            </a:r>
            <a:r>
              <a:rPr lang="zh-CN" altLang="en-US"/>
              <a:t>归一化，将价值网络输出稳定约束在</a:t>
            </a:r>
            <a:r>
              <a:rPr lang="en-US" altLang="zh-CN"/>
              <a:t>[-1,1]</a:t>
            </a:r>
            <a:r>
              <a:rPr lang="zh-CN" altLang="en-US"/>
              <a:t>区间，提升训练稳定性。</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有效掩码可区分有效观测与零填充噪声，启用后智能体总得分提升</a:t>
            </a:r>
            <a:r>
              <a:rPr lang="en-US" altLang="zh-CN"/>
              <a:t>9.9%</a:t>
            </a:r>
            <a:r>
              <a:rPr lang="zh-CN" altLang="en-US"/>
              <a:t>。</a:t>
            </a:r>
            <a:r>
              <a:rPr lang="en-US" altLang="zh-CN"/>
              <a:t>
PBRS</a:t>
            </a:r>
            <a:r>
              <a:rPr lang="zh-CN" altLang="en-US"/>
              <a:t>奖励塑形对比显示，线性、反比例势函数与直接距离奖励性能相近，指数势函数表现居中，稀疏奖励性能最差。</a:t>
            </a:r>
            <a:r>
              <a:rPr lang="en-US" altLang="zh-CN"/>
              <a:t>
</a:t>
            </a:r>
            <a:r>
              <a:rPr lang="zh-CN" altLang="en-US"/>
              <a:t>多目标引导实验证实，最近球模式训练效率高出全球势能模式</a:t>
            </a:r>
            <a:r>
              <a:rPr lang="en-US" altLang="zh-CN"/>
              <a:t>67%</a:t>
            </a:r>
            <a:r>
              <a:rPr lang="zh-CN" altLang="en-US"/>
              <a:t>，该模式可将多目标任务拆解为阶段性子目标，规避多球势能叠加的抵消问题。</a:t>
            </a:r>
            <a:r>
              <a:rPr lang="en-US" altLang="zh-CN"/>
              <a:t>
</a:t>
            </a:r>
            <a:r>
              <a:rPr lang="zh-CN" altLang="en-US"/>
              <a:t>综上实验结论，确定后续实验统一采用有效掩码、线性势函数结合最近球模式的基础配置。</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实验测试三组不同撞墙惩罚力度的训练效果。惩罚力度为</a:t>
            </a:r>
            <a:r>
              <a:rPr lang="en-US" altLang="zh-CN"/>
              <a:t>0.05</a:t>
            </a:r>
            <a:r>
              <a:rPr lang="zh-CN" altLang="en-US"/>
              <a:t>时，平均撞墙次数达</a:t>
            </a:r>
            <a:r>
              <a:rPr lang="en-US" altLang="zh-CN"/>
              <a:t>161.5</a:t>
            </a:r>
            <a:r>
              <a:rPr lang="zh-CN" altLang="en-US"/>
              <a:t>次，避障效果极差；惩罚力度提升至</a:t>
            </a:r>
            <a:r>
              <a:rPr lang="en-US" altLang="zh-CN"/>
              <a:t>5.0</a:t>
            </a:r>
            <a:r>
              <a:rPr lang="zh-CN" altLang="en-US"/>
              <a:t>时，撞墙次数降至</a:t>
            </a:r>
            <a:r>
              <a:rPr lang="en-US" altLang="zh-CN"/>
              <a:t>16.7</a:t>
            </a:r>
            <a:r>
              <a:rPr lang="zh-CN" altLang="en-US"/>
              <a:t>次，但总得分大幅跳水；仅</a:t>
            </a:r>
            <a:r>
              <a:rPr lang="en-US" altLang="zh-CN"/>
              <a:t>0.5</a:t>
            </a:r>
            <a:r>
              <a:rPr lang="zh-CN" altLang="en-US"/>
              <a:t>的惩罚力度，可将撞墙次数降低</a:t>
            </a:r>
            <a:r>
              <a:rPr lang="en-US" altLang="zh-CN"/>
              <a:t>29%</a:t>
            </a:r>
            <a:r>
              <a:rPr lang="zh-CN" altLang="en-US"/>
              <a:t>，同时兼顾得分收益，实现二者平衡。</a:t>
            </a:r>
            <a:r>
              <a:rPr lang="en-US" altLang="zh-CN"/>
              <a:t>
</a:t>
            </a:r>
            <a:r>
              <a:rPr lang="zh-CN" altLang="en-US"/>
              <a:t>对比稠密障碍物塑形与稀疏惩罚方案，稠密塑形虽进一步减少碰撞，却会引导智能体刻意避开障碍物附近的奖励资源，直接降低总收益。</a:t>
            </a:r>
            <a:r>
              <a:rPr lang="en-US" altLang="zh-CN"/>
              <a:t>
</a:t>
            </a:r>
            <a:r>
              <a:rPr lang="zh-CN" altLang="en-US"/>
              <a:t>据此得出核心结论，</a:t>
            </a:r>
            <a:r>
              <a:rPr lang="en-US" altLang="zh-CN"/>
              <a:t>0.5</a:t>
            </a:r>
            <a:r>
              <a:rPr lang="zh-CN" altLang="en-US"/>
              <a:t>力度的稀疏惩罚为最优选择，障碍物并非越远越好，未发生碰撞时不应施加额外惩罚。</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本次实验设计三种不同结构的神经网络，测试不同架构对任务性能的影响。</a:t>
            </a:r>
            <a:r>
              <a:rPr lang="en-US" altLang="zh-CN"/>
              <a:t>
</a:t>
            </a:r>
            <a:r>
              <a:rPr lang="zh-CN" altLang="en-US"/>
              <a:t>基础</a:t>
            </a:r>
            <a:r>
              <a:rPr lang="en-US" altLang="zh-CN"/>
              <a:t>MLP</a:t>
            </a:r>
            <a:r>
              <a:rPr lang="zh-CN" altLang="en-US"/>
              <a:t>将全部</a:t>
            </a:r>
            <a:r>
              <a:rPr lang="en-US" altLang="zh-CN"/>
              <a:t>174</a:t>
            </a:r>
            <a:r>
              <a:rPr lang="zh-CN" altLang="en-US"/>
              <a:t>维观测直接输入全连接层，输出动作与价值，结构最简单，未对观测做结构化处理。</a:t>
            </a:r>
            <a:r>
              <a:rPr lang="en-US" altLang="zh-CN"/>
              <a:t>
</a:t>
            </a:r>
            <a:r>
              <a:rPr lang="zh-CN" altLang="en-US"/>
              <a:t>分段</a:t>
            </a:r>
            <a:r>
              <a:rPr lang="en-US" altLang="zh-CN"/>
              <a:t>MLP</a:t>
            </a:r>
            <a:r>
              <a:rPr lang="zh-CN" altLang="en-US"/>
              <a:t>针对</a:t>
            </a:r>
            <a:r>
              <a:rPr lang="en-US" altLang="zh-CN"/>
              <a:t>SELF</a:t>
            </a:r>
            <a:r>
              <a:rPr lang="zh-CN" altLang="en-US"/>
              <a:t>、</a:t>
            </a:r>
            <a:r>
              <a:rPr lang="en-US" altLang="zh-CN"/>
              <a:t>PLAYER</a:t>
            </a:r>
            <a:r>
              <a:rPr lang="zh-CN" altLang="en-US"/>
              <a:t>等五类观测分别编码，保留语义信息后接入共享主干网络。</a:t>
            </a:r>
            <a:r>
              <a:rPr lang="en-US" altLang="zh-CN"/>
              <a:t>
GRU-MLP</a:t>
            </a:r>
            <a:r>
              <a:rPr lang="zh-CN" altLang="en-US"/>
              <a:t>引入循环层处理时序观测，设计针对性结构捕获状态依赖关系，验证时序记忆对任务的增益。</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三种网络架构的性能随任务类型改变，简单拾取任务中</a:t>
            </a:r>
            <a:r>
              <a:rPr lang="en-US" altLang="zh-CN"/>
              <a:t>SegMLP</a:t>
            </a:r>
            <a:r>
              <a:rPr lang="zh-CN" altLang="en-US"/>
              <a:t>表现最优，三类模型性能差距极小。复杂战斗任务中</a:t>
            </a:r>
            <a:r>
              <a:rPr lang="en-US" altLang="zh-CN"/>
              <a:t>MLP</a:t>
            </a:r>
            <a:r>
              <a:rPr lang="zh-CN" altLang="en-US"/>
              <a:t>性能领先，</a:t>
            </a:r>
            <a:r>
              <a:rPr lang="en-US" altLang="zh-CN"/>
              <a:t>GRU</a:t>
            </a:r>
            <a:r>
              <a:rPr lang="zh-CN" altLang="en-US"/>
              <a:t>因撞墙频率偏高表现最差。</a:t>
            </a:r>
            <a:r>
              <a:rPr lang="en-US" altLang="zh-CN"/>
              <a:t>
</a:t>
            </a:r>
            <a:r>
              <a:rPr lang="zh-CN" altLang="en-US"/>
              <a:t>联合超参数搜索显示，</a:t>
            </a:r>
            <a:r>
              <a:rPr lang="en-US" altLang="zh-CN"/>
              <a:t>GRU</a:t>
            </a:r>
            <a:r>
              <a:rPr lang="zh-CN" altLang="en-US"/>
              <a:t>训练难度过高，仅完成</a:t>
            </a:r>
            <a:r>
              <a:rPr lang="en-US" altLang="zh-CN"/>
              <a:t>17</a:t>
            </a:r>
            <a:r>
              <a:rPr lang="zh-CN" altLang="en-US"/>
              <a:t>次试验便终止搜索。</a:t>
            </a:r>
            <a:r>
              <a:rPr lang="en-US" altLang="zh-CN"/>
              <a:t>
</a:t>
            </a:r>
            <a:r>
              <a:rPr lang="zh-CN" altLang="en-US"/>
              <a:t>架构优劣取决于任务适配性，本研究环境中，大视野与显式编码削弱时序记忆需求，</a:t>
            </a:r>
            <a:r>
              <a:rPr lang="en-US" altLang="zh-CN"/>
              <a:t>GRU</a:t>
            </a:r>
            <a:r>
              <a:rPr lang="zh-CN" altLang="en-US"/>
              <a:t>收益不足且提升收敛难度，超参数最优解与任务强耦合，后续实验选用</a:t>
            </a:r>
            <a:r>
              <a:rPr lang="en-US" altLang="zh-CN"/>
              <a:t>MLP</a:t>
            </a:r>
            <a:r>
              <a:rPr lang="zh-CN" altLang="en-US"/>
              <a:t>搭配已寻得的最优超参数。</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直接求解多人博弈均衡属于</a:t>
            </a:r>
            <a:r>
              <a:rPr lang="en-US" altLang="zh-CN"/>
              <a:t>PPAD</a:t>
            </a:r>
            <a:r>
              <a:rPr lang="zh-CN" altLang="en-US"/>
              <a:t>完全问题，计算复杂度极高，不具备工程可行性。且多人非对称混战的一般和博弈场景缺乏成熟研究方案，本次实验选择测试已有方法的性能表现。</a:t>
            </a:r>
            <a:r>
              <a:rPr lang="en-US" altLang="zh-CN"/>
              <a:t>
</a:t>
            </a:r>
            <a:r>
              <a:rPr lang="zh-CN" altLang="en-US"/>
              <a:t>实验采用五阶段评估流程，先基于初始策略完成</a:t>
            </a:r>
            <a:r>
              <a:rPr lang="en-US" altLang="zh-CN"/>
              <a:t>IPPO</a:t>
            </a:r>
            <a:r>
              <a:rPr lang="zh-CN" altLang="en-US"/>
              <a:t>训练，再构建对手池开展</a:t>
            </a:r>
            <a:r>
              <a:rPr lang="en-US" altLang="zh-CN"/>
              <a:t>PFSP</a:t>
            </a:r>
            <a:r>
              <a:rPr lang="zh-CN" altLang="en-US"/>
              <a:t>训练，最后引入基于虚拟博弈思想的平均策略博弈。对手池通过轮换冻结迭代博弈初始化，保留每个智能体最近</a:t>
            </a:r>
            <a:r>
              <a:rPr lang="en-US" altLang="zh-CN"/>
              <a:t>20</a:t>
            </a:r>
            <a:r>
              <a:rPr lang="zh-CN" altLang="en-US"/>
              <a:t>个训练检查点。</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本次实验选取三种典型博弈训练方法开展对比测试。</a:t>
            </a:r>
            <a:r>
              <a:rPr lang="en-US" altLang="zh-CN"/>
              <a:t>
IPPO</a:t>
            </a:r>
            <a:r>
              <a:rPr lang="zh-CN" altLang="en-US"/>
              <a:t>采用独立训练框架，四个智能体各自更新策略，无需额外通信开销，但其训练环境因对手同步更新始终处于非平稳状态。</a:t>
            </a:r>
            <a:r>
              <a:rPr lang="en-US" altLang="zh-CN"/>
              <a:t>
</a:t>
            </a:r>
            <a:r>
              <a:rPr lang="zh-CN" altLang="en-US"/>
              <a:t>对手池博弈是</a:t>
            </a:r>
            <a:r>
              <a:rPr lang="en-US" altLang="zh-CN"/>
              <a:t>PSRO</a:t>
            </a:r>
            <a:r>
              <a:rPr lang="zh-CN" altLang="en-US"/>
              <a:t>框架的轻量变体，通过加权采样聚焦困难对手，本次实验采用静态对手池设置，省略自博弈阶段。</a:t>
            </a:r>
            <a:r>
              <a:rPr lang="en-US" altLang="zh-CN"/>
              <a:t>
</a:t>
            </a:r>
            <a:r>
              <a:rPr lang="zh-CN" altLang="en-US"/>
              <a:t>平均策略博弈依托虚拟博弈思想，抽象稳定对手分布，可缩小梯度噪声，更利于保留</a:t>
            </a:r>
            <a:r>
              <a:rPr lang="en-US" altLang="zh-CN"/>
              <a:t>PvE</a:t>
            </a:r>
            <a:r>
              <a:rPr lang="zh-CN" altLang="en-US"/>
              <a:t>行为模式。</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本次多智能体实验经</a:t>
            </a:r>
            <a:r>
              <a:rPr lang="en-US" altLang="zh-CN"/>
              <a:t>1000</a:t>
            </a:r>
            <a:r>
              <a:rPr lang="zh-CN" altLang="en-US"/>
              <a:t>局对局评估，采用</a:t>
            </a:r>
            <a:r>
              <a:rPr lang="en-US" altLang="zh-CN"/>
              <a:t>Cohen's d</a:t>
            </a:r>
            <a:r>
              <a:rPr lang="zh-CN" altLang="en-US"/>
              <a:t>衡量效应量完成统计显著性检验，得出核心结论。以</a:t>
            </a:r>
            <a:r>
              <a:rPr lang="en-US" altLang="zh-CN"/>
              <a:t>PvE</a:t>
            </a:r>
            <a:r>
              <a:rPr lang="zh-CN" altLang="en-US"/>
              <a:t>为主导的初始策略，在所有评估指标上实现全面领先。三种主流博弈训练方法均引发系统性性能退化。退化程度与训练过程对手分布稳定性呈正相关，平均策略博弈退化程度最低，对手池博弈退化程度最高。</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四种训练方案形成差异化行为策略画像。初始策略保持最高进攻频率，天然偏好</a:t>
            </a:r>
            <a:r>
              <a:rPr lang="en-US" altLang="zh-CN"/>
              <a:t>PvE</a:t>
            </a:r>
            <a:r>
              <a:rPr lang="zh-CN" altLang="en-US"/>
              <a:t>资源收集模式。平均策略偏向均衡，战斗频次降低</a:t>
            </a:r>
            <a:r>
              <a:rPr lang="en-US" altLang="zh-CN"/>
              <a:t>17%</a:t>
            </a:r>
            <a:r>
              <a:rPr lang="zh-CN" altLang="en-US"/>
              <a:t>，资源收集提升</a:t>
            </a:r>
            <a:r>
              <a:rPr lang="en-US" altLang="zh-CN"/>
              <a:t>3.4</a:t>
            </a:r>
            <a:r>
              <a:rPr lang="zh-CN" altLang="en-US"/>
              <a:t>倍。</a:t>
            </a:r>
            <a:r>
              <a:rPr lang="en-US" altLang="zh-CN"/>
              <a:t>IPPO</a:t>
            </a:r>
            <a:r>
              <a:rPr lang="zh-CN" altLang="en-US"/>
              <a:t>转向纯资源收集型，奖励球拾取量达峰值。对手池博弈出现全面衰退，所有指标均位列末位。</a:t>
            </a:r>
            <a:r>
              <a:rPr lang="en-US" altLang="zh-CN"/>
              <a:t>
</a:t>
            </a:r>
            <a:r>
              <a:rPr lang="zh-CN" altLang="en-US"/>
              <a:t>核心机制明确：</a:t>
            </a:r>
            <a:r>
              <a:rPr lang="en-US" altLang="zh-CN"/>
              <a:t>PvE</a:t>
            </a:r>
            <a:r>
              <a:rPr lang="zh-CN" altLang="en-US"/>
              <a:t>是主要奖励来源，近战对称</a:t>
            </a:r>
            <a:r>
              <a:rPr lang="en-US" altLang="zh-CN"/>
              <a:t>PvP</a:t>
            </a:r>
            <a:r>
              <a:rPr lang="zh-CN" altLang="en-US"/>
              <a:t>主动进攻收益近乎对冲，博弈训练会诱导智能体主动降低攻击性。</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本次迁移实验实现因果层面验证，排除智能体能力不足导致博弈训练退化的假说。</a:t>
            </a:r>
            <a:r>
              <a:rPr lang="en-US" altLang="zh-CN"/>
              <a:t>
</a:t>
            </a:r>
            <a:r>
              <a:rPr lang="zh-CN" altLang="en-US"/>
              <a:t>先在无奖励球的纯</a:t>
            </a:r>
            <a:r>
              <a:rPr lang="en-US" altLang="zh-CN"/>
              <a:t>PvP</a:t>
            </a:r>
            <a:r>
              <a:rPr lang="zh-CN" altLang="en-US"/>
              <a:t>环境完成训练，智能体可稳定达到</a:t>
            </a:r>
            <a:r>
              <a:rPr lang="en-US" altLang="zh-CN"/>
              <a:t>600+</a:t>
            </a:r>
            <a:r>
              <a:rPr lang="zh-CN" altLang="en-US"/>
              <a:t>分，证明自身具备完整对抗能力。</a:t>
            </a:r>
            <a:r>
              <a:rPr lang="en-US" altLang="zh-CN"/>
              <a:t>
</a:t>
            </a:r>
            <a:r>
              <a:rPr lang="zh-CN" altLang="en-US"/>
              <a:t>再迁移至完整环境设置对照组，结果显示，智能体会主动减少</a:t>
            </a:r>
            <a:r>
              <a:rPr lang="en-US" altLang="zh-CN"/>
              <a:t>PvP</a:t>
            </a:r>
            <a:r>
              <a:rPr lang="zh-CN" altLang="en-US"/>
              <a:t>伤害、转向</a:t>
            </a:r>
            <a:r>
              <a:rPr lang="en-US" altLang="zh-CN"/>
              <a:t>PvE</a:t>
            </a:r>
            <a:r>
              <a:rPr lang="zh-CN" altLang="en-US"/>
              <a:t>目标。由此证实，</a:t>
            </a:r>
            <a:r>
              <a:rPr lang="en-US" altLang="zh-CN"/>
              <a:t>PvP</a:t>
            </a:r>
            <a:r>
              <a:rPr lang="zh-CN" altLang="en-US"/>
              <a:t>缺失是环境奖励结构驱动的理性选择，并非能力不足。</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本研究验证线性势函数搭配</a:t>
            </a:r>
            <a:r>
              <a:rPr lang="en-US" altLang="zh-CN"/>
              <a:t>0.5</a:t>
            </a:r>
            <a:r>
              <a:rPr lang="zh-CN" altLang="en-US"/>
              <a:t>稀疏撞墙惩罚，可实现奖励与避障的最优平衡。</a:t>
            </a:r>
            <a:r>
              <a:rPr lang="en-US" altLang="zh-CN"/>
              <a:t>GRU</a:t>
            </a:r>
            <a:r>
              <a:rPr lang="zh-CN" altLang="en-US"/>
              <a:t>时序建模在大视野显式编码环境中未体现性能优势。</a:t>
            </a:r>
            <a:r>
              <a:rPr lang="en-US" altLang="zh-CN"/>
              <a:t>
</a:t>
            </a:r>
            <a:r>
              <a:rPr lang="zh-CN" altLang="en-US"/>
              <a:t>初始</a:t>
            </a:r>
            <a:r>
              <a:rPr lang="en-US" altLang="zh-CN"/>
              <a:t>PvE</a:t>
            </a:r>
            <a:r>
              <a:rPr lang="zh-CN" altLang="en-US"/>
              <a:t>主导策略得分</a:t>
            </a:r>
            <a:r>
              <a:rPr lang="en-US" altLang="zh-CN"/>
              <a:t>598.5</a:t>
            </a:r>
            <a:r>
              <a:rPr lang="zh-CN" altLang="en-US"/>
              <a:t>，显著优于三种博弈训练方法，效应量验证性能退化符合统计显著性。性能退化由环境奖励结构驱动，退化程度与对手分布稳定性正相关，迁移实验证实该结论。</a:t>
            </a:r>
            <a:r>
              <a:rPr lang="en-US" altLang="zh-CN"/>
              <a:t>
</a:t>
            </a:r>
            <a:r>
              <a:rPr lang="zh-CN" altLang="en-US"/>
              <a:t>本研究贡献完整实验框架，完成非对称多人博弈实证分析，探明退化机制并完成因果验证。后续将从训练、架构、机制等方向推进优化。</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尊敬的各位老师，以上就是我们在非对称多智能体博弈环境下，从奖励机制、网络架构到博弈训练方法的完整研究汇报。我们通过系统的对比实验，不仅找到了当前环境下最优的训练配置，更首次发现了博弈训练中存在的性能退化现象，并通过行为画像分析与迁移实验，从奖励结构层面完成了因果验证，为这类非对称多人博弈场景的研究提供了可复现的实验方案与全新的实证视角。</a:t>
            </a:r>
            <a:r>
              <a:rPr lang="en-US" altLang="zh-CN"/>
              <a:t>
</a:t>
            </a:r>
            <a:r>
              <a:rPr lang="zh-CN" altLang="en-US"/>
              <a:t>研究的结束也是新探索的起点，未来我们将针对本次实验中发现的问题，在训练时长、超参数优化、对抗机制设计等方向持续深挖，进一步完善多智能体博弈的研究体系。</a:t>
            </a:r>
            <a:r>
              <a:rPr lang="en-US" altLang="zh-CN"/>
              <a:t>
</a:t>
            </a:r>
            <a:r>
              <a:rPr lang="zh-CN" altLang="en-US"/>
              <a:t>感谢各位老师的悉心聆听，也恳请各位老师不吝赐教，提出宝贵的批评与指导意见。谢谢大家！</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0"/>
            <a:ext cx="12191695" cy="32004"/>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645920"/>
            <a:ext cx="22860" cy="347472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1828800"/>
            <a:ext cx="8869680" cy="1188720"/>
          </a:xfrm>
          <a:prstGeom prst="rect">
            <a:avLst/>
          </a:prstGeom>
          <a:noFill/>
        </p:spPr>
        <p:txBody>
          <a:bodyPr wrap="square"/>
          <a:lstStyle/>
          <a:p>
            <a:pPr algn="ctr"/>
            <a:r>
              <a:rPr sz="3600" b="1">
                <a:solidFill>
                  <a:srgbClr val="1A56A8"/>
                </a:solidFill>
              </a:rPr>
              <a:t>基于机器学习的对抗性机器博弈研究</a:t>
            </a:r>
            <a:endParaRPr sz="3600" b="1">
              <a:solidFill>
                <a:srgbClr val="1A56A8"/>
              </a:solidFill>
            </a:endParaRPr>
          </a:p>
        </p:txBody>
      </p:sp>
      <p:cxnSp>
        <p:nvCxnSpPr>
          <p:cNvPr id="7" name="Connector 6"/>
          <p:cNvCxnSpPr/>
          <p:nvPr/>
        </p:nvCxnSpPr>
        <p:spPr>
          <a:xfrm>
            <a:off x="3840480" y="3154680"/>
            <a:ext cx="4480560" cy="0"/>
          </a:xfrm>
          <a:prstGeom prst="line">
            <a:avLst/>
          </a:prstGeom>
          <a:ln w="12700">
            <a:solidFill>
              <a:srgbClr val="5B9BD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45920" y="3383280"/>
            <a:ext cx="8869680" cy="594360"/>
          </a:xfrm>
          <a:prstGeom prst="rect">
            <a:avLst/>
          </a:prstGeom>
          <a:noFill/>
        </p:spPr>
        <p:txBody>
          <a:bodyPr wrap="square"/>
          <a:lstStyle/>
          <a:p>
            <a:pPr algn="ctr"/>
            <a:r>
              <a:rPr sz="1900" b="0">
                <a:solidFill>
                  <a:srgbClr val="6B7B8D"/>
                </a:solidFill>
              </a:rPr>
              <a:t>华北电力大学本科毕业设计答辩</a:t>
            </a:r>
            <a:endParaRPr sz="1900" b="0">
              <a:solidFill>
                <a:srgbClr val="6B7B8D"/>
              </a:solidFill>
            </a:endParaRPr>
          </a:p>
        </p:txBody>
      </p:sp>
      <p:sp>
        <p:nvSpPr>
          <p:cNvPr id="9" name="TextBox 8"/>
          <p:cNvSpPr txBox="1"/>
          <p:nvPr/>
        </p:nvSpPr>
        <p:spPr>
          <a:xfrm>
            <a:off x="1645920" y="4389120"/>
            <a:ext cx="8869680" cy="411480"/>
          </a:xfrm>
          <a:prstGeom prst="rect">
            <a:avLst/>
          </a:prstGeom>
          <a:noFill/>
        </p:spPr>
        <p:txBody>
          <a:bodyPr wrap="square"/>
          <a:lstStyle/>
          <a:p>
            <a:pPr algn="ctr"/>
            <a:r>
              <a:rPr sz="1200" b="0">
                <a:solidFill>
                  <a:srgbClr val="9AA5AF"/>
                </a:solidFill>
              </a:rPr>
              <a:t>答辩人：蒋伦吉    |    专业：计算机科学与技术    |    指导教师：刘春阳</a:t>
            </a:r>
            <a:endParaRPr sz="1200" b="0">
              <a:solidFill>
                <a:srgbClr val="9AA5AF"/>
              </a:solidFill>
            </a:endParaRPr>
          </a:p>
        </p:txBody>
      </p:sp>
      <p:sp>
        <p:nvSpPr>
          <p:cNvPr id="10" name="TextBox 9"/>
          <p:cNvSpPr txBox="1"/>
          <p:nvPr/>
        </p:nvSpPr>
        <p:spPr>
          <a:xfrm>
            <a:off x="1645920" y="4846320"/>
            <a:ext cx="8869680" cy="365760"/>
          </a:xfrm>
          <a:prstGeom prst="rect">
            <a:avLst/>
          </a:prstGeom>
          <a:noFill/>
        </p:spPr>
        <p:txBody>
          <a:bodyPr wrap="square"/>
          <a:lstStyle/>
          <a:p>
            <a:pPr algn="ctr"/>
            <a:r>
              <a:rPr sz="1200" b="0">
                <a:solidFill>
                  <a:srgbClr val="9AA5AF"/>
                </a:solidFill>
              </a:rPr>
              <a:t>2026年6月</a:t>
            </a:r>
            <a:endParaRPr sz="1200" b="0">
              <a:solidFill>
                <a:srgbClr val="9AA5AF"/>
              </a:solidFill>
            </a:endParaRPr>
          </a:p>
        </p:txBody>
      </p:sp>
      <p:pic>
        <p:nvPicPr>
          <p:cNvPr id="11" name="Picture 10" descr="ncepu.png"/>
          <p:cNvPicPr>
            <a:picLocks noChangeAspect="1"/>
          </p:cNvPicPr>
          <p:nvPr/>
        </p:nvPicPr>
        <p:blipFill>
          <a:blip r:embed="rId1"/>
          <a:stretch>
            <a:fillRect/>
          </a:stretch>
        </p:blipFill>
        <p:spPr>
          <a:xfrm>
            <a:off x="3669030" y="475615"/>
            <a:ext cx="4085863"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5486400" cy="475488"/>
          </a:xfrm>
          <a:prstGeom prst="rect">
            <a:avLst/>
          </a:prstGeom>
          <a:noFill/>
        </p:spPr>
        <p:txBody>
          <a:bodyPr wrap="square"/>
          <a:lstStyle/>
          <a:p>
            <a:pPr algn="l"/>
            <a:r>
              <a:rPr sz="2300" b="1">
                <a:solidFill>
                  <a:srgbClr val="1A56A8"/>
                </a:solidFill>
              </a:rPr>
              <a:t>内容概览</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188720" y="1417320"/>
            <a:ext cx="438912" cy="438912"/>
          </a:xfrm>
          <a:prstGeom prst="ellipse">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pPr>
            <a:r>
              <a:rPr sz="1500" b="1">
                <a:solidFill>
                  <a:srgbClr val="FFFFFF"/>
                </a:solidFill>
              </a:rPr>
              <a:t>01</a:t>
            </a:r>
            <a:endParaRPr sz="1500" b="1">
              <a:solidFill>
                <a:srgbClr val="FFFFFF"/>
              </a:solidFill>
            </a:endParaRPr>
          </a:p>
        </p:txBody>
      </p:sp>
      <p:sp>
        <p:nvSpPr>
          <p:cNvPr id="7" name="TextBox 6"/>
          <p:cNvSpPr txBox="1"/>
          <p:nvPr/>
        </p:nvSpPr>
        <p:spPr>
          <a:xfrm>
            <a:off x="1920240" y="1389888"/>
            <a:ext cx="3657600" cy="347472"/>
          </a:xfrm>
          <a:prstGeom prst="rect">
            <a:avLst/>
          </a:prstGeom>
          <a:noFill/>
        </p:spPr>
        <p:txBody>
          <a:bodyPr wrap="square"/>
          <a:lstStyle/>
          <a:p>
            <a:pPr algn="l"/>
            <a:r>
              <a:rPr sz="1600" b="1">
                <a:solidFill>
                  <a:srgbClr val="2D2D2D"/>
                </a:solidFill>
              </a:rPr>
              <a:t>意义与目标</a:t>
            </a:r>
            <a:endParaRPr sz="1600" b="1">
              <a:solidFill>
                <a:srgbClr val="2D2D2D"/>
              </a:solidFill>
            </a:endParaRPr>
          </a:p>
        </p:txBody>
      </p:sp>
      <p:sp>
        <p:nvSpPr>
          <p:cNvPr id="8" name="TextBox 7"/>
          <p:cNvSpPr txBox="1"/>
          <p:nvPr/>
        </p:nvSpPr>
        <p:spPr>
          <a:xfrm>
            <a:off x="1920240" y="1709928"/>
            <a:ext cx="5486400" cy="292608"/>
          </a:xfrm>
          <a:prstGeom prst="rect">
            <a:avLst/>
          </a:prstGeom>
          <a:noFill/>
        </p:spPr>
        <p:txBody>
          <a:bodyPr wrap="square"/>
          <a:lstStyle/>
          <a:p>
            <a:pPr algn="l"/>
            <a:r>
              <a:rPr sz="1100" b="0">
                <a:solidFill>
                  <a:srgbClr val="6B7B8D"/>
                </a:solidFill>
              </a:rPr>
              <a:t>研究背景与论文主线</a:t>
            </a:r>
            <a:endParaRPr sz="1100" b="0">
              <a:solidFill>
                <a:srgbClr val="6B7B8D"/>
              </a:solidFill>
            </a:endParaRPr>
          </a:p>
        </p:txBody>
      </p:sp>
      <p:cxnSp>
        <p:nvCxnSpPr>
          <p:cNvPr id="9" name="Connector 8"/>
          <p:cNvCxnSpPr/>
          <p:nvPr/>
        </p:nvCxnSpPr>
        <p:spPr>
          <a:xfrm>
            <a:off x="1920240" y="2130552"/>
            <a:ext cx="8595360" cy="0"/>
          </a:xfrm>
          <a:prstGeom prst="line">
            <a:avLst/>
          </a:prstGeom>
          <a:ln w="6350">
            <a:solidFill>
              <a:srgbClr val="E2E8F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188720" y="2404872"/>
            <a:ext cx="438912" cy="438912"/>
          </a:xfrm>
          <a:prstGeom prst="ellipse">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pPr>
            <a:r>
              <a:rPr sz="1500" b="1">
                <a:solidFill>
                  <a:srgbClr val="FFFFFF"/>
                </a:solidFill>
              </a:rPr>
              <a:t>02</a:t>
            </a:r>
            <a:endParaRPr sz="1500" b="1">
              <a:solidFill>
                <a:srgbClr val="FFFFFF"/>
              </a:solidFill>
            </a:endParaRPr>
          </a:p>
        </p:txBody>
      </p:sp>
      <p:sp>
        <p:nvSpPr>
          <p:cNvPr id="11" name="TextBox 10"/>
          <p:cNvSpPr txBox="1"/>
          <p:nvPr/>
        </p:nvSpPr>
        <p:spPr>
          <a:xfrm>
            <a:off x="1920240" y="2377440"/>
            <a:ext cx="3657600" cy="347472"/>
          </a:xfrm>
          <a:prstGeom prst="rect">
            <a:avLst/>
          </a:prstGeom>
          <a:noFill/>
        </p:spPr>
        <p:txBody>
          <a:bodyPr wrap="square"/>
          <a:lstStyle/>
          <a:p>
            <a:pPr algn="l"/>
            <a:r>
              <a:rPr sz="1600" b="1">
                <a:solidFill>
                  <a:srgbClr val="2D2D2D"/>
                </a:solidFill>
              </a:rPr>
              <a:t>环境设计</a:t>
            </a:r>
            <a:endParaRPr sz="1600" b="1">
              <a:solidFill>
                <a:srgbClr val="2D2D2D"/>
              </a:solidFill>
            </a:endParaRPr>
          </a:p>
        </p:txBody>
      </p:sp>
      <p:sp>
        <p:nvSpPr>
          <p:cNvPr id="12" name="TextBox 11"/>
          <p:cNvSpPr txBox="1"/>
          <p:nvPr/>
        </p:nvSpPr>
        <p:spPr>
          <a:xfrm>
            <a:off x="1920240" y="2697480"/>
            <a:ext cx="5486400" cy="292608"/>
          </a:xfrm>
          <a:prstGeom prst="rect">
            <a:avLst/>
          </a:prstGeom>
          <a:noFill/>
        </p:spPr>
        <p:txBody>
          <a:bodyPr wrap="square"/>
          <a:lstStyle/>
          <a:p>
            <a:pPr algn="l"/>
            <a:r>
              <a:rPr sz="1100" b="0">
                <a:solidFill>
                  <a:srgbClr val="6B7B8D"/>
                </a:solidFill>
              </a:rPr>
              <a:t>Tiny Swords 2D 俯视角竞技场</a:t>
            </a:r>
            <a:endParaRPr sz="1100" b="0">
              <a:solidFill>
                <a:srgbClr val="6B7B8D"/>
              </a:solidFill>
            </a:endParaRPr>
          </a:p>
        </p:txBody>
      </p:sp>
      <p:cxnSp>
        <p:nvCxnSpPr>
          <p:cNvPr id="13" name="Connector 12"/>
          <p:cNvCxnSpPr/>
          <p:nvPr/>
        </p:nvCxnSpPr>
        <p:spPr>
          <a:xfrm>
            <a:off x="1920240" y="3118104"/>
            <a:ext cx="8595360" cy="0"/>
          </a:xfrm>
          <a:prstGeom prst="line">
            <a:avLst/>
          </a:prstGeom>
          <a:ln w="6350">
            <a:solidFill>
              <a:srgbClr val="E2E8F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188720" y="3392424"/>
            <a:ext cx="438912" cy="438912"/>
          </a:xfrm>
          <a:prstGeom prst="ellipse">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pPr>
            <a:r>
              <a:rPr sz="1500" b="1">
                <a:solidFill>
                  <a:srgbClr val="FFFFFF"/>
                </a:solidFill>
              </a:rPr>
              <a:t>03</a:t>
            </a:r>
            <a:endParaRPr sz="1500" b="1">
              <a:solidFill>
                <a:srgbClr val="FFFFFF"/>
              </a:solidFill>
            </a:endParaRPr>
          </a:p>
        </p:txBody>
      </p:sp>
      <p:sp>
        <p:nvSpPr>
          <p:cNvPr id="15" name="TextBox 14"/>
          <p:cNvSpPr txBox="1"/>
          <p:nvPr/>
        </p:nvSpPr>
        <p:spPr>
          <a:xfrm>
            <a:off x="1920240" y="3364992"/>
            <a:ext cx="3657600" cy="347472"/>
          </a:xfrm>
          <a:prstGeom prst="rect">
            <a:avLst/>
          </a:prstGeom>
          <a:noFill/>
        </p:spPr>
        <p:txBody>
          <a:bodyPr wrap="square"/>
          <a:lstStyle/>
          <a:p>
            <a:pPr algn="l"/>
            <a:r>
              <a:rPr sz="1600" b="1">
                <a:solidFill>
                  <a:srgbClr val="2D2D2D"/>
                </a:solidFill>
              </a:rPr>
              <a:t>方法与算法</a:t>
            </a:r>
            <a:endParaRPr sz="1600" b="1">
              <a:solidFill>
                <a:srgbClr val="2D2D2D"/>
              </a:solidFill>
            </a:endParaRPr>
          </a:p>
        </p:txBody>
      </p:sp>
      <p:sp>
        <p:nvSpPr>
          <p:cNvPr id="16" name="TextBox 15"/>
          <p:cNvSpPr txBox="1"/>
          <p:nvPr/>
        </p:nvSpPr>
        <p:spPr>
          <a:xfrm>
            <a:off x="1920240" y="3685032"/>
            <a:ext cx="5486400" cy="292608"/>
          </a:xfrm>
          <a:prstGeom prst="rect">
            <a:avLst/>
          </a:prstGeom>
          <a:noFill/>
        </p:spPr>
        <p:txBody>
          <a:bodyPr wrap="square"/>
          <a:lstStyle/>
          <a:p>
            <a:pPr algn="l"/>
            <a:r>
              <a:rPr sz="1100" b="0">
                <a:solidFill>
                  <a:srgbClr val="6B7B8D"/>
                </a:solidFill>
              </a:rPr>
              <a:t>PBRS / 课程学习 / 网络架构</a:t>
            </a:r>
            <a:endParaRPr sz="1100" b="0">
              <a:solidFill>
                <a:srgbClr val="6B7B8D"/>
              </a:solidFill>
            </a:endParaRPr>
          </a:p>
        </p:txBody>
      </p:sp>
      <p:cxnSp>
        <p:nvCxnSpPr>
          <p:cNvPr id="17" name="Connector 16"/>
          <p:cNvCxnSpPr/>
          <p:nvPr/>
        </p:nvCxnSpPr>
        <p:spPr>
          <a:xfrm>
            <a:off x="1920240" y="4105656"/>
            <a:ext cx="8595360" cy="0"/>
          </a:xfrm>
          <a:prstGeom prst="line">
            <a:avLst/>
          </a:prstGeom>
          <a:ln w="6350">
            <a:solidFill>
              <a:srgbClr val="E2E8F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188720" y="4379976"/>
            <a:ext cx="438912" cy="438912"/>
          </a:xfrm>
          <a:prstGeom prst="ellipse">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pPr>
            <a:r>
              <a:rPr sz="1500" b="1">
                <a:solidFill>
                  <a:srgbClr val="FFFFFF"/>
                </a:solidFill>
              </a:rPr>
              <a:t>04</a:t>
            </a:r>
            <a:endParaRPr sz="1500" b="1">
              <a:solidFill>
                <a:srgbClr val="FFFFFF"/>
              </a:solidFill>
            </a:endParaRPr>
          </a:p>
        </p:txBody>
      </p:sp>
      <p:sp>
        <p:nvSpPr>
          <p:cNvPr id="19" name="TextBox 18"/>
          <p:cNvSpPr txBox="1"/>
          <p:nvPr/>
        </p:nvSpPr>
        <p:spPr>
          <a:xfrm>
            <a:off x="1920240" y="4352544"/>
            <a:ext cx="3657600" cy="347472"/>
          </a:xfrm>
          <a:prstGeom prst="rect">
            <a:avLst/>
          </a:prstGeom>
          <a:noFill/>
        </p:spPr>
        <p:txBody>
          <a:bodyPr wrap="square"/>
          <a:lstStyle/>
          <a:p>
            <a:pPr algn="l"/>
            <a:r>
              <a:rPr sz="1600" b="1">
                <a:solidFill>
                  <a:srgbClr val="2D2D2D"/>
                </a:solidFill>
              </a:rPr>
              <a:t>实验设计与结果</a:t>
            </a:r>
            <a:endParaRPr sz="1600" b="1">
              <a:solidFill>
                <a:srgbClr val="2D2D2D"/>
              </a:solidFill>
            </a:endParaRPr>
          </a:p>
        </p:txBody>
      </p:sp>
      <p:sp>
        <p:nvSpPr>
          <p:cNvPr id="20" name="TextBox 19"/>
          <p:cNvSpPr txBox="1"/>
          <p:nvPr/>
        </p:nvSpPr>
        <p:spPr>
          <a:xfrm>
            <a:off x="1920240" y="4672584"/>
            <a:ext cx="5486400" cy="292608"/>
          </a:xfrm>
          <a:prstGeom prst="rect">
            <a:avLst/>
          </a:prstGeom>
          <a:noFill/>
        </p:spPr>
        <p:txBody>
          <a:bodyPr wrap="square"/>
          <a:lstStyle/>
          <a:p>
            <a:pPr algn="l"/>
            <a:r>
              <a:rPr sz="1100" b="0">
                <a:solidFill>
                  <a:srgbClr val="6B7B8D"/>
                </a:solidFill>
              </a:rPr>
              <a:t>三种训练范式对比与迁移实验</a:t>
            </a:r>
            <a:endParaRPr sz="1100" b="0">
              <a:solidFill>
                <a:srgbClr val="6B7B8D"/>
              </a:solidFill>
            </a:endParaRPr>
          </a:p>
        </p:txBody>
      </p:sp>
      <p:cxnSp>
        <p:nvCxnSpPr>
          <p:cNvPr id="21" name="Connector 20"/>
          <p:cNvCxnSpPr/>
          <p:nvPr/>
        </p:nvCxnSpPr>
        <p:spPr>
          <a:xfrm>
            <a:off x="1920240" y="5093208"/>
            <a:ext cx="8595360" cy="0"/>
          </a:xfrm>
          <a:prstGeom prst="line">
            <a:avLst/>
          </a:prstGeom>
          <a:ln w="6350">
            <a:solidFill>
              <a:srgbClr val="E2E8F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188720" y="5367528"/>
            <a:ext cx="438912" cy="438912"/>
          </a:xfrm>
          <a:prstGeom prst="ellipse">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pPr>
            <a:r>
              <a:rPr sz="1500" b="1">
                <a:solidFill>
                  <a:srgbClr val="FFFFFF"/>
                </a:solidFill>
              </a:rPr>
              <a:t>05</a:t>
            </a:r>
            <a:endParaRPr sz="1500" b="1">
              <a:solidFill>
                <a:srgbClr val="FFFFFF"/>
              </a:solidFill>
            </a:endParaRPr>
          </a:p>
        </p:txBody>
      </p:sp>
      <p:sp>
        <p:nvSpPr>
          <p:cNvPr id="23" name="TextBox 22"/>
          <p:cNvSpPr txBox="1"/>
          <p:nvPr/>
        </p:nvSpPr>
        <p:spPr>
          <a:xfrm>
            <a:off x="1920240" y="5340096"/>
            <a:ext cx="3657600" cy="347472"/>
          </a:xfrm>
          <a:prstGeom prst="rect">
            <a:avLst/>
          </a:prstGeom>
          <a:noFill/>
        </p:spPr>
        <p:txBody>
          <a:bodyPr wrap="square"/>
          <a:lstStyle/>
          <a:p>
            <a:pPr algn="l"/>
            <a:r>
              <a:rPr sz="1600" b="1">
                <a:solidFill>
                  <a:srgbClr val="2D2D2D"/>
                </a:solidFill>
              </a:rPr>
              <a:t>结论与展望</a:t>
            </a:r>
            <a:endParaRPr sz="1600" b="1">
              <a:solidFill>
                <a:srgbClr val="2D2D2D"/>
              </a:solidFill>
            </a:endParaRPr>
          </a:p>
        </p:txBody>
      </p:sp>
      <p:sp>
        <p:nvSpPr>
          <p:cNvPr id="24" name="TextBox 23"/>
          <p:cNvSpPr txBox="1"/>
          <p:nvPr/>
        </p:nvSpPr>
        <p:spPr>
          <a:xfrm>
            <a:off x="1920240" y="5660136"/>
            <a:ext cx="5486400" cy="292608"/>
          </a:xfrm>
          <a:prstGeom prst="rect">
            <a:avLst/>
          </a:prstGeom>
          <a:noFill/>
        </p:spPr>
        <p:txBody>
          <a:bodyPr wrap="square"/>
          <a:lstStyle/>
          <a:p>
            <a:pPr algn="l"/>
            <a:r>
              <a:rPr sz="1100" b="0">
                <a:solidFill>
                  <a:srgbClr val="6B7B8D"/>
                </a:solidFill>
              </a:rPr>
              <a:t>主要贡献与后续方向</a:t>
            </a:r>
            <a:endParaRPr sz="1100" b="0">
              <a:solidFill>
                <a:srgbClr val="6B7B8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475488"/>
          </a:xfrm>
          <a:prstGeom prst="rect">
            <a:avLst/>
          </a:prstGeom>
          <a:noFill/>
        </p:spPr>
        <p:txBody>
          <a:bodyPr wrap="square"/>
          <a:lstStyle/>
          <a:p>
            <a:pPr algn="l"/>
            <a:r>
              <a:rPr sz="2300" b="1">
                <a:solidFill>
                  <a:srgbClr val="1A56A8"/>
                </a:solidFill>
              </a:rPr>
              <a:t>意义与目标</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94360" y="1078992"/>
            <a:ext cx="5120640" cy="114300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152144"/>
            <a:ext cx="4663440" cy="256032"/>
          </a:xfrm>
          <a:prstGeom prst="rect">
            <a:avLst/>
          </a:prstGeom>
          <a:noFill/>
        </p:spPr>
        <p:txBody>
          <a:bodyPr wrap="square"/>
          <a:lstStyle/>
          <a:p>
            <a:pPr algn="l"/>
            <a:r>
              <a:rPr sz="1300" b="1">
                <a:solidFill>
                  <a:srgbClr val="1A56A8"/>
                </a:solidFill>
              </a:rPr>
              <a:t>研究背景</a:t>
            </a:r>
            <a:endParaRPr sz="1300" b="1">
              <a:solidFill>
                <a:srgbClr val="1A56A8"/>
              </a:solidFill>
            </a:endParaRPr>
          </a:p>
        </p:txBody>
      </p:sp>
      <p:sp>
        <p:nvSpPr>
          <p:cNvPr id="8" name="TextBox 7"/>
          <p:cNvSpPr txBox="1"/>
          <p:nvPr/>
        </p:nvSpPr>
        <p:spPr>
          <a:xfrm>
            <a:off x="777240" y="1426464"/>
            <a:ext cx="4663440" cy="777240"/>
          </a:xfrm>
          <a:prstGeom prst="rect">
            <a:avLst/>
          </a:prstGeom>
          <a:noFill/>
        </p:spPr>
        <p:txBody>
          <a:bodyPr wrap="square"/>
          <a:lstStyle/>
          <a:p>
            <a:pPr algn="l">
              <a:lnSpc>
                <a:spcPts val="1500"/>
              </a:lnSpc>
              <a:spcAft>
                <a:spcPts val="200"/>
              </a:spcAft>
            </a:pPr>
            <a:r>
              <a:rPr sz="1100" b="0">
                <a:solidFill>
                  <a:srgbClr val="6B7B8D"/>
                </a:solidFill>
              </a:rPr>
              <a:t>  博弈对抗是 AI 的试金石，要求策略具有鲁棒性和泛化性</a:t>
            </a:r>
            <a:endParaRPr sz="1100" b="0">
              <a:solidFill>
                <a:srgbClr val="6B7B8D"/>
              </a:solidFill>
            </a:endParaRPr>
          </a:p>
          <a:p>
            <a:pPr algn="l">
              <a:lnSpc>
                <a:spcPts val="1500"/>
              </a:lnSpc>
              <a:spcAft>
                <a:spcPts val="200"/>
              </a:spcAft>
            </a:pPr>
            <a:r>
              <a:rPr sz="1100" b="0">
                <a:solidFill>
                  <a:srgbClr val="6B7B8D"/>
                </a:solidFill>
              </a:rPr>
              <a:t>  多智能体对抗引入非平稳性，Markov 假设不再成立</a:t>
            </a:r>
            <a:endParaRPr sz="1100" b="0">
              <a:solidFill>
                <a:srgbClr val="6B7B8D"/>
              </a:solidFill>
            </a:endParaRPr>
          </a:p>
        </p:txBody>
      </p:sp>
      <p:sp>
        <p:nvSpPr>
          <p:cNvPr id="9" name="Rounded Rectangle 8"/>
          <p:cNvSpPr/>
          <p:nvPr/>
        </p:nvSpPr>
        <p:spPr>
          <a:xfrm>
            <a:off x="594360" y="2496312"/>
            <a:ext cx="621792" cy="292608"/>
          </a:xfrm>
          <a:prstGeom prst="roundRect">
            <a:avLst>
              <a:gd name="adj" fmla="val 5000"/>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目标 1</a:t>
            </a:r>
            <a:endParaRPr sz="900" b="1">
              <a:solidFill>
                <a:srgbClr val="FFFFFF"/>
              </a:solidFill>
            </a:endParaRPr>
          </a:p>
        </p:txBody>
      </p:sp>
      <p:sp>
        <p:nvSpPr>
          <p:cNvPr id="10" name="TextBox 9"/>
          <p:cNvSpPr txBox="1"/>
          <p:nvPr/>
        </p:nvSpPr>
        <p:spPr>
          <a:xfrm>
            <a:off x="1417320" y="2478024"/>
            <a:ext cx="4114800" cy="274320"/>
          </a:xfrm>
          <a:prstGeom prst="rect">
            <a:avLst/>
          </a:prstGeom>
          <a:noFill/>
        </p:spPr>
        <p:txBody>
          <a:bodyPr wrap="square"/>
          <a:lstStyle/>
          <a:p>
            <a:pPr algn="l"/>
            <a:r>
              <a:rPr sz="1200" b="1">
                <a:solidFill>
                  <a:srgbClr val="2D2D2D"/>
                </a:solidFill>
              </a:rPr>
              <a:t>设计并实现博弈环境</a:t>
            </a:r>
            <a:endParaRPr sz="1200" b="1">
              <a:solidFill>
                <a:srgbClr val="2D2D2D"/>
              </a:solidFill>
            </a:endParaRPr>
          </a:p>
        </p:txBody>
      </p:sp>
      <p:sp>
        <p:nvSpPr>
          <p:cNvPr id="11" name="TextBox 10"/>
          <p:cNvSpPr txBox="1"/>
          <p:nvPr/>
        </p:nvSpPr>
        <p:spPr>
          <a:xfrm>
            <a:off x="1417320" y="2752344"/>
            <a:ext cx="4114800" cy="274320"/>
          </a:xfrm>
          <a:prstGeom prst="rect">
            <a:avLst/>
          </a:prstGeom>
          <a:noFill/>
        </p:spPr>
        <p:txBody>
          <a:bodyPr wrap="square"/>
          <a:lstStyle/>
          <a:p>
            <a:pPr algn="l"/>
            <a:r>
              <a:rPr sz="1000" b="0">
                <a:solidFill>
                  <a:srgbClr val="6B7B8D"/>
                </a:solidFill>
              </a:rPr>
              <a:t>基于 Godot 引擎构建 2D 四人混战竞技场</a:t>
            </a:r>
            <a:endParaRPr sz="1000" b="0">
              <a:solidFill>
                <a:srgbClr val="6B7B8D"/>
              </a:solidFill>
            </a:endParaRPr>
          </a:p>
        </p:txBody>
      </p:sp>
      <p:sp>
        <p:nvSpPr>
          <p:cNvPr id="12" name="Rounded Rectangle 11"/>
          <p:cNvSpPr/>
          <p:nvPr/>
        </p:nvSpPr>
        <p:spPr>
          <a:xfrm>
            <a:off x="594360" y="3337560"/>
            <a:ext cx="621792" cy="292608"/>
          </a:xfrm>
          <a:prstGeom prst="roundRect">
            <a:avLst>
              <a:gd name="adj" fmla="val 5000"/>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目标 2</a:t>
            </a:r>
            <a:endParaRPr sz="900" b="1">
              <a:solidFill>
                <a:srgbClr val="FFFFFF"/>
              </a:solidFill>
            </a:endParaRPr>
          </a:p>
        </p:txBody>
      </p:sp>
      <p:sp>
        <p:nvSpPr>
          <p:cNvPr id="13" name="TextBox 12"/>
          <p:cNvSpPr txBox="1"/>
          <p:nvPr/>
        </p:nvSpPr>
        <p:spPr>
          <a:xfrm>
            <a:off x="1417320" y="3319272"/>
            <a:ext cx="4114800" cy="274320"/>
          </a:xfrm>
          <a:prstGeom prst="rect">
            <a:avLst/>
          </a:prstGeom>
          <a:noFill/>
        </p:spPr>
        <p:txBody>
          <a:bodyPr wrap="square"/>
          <a:lstStyle/>
          <a:p>
            <a:pPr algn="l"/>
            <a:r>
              <a:rPr sz="1200" b="1">
                <a:solidFill>
                  <a:srgbClr val="2D2D2D"/>
                </a:solidFill>
              </a:rPr>
              <a:t>探索高效的单智能体训练</a:t>
            </a:r>
            <a:endParaRPr sz="1200" b="1">
              <a:solidFill>
                <a:srgbClr val="2D2D2D"/>
              </a:solidFill>
            </a:endParaRPr>
          </a:p>
        </p:txBody>
      </p:sp>
      <p:sp>
        <p:nvSpPr>
          <p:cNvPr id="14" name="TextBox 13"/>
          <p:cNvSpPr txBox="1"/>
          <p:nvPr/>
        </p:nvSpPr>
        <p:spPr>
          <a:xfrm>
            <a:off x="1417320" y="3593592"/>
            <a:ext cx="4114800" cy="274320"/>
          </a:xfrm>
          <a:prstGeom prst="rect">
            <a:avLst/>
          </a:prstGeom>
          <a:noFill/>
        </p:spPr>
        <p:txBody>
          <a:bodyPr wrap="square"/>
          <a:lstStyle/>
          <a:p>
            <a:pPr algn="l"/>
            <a:r>
              <a:rPr sz="1000" b="0">
                <a:solidFill>
                  <a:srgbClr val="6B7B8D"/>
                </a:solidFill>
              </a:rPr>
              <a:t>PBRS 奖励塑形 + 课程学习 + 网络架构对比</a:t>
            </a:r>
            <a:endParaRPr sz="1000" b="0">
              <a:solidFill>
                <a:srgbClr val="6B7B8D"/>
              </a:solidFill>
            </a:endParaRPr>
          </a:p>
        </p:txBody>
      </p:sp>
      <p:sp>
        <p:nvSpPr>
          <p:cNvPr id="15" name="Rounded Rectangle 14"/>
          <p:cNvSpPr/>
          <p:nvPr/>
        </p:nvSpPr>
        <p:spPr>
          <a:xfrm>
            <a:off x="594360" y="4178808"/>
            <a:ext cx="621792" cy="292608"/>
          </a:xfrm>
          <a:prstGeom prst="roundRect">
            <a:avLst>
              <a:gd name="adj" fmla="val 5000"/>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目标 3</a:t>
            </a:r>
            <a:endParaRPr sz="900" b="1">
              <a:solidFill>
                <a:srgbClr val="FFFFFF"/>
              </a:solidFill>
            </a:endParaRPr>
          </a:p>
        </p:txBody>
      </p:sp>
      <p:sp>
        <p:nvSpPr>
          <p:cNvPr id="16" name="TextBox 15"/>
          <p:cNvSpPr txBox="1"/>
          <p:nvPr/>
        </p:nvSpPr>
        <p:spPr>
          <a:xfrm>
            <a:off x="1417320" y="4160520"/>
            <a:ext cx="4114800" cy="274320"/>
          </a:xfrm>
          <a:prstGeom prst="rect">
            <a:avLst/>
          </a:prstGeom>
          <a:noFill/>
        </p:spPr>
        <p:txBody>
          <a:bodyPr wrap="square"/>
          <a:lstStyle/>
          <a:p>
            <a:pPr algn="l"/>
            <a:r>
              <a:rPr sz="1200" b="1">
                <a:solidFill>
                  <a:srgbClr val="2D2D2D"/>
                </a:solidFill>
              </a:rPr>
              <a:t>对比博弈训练方法</a:t>
            </a:r>
            <a:endParaRPr sz="1200" b="1">
              <a:solidFill>
                <a:srgbClr val="2D2D2D"/>
              </a:solidFill>
            </a:endParaRPr>
          </a:p>
        </p:txBody>
      </p:sp>
      <p:sp>
        <p:nvSpPr>
          <p:cNvPr id="17" name="TextBox 16"/>
          <p:cNvSpPr txBox="1"/>
          <p:nvPr/>
        </p:nvSpPr>
        <p:spPr>
          <a:xfrm>
            <a:off x="1417320" y="4434840"/>
            <a:ext cx="4114800" cy="274320"/>
          </a:xfrm>
          <a:prstGeom prst="rect">
            <a:avLst/>
          </a:prstGeom>
          <a:noFill/>
        </p:spPr>
        <p:txBody>
          <a:bodyPr wrap="square"/>
          <a:lstStyle/>
          <a:p>
            <a:pPr algn="l"/>
            <a:r>
              <a:rPr sz="1000" b="0">
                <a:solidFill>
                  <a:srgbClr val="6B7B8D"/>
                </a:solidFill>
              </a:rPr>
              <a:t>IPPO、对手池博弈、平均策略博弈三种方法</a:t>
            </a:r>
            <a:endParaRPr sz="1000" b="0">
              <a:solidFill>
                <a:srgbClr val="6B7B8D"/>
              </a:solidFill>
            </a:endParaRPr>
          </a:p>
        </p:txBody>
      </p:sp>
      <p:sp>
        <p:nvSpPr>
          <p:cNvPr id="18" name="TextBox 17"/>
          <p:cNvSpPr txBox="1"/>
          <p:nvPr/>
        </p:nvSpPr>
        <p:spPr>
          <a:xfrm>
            <a:off x="6080760" y="1078992"/>
            <a:ext cx="5303520" cy="274320"/>
          </a:xfrm>
          <a:prstGeom prst="rect">
            <a:avLst/>
          </a:prstGeom>
          <a:noFill/>
        </p:spPr>
        <p:txBody>
          <a:bodyPr wrap="square"/>
          <a:lstStyle/>
          <a:p>
            <a:pPr algn="ctr"/>
            <a:r>
              <a:rPr sz="1200" b="0">
                <a:solidFill>
                  <a:srgbClr val="6B7B8D"/>
                </a:solidFill>
              </a:rPr>
              <a:t>论文研究框架</a:t>
            </a:r>
            <a:endParaRPr sz="1200" b="0">
              <a:solidFill>
                <a:srgbClr val="6B7B8D"/>
              </a:solidFill>
            </a:endParaRPr>
          </a:p>
        </p:txBody>
      </p:sp>
      <p:pic>
        <p:nvPicPr>
          <p:cNvPr id="19" name="Picture 18" descr="research_framework.png"/>
          <p:cNvPicPr>
            <a:picLocks noChangeAspect="1"/>
          </p:cNvPicPr>
          <p:nvPr/>
        </p:nvPicPr>
        <p:blipFill>
          <a:blip r:embed="rId1"/>
          <a:stretch>
            <a:fillRect/>
          </a:stretch>
        </p:blipFill>
        <p:spPr>
          <a:xfrm>
            <a:off x="6217920" y="1399032"/>
            <a:ext cx="5029200" cy="31802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475488"/>
          </a:xfrm>
          <a:prstGeom prst="rect">
            <a:avLst/>
          </a:prstGeom>
          <a:noFill/>
        </p:spPr>
        <p:txBody>
          <a:bodyPr wrap="square"/>
          <a:lstStyle/>
          <a:p>
            <a:pPr algn="l"/>
            <a:r>
              <a:rPr sz="2300" b="1">
                <a:solidFill>
                  <a:srgbClr val="1A56A8"/>
                </a:solidFill>
              </a:rPr>
              <a:t>环境设计</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0" y="384048"/>
            <a:ext cx="2926080" cy="475488"/>
          </a:xfrm>
          <a:prstGeom prst="rect">
            <a:avLst/>
          </a:prstGeom>
          <a:noFill/>
        </p:spPr>
        <p:txBody>
          <a:bodyPr wrap="square"/>
          <a:lstStyle/>
          <a:p>
            <a:pPr algn="r"/>
            <a:r>
              <a:rPr sz="1200" b="0">
                <a:solidFill>
                  <a:srgbClr val="6B7B8D"/>
                </a:solidFill>
              </a:rPr>
              <a:t>Tiny Swords 2D 俯视角竞技场</a:t>
            </a:r>
            <a:endParaRPr sz="1200" b="0">
              <a:solidFill>
                <a:srgbClr val="6B7B8D"/>
              </a:solidFill>
            </a:endParaRPr>
          </a:p>
        </p:txBody>
      </p:sp>
      <p:sp>
        <p:nvSpPr>
          <p:cNvPr id="7" name="Rounded Rectangle 6"/>
          <p:cNvSpPr/>
          <p:nvPr/>
        </p:nvSpPr>
        <p:spPr>
          <a:xfrm>
            <a:off x="594360" y="1078992"/>
            <a:ext cx="5120640" cy="64008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 y="1197864"/>
            <a:ext cx="1051560" cy="292608"/>
          </a:xfrm>
          <a:prstGeom prst="roundRect">
            <a:avLst>
              <a:gd name="adj" fmla="val 5000"/>
            </a:avLst>
          </a:prstGeom>
          <a:solidFill>
            <a:srgbClr val="EBF0F7"/>
          </a:solidFill>
          <a:ln w="6350">
            <a:solidFill>
              <a:srgbClr val="C8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1A56A8"/>
                </a:solidFill>
              </a:rPr>
              <a:t>游戏类型</a:t>
            </a:r>
            <a:endParaRPr sz="1000" b="1">
              <a:solidFill>
                <a:srgbClr val="1A56A8"/>
              </a:solidFill>
            </a:endParaRPr>
          </a:p>
        </p:txBody>
      </p:sp>
      <p:sp>
        <p:nvSpPr>
          <p:cNvPr id="9" name="TextBox 8"/>
          <p:cNvSpPr txBox="1"/>
          <p:nvPr/>
        </p:nvSpPr>
        <p:spPr>
          <a:xfrm>
            <a:off x="1965960" y="1216152"/>
            <a:ext cx="3474720" cy="384048"/>
          </a:xfrm>
          <a:prstGeom prst="rect">
            <a:avLst/>
          </a:prstGeom>
          <a:noFill/>
        </p:spPr>
        <p:txBody>
          <a:bodyPr wrap="square"/>
          <a:lstStyle/>
          <a:p>
            <a:pPr algn="l"/>
            <a:r>
              <a:rPr sz="1100" b="0">
                <a:solidFill>
                  <a:srgbClr val="2D2D2D"/>
                </a:solidFill>
              </a:rPr>
              <a:t>2D 俯视角四人混战竞技场，4 智能体同屏对抗</a:t>
            </a:r>
            <a:endParaRPr sz="1100" b="0">
              <a:solidFill>
                <a:srgbClr val="2D2D2D"/>
              </a:solidFill>
            </a:endParaRPr>
          </a:p>
        </p:txBody>
      </p:sp>
      <p:sp>
        <p:nvSpPr>
          <p:cNvPr id="10" name="Rounded Rectangle 9"/>
          <p:cNvSpPr/>
          <p:nvPr/>
        </p:nvSpPr>
        <p:spPr>
          <a:xfrm>
            <a:off x="594360" y="1828800"/>
            <a:ext cx="5120640" cy="64008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947672"/>
            <a:ext cx="1051560" cy="292608"/>
          </a:xfrm>
          <a:prstGeom prst="roundRect">
            <a:avLst>
              <a:gd name="adj" fmla="val 5000"/>
            </a:avLst>
          </a:prstGeom>
          <a:solidFill>
            <a:srgbClr val="EBF0F7"/>
          </a:solidFill>
          <a:ln w="6350">
            <a:solidFill>
              <a:srgbClr val="C8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1A56A8"/>
                </a:solidFill>
              </a:rPr>
              <a:t>引擎</a:t>
            </a:r>
            <a:endParaRPr sz="1000" b="1">
              <a:solidFill>
                <a:srgbClr val="1A56A8"/>
              </a:solidFill>
            </a:endParaRPr>
          </a:p>
        </p:txBody>
      </p:sp>
      <p:sp>
        <p:nvSpPr>
          <p:cNvPr id="12" name="TextBox 11"/>
          <p:cNvSpPr txBox="1"/>
          <p:nvPr/>
        </p:nvSpPr>
        <p:spPr>
          <a:xfrm>
            <a:off x="1965960" y="1965960"/>
            <a:ext cx="3474720" cy="384048"/>
          </a:xfrm>
          <a:prstGeom prst="rect">
            <a:avLst/>
          </a:prstGeom>
          <a:noFill/>
        </p:spPr>
        <p:txBody>
          <a:bodyPr wrap="square"/>
          <a:lstStyle/>
          <a:p>
            <a:pPr algn="l"/>
            <a:r>
              <a:rPr sz="1100" b="0">
                <a:solidFill>
                  <a:srgbClr val="2D2D2D"/>
                </a:solidFill>
              </a:rPr>
              <a:t>Godot 4.x + Godot RL Agents 集成框架</a:t>
            </a:r>
            <a:endParaRPr sz="1100" b="0">
              <a:solidFill>
                <a:srgbClr val="2D2D2D"/>
              </a:solidFill>
            </a:endParaRPr>
          </a:p>
        </p:txBody>
      </p:sp>
      <p:sp>
        <p:nvSpPr>
          <p:cNvPr id="13" name="Rounded Rectangle 12"/>
          <p:cNvSpPr/>
          <p:nvPr/>
        </p:nvSpPr>
        <p:spPr>
          <a:xfrm>
            <a:off x="594360" y="2578608"/>
            <a:ext cx="5120640" cy="64008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3232" y="2697480"/>
            <a:ext cx="1051560" cy="292608"/>
          </a:xfrm>
          <a:prstGeom prst="roundRect">
            <a:avLst>
              <a:gd name="adj" fmla="val 5000"/>
            </a:avLst>
          </a:prstGeom>
          <a:solidFill>
            <a:srgbClr val="EBF0F7"/>
          </a:solidFill>
          <a:ln w="6350">
            <a:solidFill>
              <a:srgbClr val="C8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1A56A8"/>
                </a:solidFill>
              </a:rPr>
              <a:t>地图</a:t>
            </a:r>
            <a:endParaRPr sz="1000" b="1">
              <a:solidFill>
                <a:srgbClr val="1A56A8"/>
              </a:solidFill>
            </a:endParaRPr>
          </a:p>
        </p:txBody>
      </p:sp>
      <p:sp>
        <p:nvSpPr>
          <p:cNvPr id="15" name="TextBox 14"/>
          <p:cNvSpPr txBox="1"/>
          <p:nvPr/>
        </p:nvSpPr>
        <p:spPr>
          <a:xfrm>
            <a:off x="1965960" y="2715768"/>
            <a:ext cx="3474720" cy="384048"/>
          </a:xfrm>
          <a:prstGeom prst="rect">
            <a:avLst/>
          </a:prstGeom>
          <a:noFill/>
        </p:spPr>
        <p:txBody>
          <a:bodyPr wrap="square"/>
          <a:lstStyle/>
          <a:p>
            <a:pPr algn="l"/>
            <a:r>
              <a:rPr sz="1100" b="0">
                <a:solidFill>
                  <a:srgbClr val="2D2D2D"/>
                </a:solidFill>
              </a:rPr>
              <a:t>18×18 栅格封闭竞技场，含障碍物、奖励球、野怪</a:t>
            </a:r>
            <a:endParaRPr sz="1100" b="0">
              <a:solidFill>
                <a:srgbClr val="2D2D2D"/>
              </a:solidFill>
            </a:endParaRPr>
          </a:p>
        </p:txBody>
      </p:sp>
      <p:sp>
        <p:nvSpPr>
          <p:cNvPr id="16" name="Rounded Rectangle 15"/>
          <p:cNvSpPr/>
          <p:nvPr/>
        </p:nvSpPr>
        <p:spPr>
          <a:xfrm>
            <a:off x="594360" y="3328416"/>
            <a:ext cx="5120640" cy="64008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3232" y="3447288"/>
            <a:ext cx="1051560" cy="292608"/>
          </a:xfrm>
          <a:prstGeom prst="roundRect">
            <a:avLst>
              <a:gd name="adj" fmla="val 5000"/>
            </a:avLst>
          </a:prstGeom>
          <a:solidFill>
            <a:srgbClr val="EBF0F7"/>
          </a:solidFill>
          <a:ln w="6350">
            <a:solidFill>
              <a:srgbClr val="C8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1A56A8"/>
                </a:solidFill>
              </a:rPr>
              <a:t>核心机制</a:t>
            </a:r>
            <a:endParaRPr sz="1000" b="1">
              <a:solidFill>
                <a:srgbClr val="1A56A8"/>
              </a:solidFill>
            </a:endParaRPr>
          </a:p>
        </p:txBody>
      </p:sp>
      <p:sp>
        <p:nvSpPr>
          <p:cNvPr id="18" name="TextBox 17"/>
          <p:cNvSpPr txBox="1"/>
          <p:nvPr/>
        </p:nvSpPr>
        <p:spPr>
          <a:xfrm>
            <a:off x="1965960" y="3465576"/>
            <a:ext cx="3474720" cy="384048"/>
          </a:xfrm>
          <a:prstGeom prst="rect">
            <a:avLst/>
          </a:prstGeom>
          <a:noFill/>
        </p:spPr>
        <p:txBody>
          <a:bodyPr wrap="square"/>
          <a:lstStyle/>
          <a:p>
            <a:pPr algn="l"/>
            <a:r>
              <a:rPr sz="1100" b="0">
                <a:solidFill>
                  <a:srgbClr val="2D2D2D"/>
                </a:solidFill>
              </a:rPr>
              <a:t>奖励球（A/B 类）、NPC 敌人、中央资源密集区、视野限制</a:t>
            </a:r>
            <a:endParaRPr sz="1100" b="0">
              <a:solidFill>
                <a:srgbClr val="2D2D2D"/>
              </a:solidFill>
            </a:endParaRPr>
          </a:p>
        </p:txBody>
      </p:sp>
      <p:sp>
        <p:nvSpPr>
          <p:cNvPr id="19" name="Rounded Rectangle 18"/>
          <p:cNvSpPr/>
          <p:nvPr/>
        </p:nvSpPr>
        <p:spPr>
          <a:xfrm>
            <a:off x="594360" y="4078224"/>
            <a:ext cx="5120640" cy="64008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13232" y="4197096"/>
            <a:ext cx="1051560" cy="292608"/>
          </a:xfrm>
          <a:prstGeom prst="roundRect">
            <a:avLst>
              <a:gd name="adj" fmla="val 5000"/>
            </a:avLst>
          </a:prstGeom>
          <a:solidFill>
            <a:srgbClr val="EBF0F7"/>
          </a:solidFill>
          <a:ln w="6350">
            <a:solidFill>
              <a:srgbClr val="C8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1A56A8"/>
                </a:solidFill>
              </a:rPr>
              <a:t>会话制</a:t>
            </a:r>
            <a:endParaRPr sz="1000" b="1">
              <a:solidFill>
                <a:srgbClr val="1A56A8"/>
              </a:solidFill>
            </a:endParaRPr>
          </a:p>
        </p:txBody>
      </p:sp>
      <p:sp>
        <p:nvSpPr>
          <p:cNvPr id="21" name="TextBox 20"/>
          <p:cNvSpPr txBox="1"/>
          <p:nvPr/>
        </p:nvSpPr>
        <p:spPr>
          <a:xfrm>
            <a:off x="1965960" y="4215384"/>
            <a:ext cx="3474720" cy="384048"/>
          </a:xfrm>
          <a:prstGeom prst="rect">
            <a:avLst/>
          </a:prstGeom>
          <a:noFill/>
        </p:spPr>
        <p:txBody>
          <a:bodyPr wrap="square"/>
          <a:lstStyle/>
          <a:p>
            <a:pPr algn="l"/>
            <a:r>
              <a:rPr sz="1100" b="0">
                <a:solidFill>
                  <a:srgbClr val="2D2D2D"/>
                </a:solidFill>
              </a:rPr>
              <a:t>每局 3 分钟，1350 次动作，8 物理帧/次决策</a:t>
            </a:r>
            <a:endParaRPr sz="1100" b="0">
              <a:solidFill>
                <a:srgbClr val="2D2D2D"/>
              </a:solidFill>
            </a:endParaRPr>
          </a:p>
        </p:txBody>
      </p:sp>
      <p:sp>
        <p:nvSpPr>
          <p:cNvPr id="22" name="TextBox 21"/>
          <p:cNvSpPr txBox="1"/>
          <p:nvPr/>
        </p:nvSpPr>
        <p:spPr>
          <a:xfrm>
            <a:off x="6080760" y="1078992"/>
            <a:ext cx="5303520" cy="256032"/>
          </a:xfrm>
          <a:prstGeom prst="rect">
            <a:avLst/>
          </a:prstGeom>
          <a:noFill/>
        </p:spPr>
        <p:txBody>
          <a:bodyPr wrap="square"/>
          <a:lstStyle/>
          <a:p>
            <a:pPr algn="ctr"/>
            <a:r>
              <a:rPr sz="1200" b="0">
                <a:solidFill>
                  <a:srgbClr val="6B7B8D"/>
                </a:solidFill>
              </a:rPr>
              <a:t>竞技场全景</a:t>
            </a:r>
            <a:endParaRPr sz="1200" b="0">
              <a:solidFill>
                <a:srgbClr val="6B7B8D"/>
              </a:solidFill>
            </a:endParaRPr>
          </a:p>
        </p:txBody>
      </p:sp>
      <p:pic>
        <p:nvPicPr>
          <p:cNvPr id="23" name="Picture 22" descr="game_snapshot_0.png"/>
          <p:cNvPicPr>
            <a:picLocks noChangeAspect="1"/>
          </p:cNvPicPr>
          <p:nvPr/>
        </p:nvPicPr>
        <p:blipFill>
          <a:blip r:embed="rId1"/>
          <a:stretch>
            <a:fillRect/>
          </a:stretch>
        </p:blipFill>
        <p:spPr>
          <a:xfrm>
            <a:off x="6537960" y="1399032"/>
            <a:ext cx="4572000" cy="46142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475488"/>
          </a:xfrm>
          <a:prstGeom prst="rect">
            <a:avLst/>
          </a:prstGeom>
          <a:noFill/>
        </p:spPr>
        <p:txBody>
          <a:bodyPr wrap="square"/>
          <a:lstStyle/>
          <a:p>
            <a:pPr algn="l"/>
            <a:r>
              <a:rPr sz="2300" b="1">
                <a:solidFill>
                  <a:srgbClr val="1A56A8"/>
                </a:solidFill>
              </a:rPr>
              <a:t>观测空间设计</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0" y="384048"/>
            <a:ext cx="2926080" cy="475488"/>
          </a:xfrm>
          <a:prstGeom prst="rect">
            <a:avLst/>
          </a:prstGeom>
          <a:noFill/>
        </p:spPr>
        <p:txBody>
          <a:bodyPr wrap="square"/>
          <a:lstStyle/>
          <a:p>
            <a:pPr algn="r"/>
            <a:r>
              <a:rPr sz="1200" b="0">
                <a:solidFill>
                  <a:srgbClr val="6B7B8D"/>
                </a:solidFill>
              </a:rPr>
              <a:t>174 维分段式观测向量</a:t>
            </a:r>
            <a:endParaRPr sz="1200" b="0">
              <a:solidFill>
                <a:srgbClr val="6B7B8D"/>
              </a:solidFill>
            </a:endParaRPr>
          </a:p>
        </p:txBody>
      </p:sp>
      <p:graphicFrame>
        <p:nvGraphicFramePr>
          <p:cNvPr id="7" name="Table 6"/>
          <p:cNvGraphicFramePr>
            <a:graphicFrameLocks noGrp="1"/>
          </p:cNvGraphicFramePr>
          <p:nvPr/>
        </p:nvGraphicFramePr>
        <p:xfrm>
          <a:off x="594360" y="1170432"/>
          <a:ext cx="10972800" cy="2194560"/>
        </p:xfrm>
        <a:graphic>
          <a:graphicData uri="http://schemas.openxmlformats.org/drawingml/2006/table">
            <a:tbl>
              <a:tblPr firstRow="1" bandRow="1">
                <a:tableStyleId>{5C22544A-7EE6-4342-B048-85BDC9FD1C3A}</a:tableStyleId>
              </a:tblPr>
              <a:tblGrid>
                <a:gridCol w="1188720"/>
                <a:gridCol w="914400"/>
                <a:gridCol w="1645920"/>
                <a:gridCol w="7223760"/>
              </a:tblGrid>
              <a:tr h="365760">
                <a:tc>
                  <a:txBody>
                    <a:bodyPr wrap="square"/>
                    <a:lstStyle/>
                    <a:p>
                      <a:r>
                        <a:rPr sz="1100" b="1">
                          <a:solidFill>
                            <a:srgbClr val="FFFFFF"/>
                          </a:solidFill>
                        </a:rPr>
                        <a:t>分段</a:t>
                      </a:r>
                      <a:endParaRPr sz="1100" b="1">
                        <a:solidFill>
                          <a:srgbClr val="FFFFFF"/>
                        </a:solidFill>
                      </a:endParaRPr>
                    </a:p>
                  </a:txBody>
                  <a:tcPr>
                    <a:solidFill>
                      <a:srgbClr val="1A56A8"/>
                    </a:solidFill>
                  </a:tcPr>
                </a:tc>
                <a:tc>
                  <a:txBody>
                    <a:bodyPr wrap="square"/>
                    <a:lstStyle/>
                    <a:p>
                      <a:r>
                        <a:rPr sz="1100" b="1">
                          <a:solidFill>
                            <a:srgbClr val="FFFFFF"/>
                          </a:solidFill>
                        </a:rPr>
                        <a:t>维度</a:t>
                      </a:r>
                      <a:endParaRPr sz="1100" b="1">
                        <a:solidFill>
                          <a:srgbClr val="FFFFFF"/>
                        </a:solidFill>
                      </a:endParaRPr>
                    </a:p>
                  </a:txBody>
                  <a:tcPr>
                    <a:solidFill>
                      <a:srgbClr val="1A56A8"/>
                    </a:solidFill>
                  </a:tcPr>
                </a:tc>
                <a:tc>
                  <a:txBody>
                    <a:bodyPr wrap="square"/>
                    <a:lstStyle/>
                    <a:p>
                      <a:r>
                        <a:rPr sz="1100" b="1">
                          <a:solidFill>
                            <a:srgbClr val="FFFFFF"/>
                          </a:solidFill>
                        </a:rPr>
                        <a:t>实体数×维度</a:t>
                      </a:r>
                      <a:endParaRPr sz="1100" b="1">
                        <a:solidFill>
                          <a:srgbClr val="FFFFFF"/>
                        </a:solidFill>
                      </a:endParaRPr>
                    </a:p>
                  </a:txBody>
                  <a:tcPr>
                    <a:solidFill>
                      <a:srgbClr val="1A56A8"/>
                    </a:solidFill>
                  </a:tcPr>
                </a:tc>
                <a:tc>
                  <a:txBody>
                    <a:bodyPr wrap="square"/>
                    <a:lstStyle/>
                    <a:p>
                      <a:r>
                        <a:rPr sz="1100" b="1">
                          <a:solidFill>
                            <a:srgbClr val="FFFFFF"/>
                          </a:solidFill>
                        </a:rPr>
                        <a:t>内容</a:t>
                      </a:r>
                      <a:endParaRPr sz="1100" b="1">
                        <a:solidFill>
                          <a:srgbClr val="FFFFFF"/>
                        </a:solidFill>
                      </a:endParaRPr>
                    </a:p>
                  </a:txBody>
                  <a:tcPr>
                    <a:solidFill>
                      <a:srgbClr val="1A56A8"/>
                    </a:solidFill>
                  </a:tcPr>
                </a:tc>
              </a:tr>
              <a:tr h="365760">
                <a:tc>
                  <a:txBody>
                    <a:bodyPr wrap="square"/>
                    <a:lstStyle/>
                    <a:p>
                      <a:r>
                        <a:rPr sz="1100">
                          <a:solidFill>
                            <a:srgbClr val="2D2D2D"/>
                          </a:solidFill>
                        </a:rPr>
                        <a:t>SELF</a:t>
                      </a:r>
                      <a:endParaRPr sz="1100">
                        <a:solidFill>
                          <a:srgbClr val="2D2D2D"/>
                        </a:solidFill>
                      </a:endParaRPr>
                    </a:p>
                  </a:txBody>
                  <a:tcPr/>
                </a:tc>
                <a:tc>
                  <a:txBody>
                    <a:bodyPr wrap="square"/>
                    <a:lstStyle/>
                    <a:p>
                      <a:r>
                        <a:rPr sz="1100">
                          <a:solidFill>
                            <a:srgbClr val="2D2D2D"/>
                          </a:solidFill>
                        </a:rPr>
                        <a:t>15</a:t>
                      </a:r>
                      <a:endParaRPr sz="1100">
                        <a:solidFill>
                          <a:srgbClr val="2D2D2D"/>
                        </a:solidFill>
                      </a:endParaRPr>
                    </a:p>
                  </a:txBody>
                  <a:tcPr/>
                </a:tc>
                <a:tc>
                  <a:txBody>
                    <a:bodyPr wrap="square"/>
                    <a:lstStyle/>
                    <a:p>
                      <a:r>
                        <a:rPr sz="1100">
                          <a:solidFill>
                            <a:srgbClr val="2D2D2D"/>
                          </a:solidFill>
                        </a:rPr>
                        <a:t>1×15</a:t>
                      </a:r>
                      <a:endParaRPr sz="1100">
                        <a:solidFill>
                          <a:srgbClr val="2D2D2D"/>
                        </a:solidFill>
                      </a:endParaRPr>
                    </a:p>
                  </a:txBody>
                  <a:tcPr/>
                </a:tc>
                <a:tc>
                  <a:txBody>
                    <a:bodyPr wrap="square"/>
                    <a:lstStyle/>
                    <a:p>
                      <a:r>
                        <a:rPr sz="1100">
                          <a:solidFill>
                            <a:srgbClr val="2D2D2D"/>
                          </a:solidFill>
                        </a:rPr>
                        <a:t>坐标、血量、速度、上一动作 one-hot、回合进度</a:t>
                      </a:r>
                      <a:endParaRPr sz="1100">
                        <a:solidFill>
                          <a:srgbClr val="2D2D2D"/>
                        </a:solidFill>
                      </a:endParaRPr>
                    </a:p>
                  </a:txBody>
                  <a:tcPr/>
                </a:tc>
              </a:tr>
              <a:tr h="365760">
                <a:tc>
                  <a:txBody>
                    <a:bodyPr wrap="square"/>
                    <a:lstStyle/>
                    <a:p>
                      <a:r>
                        <a:rPr sz="1100">
                          <a:solidFill>
                            <a:srgbClr val="2D2D2D"/>
                          </a:solidFill>
                        </a:rPr>
                        <a:t>PLAYER</a:t>
                      </a:r>
                      <a:endParaRPr sz="1100">
                        <a:solidFill>
                          <a:srgbClr val="2D2D2D"/>
                        </a:solidFill>
                      </a:endParaRPr>
                    </a:p>
                  </a:txBody>
                  <a:tcPr/>
                </a:tc>
                <a:tc>
                  <a:txBody>
                    <a:bodyPr wrap="square"/>
                    <a:lstStyle/>
                    <a:p>
                      <a:r>
                        <a:rPr sz="1100">
                          <a:solidFill>
                            <a:srgbClr val="2D2D2D"/>
                          </a:solidFill>
                        </a:rPr>
                        <a:t>33</a:t>
                      </a:r>
                      <a:endParaRPr sz="1100">
                        <a:solidFill>
                          <a:srgbClr val="2D2D2D"/>
                        </a:solidFill>
                      </a:endParaRPr>
                    </a:p>
                  </a:txBody>
                  <a:tcPr/>
                </a:tc>
                <a:tc>
                  <a:txBody>
                    <a:bodyPr wrap="square"/>
                    <a:lstStyle/>
                    <a:p>
                      <a:r>
                        <a:rPr sz="1100">
                          <a:solidFill>
                            <a:srgbClr val="2D2D2D"/>
                          </a:solidFill>
                        </a:rPr>
                        <a:t>3×11</a:t>
                      </a:r>
                      <a:endParaRPr sz="1100">
                        <a:solidFill>
                          <a:srgbClr val="2D2D2D"/>
                        </a:solidFill>
                      </a:endParaRPr>
                    </a:p>
                  </a:txBody>
                  <a:tcPr/>
                </a:tc>
                <a:tc>
                  <a:txBody>
                    <a:bodyPr wrap="square"/>
                    <a:lstStyle/>
                    <a:p>
                      <a:r>
                        <a:rPr sz="1100">
                          <a:solidFill>
                            <a:srgbClr val="2D2D2D"/>
                          </a:solidFill>
                        </a:rPr>
                        <a:t>相对位置、血量、距离、攻击状态、有效掩码</a:t>
                      </a:r>
                      <a:endParaRPr sz="1100">
                        <a:solidFill>
                          <a:srgbClr val="2D2D2D"/>
                        </a:solidFill>
                      </a:endParaRPr>
                    </a:p>
                  </a:txBody>
                  <a:tcPr/>
                </a:tc>
              </a:tr>
              <a:tr h="365760">
                <a:tc>
                  <a:txBody>
                    <a:bodyPr wrap="square"/>
                    <a:lstStyle/>
                    <a:p>
                      <a:r>
                        <a:rPr sz="1100">
                          <a:solidFill>
                            <a:srgbClr val="2D2D2D"/>
                          </a:solidFill>
                        </a:rPr>
                        <a:t>BALL</a:t>
                      </a:r>
                      <a:endParaRPr sz="1100">
                        <a:solidFill>
                          <a:srgbClr val="2D2D2D"/>
                        </a:solidFill>
                      </a:endParaRPr>
                    </a:p>
                  </a:txBody>
                  <a:tcPr/>
                </a:tc>
                <a:tc>
                  <a:txBody>
                    <a:bodyPr wrap="square"/>
                    <a:lstStyle/>
                    <a:p>
                      <a:r>
                        <a:rPr sz="1100">
                          <a:solidFill>
                            <a:srgbClr val="2D2D2D"/>
                          </a:solidFill>
                        </a:rPr>
                        <a:t>40</a:t>
                      </a:r>
                      <a:endParaRPr sz="1100">
                        <a:solidFill>
                          <a:srgbClr val="2D2D2D"/>
                        </a:solidFill>
                      </a:endParaRPr>
                    </a:p>
                  </a:txBody>
                  <a:tcPr/>
                </a:tc>
                <a:tc>
                  <a:txBody>
                    <a:bodyPr wrap="square"/>
                    <a:lstStyle/>
                    <a:p>
                      <a:r>
                        <a:rPr sz="1100">
                          <a:solidFill>
                            <a:srgbClr val="2D2D2D"/>
                          </a:solidFill>
                        </a:rPr>
                        <a:t>8×5</a:t>
                      </a:r>
                      <a:endParaRPr sz="1100">
                        <a:solidFill>
                          <a:srgbClr val="2D2D2D"/>
                        </a:solidFill>
                      </a:endParaRPr>
                    </a:p>
                  </a:txBody>
                  <a:tcPr/>
                </a:tc>
                <a:tc>
                  <a:txBody>
                    <a:bodyPr wrap="square"/>
                    <a:lstStyle/>
                    <a:p>
                      <a:r>
                        <a:rPr sz="1100">
                          <a:solidFill>
                            <a:srgbClr val="2D2D2D"/>
                          </a:solidFill>
                        </a:rPr>
                        <a:t>相对位置、类型、距离、有效掩码</a:t>
                      </a:r>
                      <a:endParaRPr sz="1100">
                        <a:solidFill>
                          <a:srgbClr val="2D2D2D"/>
                        </a:solidFill>
                      </a:endParaRPr>
                    </a:p>
                  </a:txBody>
                  <a:tcPr/>
                </a:tc>
              </a:tr>
              <a:tr h="365760">
                <a:tc>
                  <a:txBody>
                    <a:bodyPr wrap="square"/>
                    <a:lstStyle/>
                    <a:p>
                      <a:r>
                        <a:rPr sz="1100">
                          <a:solidFill>
                            <a:srgbClr val="2D2D2D"/>
                          </a:solidFill>
                        </a:rPr>
                        <a:t>ENEMY</a:t>
                      </a:r>
                      <a:endParaRPr sz="1100">
                        <a:solidFill>
                          <a:srgbClr val="2D2D2D"/>
                        </a:solidFill>
                      </a:endParaRPr>
                    </a:p>
                  </a:txBody>
                  <a:tcPr/>
                </a:tc>
                <a:tc>
                  <a:txBody>
                    <a:bodyPr wrap="square"/>
                    <a:lstStyle/>
                    <a:p>
                      <a:r>
                        <a:rPr sz="1100">
                          <a:solidFill>
                            <a:srgbClr val="2D2D2D"/>
                          </a:solidFill>
                        </a:rPr>
                        <a:t>50</a:t>
                      </a:r>
                      <a:endParaRPr sz="1100">
                        <a:solidFill>
                          <a:srgbClr val="2D2D2D"/>
                        </a:solidFill>
                      </a:endParaRPr>
                    </a:p>
                  </a:txBody>
                  <a:tcPr/>
                </a:tc>
                <a:tc>
                  <a:txBody>
                    <a:bodyPr wrap="square"/>
                    <a:lstStyle/>
                    <a:p>
                      <a:r>
                        <a:rPr sz="1100">
                          <a:solidFill>
                            <a:srgbClr val="2D2D2D"/>
                          </a:solidFill>
                        </a:rPr>
                        <a:t>5×10</a:t>
                      </a:r>
                      <a:endParaRPr sz="1100">
                        <a:solidFill>
                          <a:srgbClr val="2D2D2D"/>
                        </a:solidFill>
                      </a:endParaRPr>
                    </a:p>
                  </a:txBody>
                  <a:tcPr/>
                </a:tc>
                <a:tc>
                  <a:txBody>
                    <a:bodyPr wrap="square"/>
                    <a:lstStyle/>
                    <a:p>
                      <a:r>
                        <a:rPr sz="1100">
                          <a:solidFill>
                            <a:srgbClr val="2D2D2D"/>
                          </a:solidFill>
                        </a:rPr>
                        <a:t>相对位置、血量、攻击状态、有效掩码</a:t>
                      </a:r>
                      <a:endParaRPr sz="1100">
                        <a:solidFill>
                          <a:srgbClr val="2D2D2D"/>
                        </a:solidFill>
                      </a:endParaRPr>
                    </a:p>
                  </a:txBody>
                  <a:tcPr/>
                </a:tc>
              </a:tr>
              <a:tr h="365760">
                <a:tc>
                  <a:txBody>
                    <a:bodyPr wrap="square"/>
                    <a:lstStyle/>
                    <a:p>
                      <a:r>
                        <a:rPr sz="1100">
                          <a:solidFill>
                            <a:srgbClr val="2D2D2D"/>
                          </a:solidFill>
                        </a:rPr>
                        <a:t>LiDAR</a:t>
                      </a:r>
                      <a:endParaRPr sz="1100">
                        <a:solidFill>
                          <a:srgbClr val="2D2D2D"/>
                        </a:solidFill>
                      </a:endParaRPr>
                    </a:p>
                  </a:txBody>
                  <a:tcPr/>
                </a:tc>
                <a:tc>
                  <a:txBody>
                    <a:bodyPr wrap="square"/>
                    <a:lstStyle/>
                    <a:p>
                      <a:r>
                        <a:rPr sz="1100">
                          <a:solidFill>
                            <a:srgbClr val="2D2D2D"/>
                          </a:solidFill>
                        </a:rPr>
                        <a:t>36</a:t>
                      </a:r>
                      <a:endParaRPr sz="1100">
                        <a:solidFill>
                          <a:srgbClr val="2D2D2D"/>
                        </a:solidFill>
                      </a:endParaRPr>
                    </a:p>
                  </a:txBody>
                  <a:tcPr/>
                </a:tc>
                <a:tc>
                  <a:txBody>
                    <a:bodyPr wrap="square"/>
                    <a:lstStyle/>
                    <a:p>
                      <a:r>
                        <a:rPr sz="1100">
                          <a:solidFill>
                            <a:srgbClr val="2D2D2D"/>
                          </a:solidFill>
                        </a:rPr>
                        <a:t>36×1</a:t>
                      </a:r>
                      <a:endParaRPr sz="1100">
                        <a:solidFill>
                          <a:srgbClr val="2D2D2D"/>
                        </a:solidFill>
                      </a:endParaRPr>
                    </a:p>
                  </a:txBody>
                  <a:tcPr/>
                </a:tc>
                <a:tc>
                  <a:txBody>
                    <a:bodyPr wrap="square"/>
                    <a:lstStyle/>
                    <a:p>
                      <a:r>
                        <a:rPr sz="1100">
                          <a:solidFill>
                            <a:srgbClr val="2D2D2D"/>
                          </a:solidFill>
                        </a:rPr>
                        <a:t>36 条射线检测距离，归一化到 [0,1]</a:t>
                      </a:r>
                      <a:endParaRPr sz="1100">
                        <a:solidFill>
                          <a:srgbClr val="2D2D2D"/>
                        </a:solidFill>
                      </a:endParaRPr>
                    </a:p>
                  </a:txBody>
                  <a:tcPr/>
                </a:tc>
              </a:tr>
            </a:tbl>
          </a:graphicData>
        </a:graphic>
      </p:graphicFrame>
      <p:sp>
        <p:nvSpPr>
          <p:cNvPr id="8" name="TextBox 7"/>
          <p:cNvSpPr txBox="1"/>
          <p:nvPr/>
        </p:nvSpPr>
        <p:spPr>
          <a:xfrm>
            <a:off x="594360" y="3685032"/>
            <a:ext cx="2743200" cy="274320"/>
          </a:xfrm>
          <a:prstGeom prst="rect">
            <a:avLst/>
          </a:prstGeom>
          <a:noFill/>
        </p:spPr>
        <p:txBody>
          <a:bodyPr wrap="square"/>
          <a:lstStyle/>
          <a:p>
            <a:pPr algn="l"/>
            <a:r>
              <a:rPr sz="1400" b="1">
                <a:solidFill>
                  <a:srgbClr val="1A56A8"/>
                </a:solidFill>
              </a:rPr>
              <a:t>关键编码特点</a:t>
            </a:r>
            <a:endParaRPr sz="1400" b="1">
              <a:solidFill>
                <a:srgbClr val="1A56A8"/>
              </a:solidFill>
            </a:endParaRPr>
          </a:p>
        </p:txBody>
      </p:sp>
      <p:sp>
        <p:nvSpPr>
          <p:cNvPr id="9" name="TextBox 8"/>
          <p:cNvSpPr txBox="1"/>
          <p:nvPr/>
        </p:nvSpPr>
        <p:spPr>
          <a:xfrm>
            <a:off x="594360" y="4005072"/>
            <a:ext cx="5303520" cy="2560320"/>
          </a:xfrm>
          <a:prstGeom prst="rect">
            <a:avLst/>
          </a:prstGeom>
          <a:noFill/>
        </p:spPr>
        <p:txBody>
          <a:bodyPr wrap="square"/>
          <a:lstStyle/>
          <a:p>
            <a:pPr algn="l">
              <a:lnSpc>
                <a:spcPts val="1500"/>
              </a:lnSpc>
              <a:spcAft>
                <a:spcPts val="200"/>
              </a:spcAft>
            </a:pPr>
            <a:r>
              <a:rPr sz="1100" b="0">
                <a:solidFill>
                  <a:srgbClr val="6B7B8D"/>
                </a:solidFill>
              </a:rPr>
              <a:t>  以自身为中心：相对坐标归一化到 [-1,1]，保证平移不变性</a:t>
            </a:r>
            <a:endParaRPr sz="1100" b="0">
              <a:solidFill>
                <a:srgbClr val="6B7B8D"/>
              </a:solidFill>
            </a:endParaRPr>
          </a:p>
          <a:p>
            <a:pPr algn="l">
              <a:lnSpc>
                <a:spcPts val="1500"/>
              </a:lnSpc>
              <a:spcAft>
                <a:spcPts val="200"/>
              </a:spcAft>
            </a:pPr>
            <a:r>
              <a:rPr sz="1100" b="0">
                <a:solidFill>
                  <a:srgbClr val="6B7B8D"/>
                </a:solidFill>
              </a:rPr>
              <a:t>  固定槽位编码：按 ID 固定，可直接送入 GRU 等循环网络</a:t>
            </a:r>
            <a:endParaRPr sz="1100" b="0">
              <a:solidFill>
                <a:srgbClr val="6B7B8D"/>
              </a:solidFill>
            </a:endParaRPr>
          </a:p>
          <a:p>
            <a:pPr algn="l">
              <a:lnSpc>
                <a:spcPts val="1500"/>
              </a:lnSpc>
              <a:spcAft>
                <a:spcPts val="200"/>
              </a:spcAft>
            </a:pPr>
            <a:r>
              <a:rPr sz="1100" b="0">
                <a:solidFill>
                  <a:srgbClr val="6B7B8D"/>
                </a:solidFill>
              </a:rPr>
              <a:t>  有效位掩码：区分[有效观测]与[零填充噪声]</a:t>
            </a:r>
            <a:endParaRPr sz="1100" b="0">
              <a:solidFill>
                <a:srgbClr val="6B7B8D"/>
              </a:solidFill>
            </a:endParaRPr>
          </a:p>
          <a:p>
            <a:pPr algn="l">
              <a:lnSpc>
                <a:spcPts val="1500"/>
              </a:lnSpc>
              <a:spcAft>
                <a:spcPts val="200"/>
              </a:spcAft>
            </a:pPr>
            <a:r>
              <a:rPr sz="1100" b="0">
                <a:solidFill>
                  <a:srgbClr val="6B7B8D"/>
                </a:solidFill>
              </a:rPr>
              <a:t>  动力学信息：攻击状态、冷却、速度、上一动作 one-hot</a:t>
            </a:r>
            <a:endParaRPr sz="1100" b="0">
              <a:solidFill>
                <a:srgbClr val="6B7B8D"/>
              </a:solidFill>
            </a:endParaRPr>
          </a:p>
        </p:txBody>
      </p:sp>
      <p:sp>
        <p:nvSpPr>
          <p:cNvPr id="10" name="Rounded Rectangle 9"/>
          <p:cNvSpPr/>
          <p:nvPr/>
        </p:nvSpPr>
        <p:spPr>
          <a:xfrm>
            <a:off x="6309360" y="3685032"/>
            <a:ext cx="5029200" cy="256032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3794760"/>
            <a:ext cx="4572000" cy="274320"/>
          </a:xfrm>
          <a:prstGeom prst="rect">
            <a:avLst/>
          </a:prstGeom>
          <a:noFill/>
        </p:spPr>
        <p:txBody>
          <a:bodyPr wrap="square"/>
          <a:lstStyle/>
          <a:p>
            <a:pPr algn="l"/>
            <a:r>
              <a:rPr sz="1300" b="1">
                <a:solidFill>
                  <a:srgbClr val="1A56A8"/>
                </a:solidFill>
              </a:rPr>
              <a:t>动作空间</a:t>
            </a:r>
            <a:endParaRPr sz="1300" b="1">
              <a:solidFill>
                <a:srgbClr val="1A56A8"/>
              </a:solidFill>
            </a:endParaRPr>
          </a:p>
        </p:txBody>
      </p:sp>
      <p:sp>
        <p:nvSpPr>
          <p:cNvPr id="12" name="TextBox 11"/>
          <p:cNvSpPr txBox="1"/>
          <p:nvPr/>
        </p:nvSpPr>
        <p:spPr>
          <a:xfrm>
            <a:off x="6492240" y="4123944"/>
            <a:ext cx="4572000" cy="1371600"/>
          </a:xfrm>
          <a:prstGeom prst="rect">
            <a:avLst/>
          </a:prstGeom>
          <a:noFill/>
        </p:spPr>
        <p:txBody>
          <a:bodyPr wrap="square"/>
          <a:lstStyle/>
          <a:p>
            <a:pPr algn="l">
              <a:lnSpc>
                <a:spcPts val="1500"/>
              </a:lnSpc>
              <a:spcAft>
                <a:spcPts val="200"/>
              </a:spcAft>
            </a:pPr>
            <a:r>
              <a:rPr sz="1100" b="0">
                <a:solidFill>
                  <a:srgbClr val="2D2D2D"/>
                </a:solidFill>
              </a:rPr>
              <a:t>  6 个离散动作：上 / 下 / 左 / 右 / 无操作 / 攻击</a:t>
            </a:r>
            <a:endParaRPr sz="1100" b="0">
              <a:solidFill>
                <a:srgbClr val="2D2D2D"/>
              </a:solidFill>
            </a:endParaRPr>
          </a:p>
          <a:p>
            <a:pPr algn="l">
              <a:lnSpc>
                <a:spcPts val="1500"/>
              </a:lnSpc>
              <a:spcAft>
                <a:spcPts val="200"/>
              </a:spcAft>
            </a:pPr>
            <a:r>
              <a:rPr sz="1100" b="0">
                <a:solidFill>
                  <a:srgbClr val="2D2D2D"/>
                </a:solidFill>
              </a:rPr>
              <a:t>  朝向由最近移动方向决定</a:t>
            </a:r>
            <a:endParaRPr sz="1100" b="0">
              <a:solidFill>
                <a:srgbClr val="2D2D2D"/>
              </a:solidFill>
            </a:endParaRPr>
          </a:p>
          <a:p>
            <a:pPr algn="l">
              <a:lnSpc>
                <a:spcPts val="1500"/>
              </a:lnSpc>
              <a:spcAft>
                <a:spcPts val="200"/>
              </a:spcAft>
            </a:pPr>
            <a:r>
              <a:rPr sz="1100" b="0">
                <a:solidFill>
                  <a:srgbClr val="2D2D2D"/>
                </a:solidFill>
              </a:rPr>
              <a:t>  攻击：正前方扇形范围（半径 18px，100°），冷却 1.5s</a:t>
            </a:r>
            <a:endParaRPr sz="1100" b="0">
              <a:solidFill>
                <a:srgbClr val="2D2D2D"/>
              </a:solidFill>
            </a:endParaRPr>
          </a:p>
        </p:txBody>
      </p:sp>
      <p:sp>
        <p:nvSpPr>
          <p:cNvPr id="13" name="TextBox 12"/>
          <p:cNvSpPr txBox="1"/>
          <p:nvPr/>
        </p:nvSpPr>
        <p:spPr>
          <a:xfrm>
            <a:off x="6492240" y="5239512"/>
            <a:ext cx="4572000" cy="274320"/>
          </a:xfrm>
          <a:prstGeom prst="rect">
            <a:avLst/>
          </a:prstGeom>
          <a:noFill/>
        </p:spPr>
        <p:txBody>
          <a:bodyPr wrap="square"/>
          <a:lstStyle/>
          <a:p>
            <a:pPr algn="l"/>
            <a:r>
              <a:rPr sz="1300" b="1">
                <a:solidFill>
                  <a:srgbClr val="1A56A8"/>
                </a:solidFill>
              </a:rPr>
              <a:t>奖励体系概览</a:t>
            </a:r>
            <a:endParaRPr sz="1300" b="1">
              <a:solidFill>
                <a:srgbClr val="1A56A8"/>
              </a:solidFill>
            </a:endParaRPr>
          </a:p>
        </p:txBody>
      </p:sp>
      <p:sp>
        <p:nvSpPr>
          <p:cNvPr id="14" name="TextBox 13"/>
          <p:cNvSpPr txBox="1"/>
          <p:nvPr/>
        </p:nvSpPr>
        <p:spPr>
          <a:xfrm>
            <a:off x="6492240" y="5559551"/>
            <a:ext cx="4572000" cy="914400"/>
          </a:xfrm>
          <a:prstGeom prst="rect">
            <a:avLst/>
          </a:prstGeom>
          <a:noFill/>
        </p:spPr>
        <p:txBody>
          <a:bodyPr wrap="square"/>
          <a:lstStyle/>
          <a:p>
            <a:pPr algn="l">
              <a:lnSpc>
                <a:spcPts val="1500"/>
              </a:lnSpc>
              <a:spcAft>
                <a:spcPts val="200"/>
              </a:spcAft>
            </a:pPr>
            <a:r>
              <a:rPr sz="1100" b="0">
                <a:solidFill>
                  <a:srgbClr val="2D2D2D"/>
                </a:solidFill>
              </a:rPr>
              <a:t>  事件奖励：拾球、击杀、死亡、撞墙等</a:t>
            </a:r>
            <a:endParaRPr sz="1100" b="0">
              <a:solidFill>
                <a:srgbClr val="2D2D2D"/>
              </a:solidFill>
            </a:endParaRPr>
          </a:p>
          <a:p>
            <a:pPr algn="l">
              <a:lnSpc>
                <a:spcPts val="1500"/>
              </a:lnSpc>
              <a:spcAft>
                <a:spcPts val="200"/>
              </a:spcAft>
            </a:pPr>
            <a:r>
              <a:rPr sz="1100" b="0">
                <a:solidFill>
                  <a:srgbClr val="2D2D2D"/>
                </a:solidFill>
              </a:rPr>
              <a:t>  PBRS 塑形：基于势能的稠密引导信号</a:t>
            </a:r>
            <a:endParaRPr sz="1100" b="0">
              <a:solidFill>
                <a:srgbClr val="2D2D2D"/>
              </a:solidFill>
            </a:endParaRPr>
          </a:p>
          <a:p>
            <a:pPr algn="l">
              <a:lnSpc>
                <a:spcPts val="1500"/>
              </a:lnSpc>
              <a:spcAft>
                <a:spcPts val="200"/>
              </a:spcAft>
            </a:pPr>
            <a:r>
              <a:rPr sz="1100" b="0">
                <a:solidFill>
                  <a:srgbClr val="2D2D2D"/>
                </a:solidFill>
              </a:rPr>
              <a:t>  Per-player 差异化：战士/采集/均衡型配置</a:t>
            </a:r>
            <a:endParaRPr sz="1100" b="0">
              <a:solidFill>
                <a:srgbClr val="2D2D2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475488"/>
          </a:xfrm>
          <a:prstGeom prst="rect">
            <a:avLst/>
          </a:prstGeom>
          <a:noFill/>
        </p:spPr>
        <p:txBody>
          <a:bodyPr wrap="square"/>
          <a:lstStyle/>
          <a:p>
            <a:pPr algn="l"/>
            <a:r>
              <a:rPr sz="2300" b="1">
                <a:solidFill>
                  <a:srgbClr val="1A56A8"/>
                </a:solidFill>
              </a:rPr>
              <a:t>奖励函数设计</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0" y="384048"/>
            <a:ext cx="2926080" cy="475488"/>
          </a:xfrm>
          <a:prstGeom prst="rect">
            <a:avLst/>
          </a:prstGeom>
          <a:noFill/>
        </p:spPr>
        <p:txBody>
          <a:bodyPr wrap="square"/>
          <a:lstStyle/>
          <a:p>
            <a:pPr algn="r"/>
            <a:r>
              <a:rPr sz="1200" b="0">
                <a:solidFill>
                  <a:srgbClr val="6B7B8D"/>
                </a:solidFill>
              </a:rPr>
              <a:t>事件奖励 + 势能塑形</a:t>
            </a:r>
            <a:endParaRPr sz="1200" b="0">
              <a:solidFill>
                <a:srgbClr val="6B7B8D"/>
              </a:solidFill>
            </a:endParaRPr>
          </a:p>
        </p:txBody>
      </p:sp>
      <p:sp>
        <p:nvSpPr>
          <p:cNvPr id="7" name="TextBox 6"/>
          <p:cNvSpPr txBox="1"/>
          <p:nvPr/>
        </p:nvSpPr>
        <p:spPr>
          <a:xfrm>
            <a:off x="594360" y="1078992"/>
            <a:ext cx="4572000" cy="274320"/>
          </a:xfrm>
          <a:prstGeom prst="rect">
            <a:avLst/>
          </a:prstGeom>
          <a:noFill/>
        </p:spPr>
        <p:txBody>
          <a:bodyPr wrap="square"/>
          <a:lstStyle/>
          <a:p>
            <a:pPr algn="l"/>
            <a:r>
              <a:rPr sz="1300" b="1">
                <a:solidFill>
                  <a:srgbClr val="1A56A8"/>
                </a:solidFill>
              </a:rPr>
              <a:t>智能体奖励配置（差异化）</a:t>
            </a:r>
            <a:endParaRPr sz="1300" b="1">
              <a:solidFill>
                <a:srgbClr val="1A56A8"/>
              </a:solidFill>
            </a:endParaRPr>
          </a:p>
        </p:txBody>
      </p:sp>
      <p:graphicFrame>
        <p:nvGraphicFramePr>
          <p:cNvPr id="8" name="Table 7"/>
          <p:cNvGraphicFramePr>
            <a:graphicFrameLocks noGrp="1"/>
          </p:cNvGraphicFramePr>
          <p:nvPr/>
        </p:nvGraphicFramePr>
        <p:xfrm>
          <a:off x="594360" y="1426464"/>
          <a:ext cx="5394960" cy="3108960"/>
        </p:xfrm>
        <a:graphic>
          <a:graphicData uri="http://schemas.openxmlformats.org/drawingml/2006/table">
            <a:tbl>
              <a:tblPr firstRow="1" bandRow="1">
                <a:tableStyleId>{5C22544A-7EE6-4342-B048-85BDC9FD1C3A}</a:tableStyleId>
              </a:tblPr>
              <a:tblGrid>
                <a:gridCol w="1371600"/>
                <a:gridCol w="914400"/>
                <a:gridCol w="1097280"/>
                <a:gridCol w="1005840"/>
                <a:gridCol w="1005840"/>
              </a:tblGrid>
              <a:tr h="345440">
                <a:tc>
                  <a:txBody>
                    <a:bodyPr wrap="square"/>
                    <a:lstStyle/>
                    <a:p>
                      <a:r>
                        <a:rPr sz="1000" b="1">
                          <a:solidFill>
                            <a:srgbClr val="FFFFFF"/>
                          </a:solidFill>
                        </a:rPr>
                        <a:t>奖励事件</a:t>
                      </a:r>
                      <a:endParaRPr sz="1000" b="1">
                        <a:solidFill>
                          <a:srgbClr val="FFFFFF"/>
                        </a:solidFill>
                      </a:endParaRPr>
                    </a:p>
                  </a:txBody>
                  <a:tcPr>
                    <a:solidFill>
                      <a:srgbClr val="1A56A8"/>
                    </a:solidFill>
                  </a:tcPr>
                </a:tc>
                <a:tc>
                  <a:txBody>
                    <a:bodyPr wrap="square"/>
                    <a:lstStyle/>
                    <a:p>
                      <a:r>
                        <a:rPr sz="1000" b="1">
                          <a:solidFill>
                            <a:srgbClr val="FFFFFF"/>
                          </a:solidFill>
                        </a:rPr>
                        <a:t>默认</a:t>
                      </a:r>
                      <a:endParaRPr sz="1000" b="1">
                        <a:solidFill>
                          <a:srgbClr val="FFFFFF"/>
                        </a:solidFill>
                      </a:endParaRPr>
                    </a:p>
                  </a:txBody>
                  <a:tcPr>
                    <a:solidFill>
                      <a:srgbClr val="1A56A8"/>
                    </a:solidFill>
                  </a:tcPr>
                </a:tc>
                <a:tc>
                  <a:txBody>
                    <a:bodyPr wrap="square"/>
                    <a:lstStyle/>
                    <a:p>
                      <a:r>
                        <a:rPr sz="1000" b="1">
                          <a:solidFill>
                            <a:srgbClr val="FFFFFF"/>
                          </a:solidFill>
                        </a:rPr>
                        <a:t>战士(0,2)</a:t>
                      </a:r>
                      <a:endParaRPr sz="1000" b="1">
                        <a:solidFill>
                          <a:srgbClr val="FFFFFF"/>
                        </a:solidFill>
                      </a:endParaRPr>
                    </a:p>
                  </a:txBody>
                  <a:tcPr>
                    <a:solidFill>
                      <a:srgbClr val="1A56A8"/>
                    </a:solidFill>
                  </a:tcPr>
                </a:tc>
                <a:tc>
                  <a:txBody>
                    <a:bodyPr wrap="square"/>
                    <a:lstStyle/>
                    <a:p>
                      <a:r>
                        <a:rPr sz="1000" b="1">
                          <a:solidFill>
                            <a:srgbClr val="FFFFFF"/>
                          </a:solidFill>
                        </a:rPr>
                        <a:t>采集(1)</a:t>
                      </a:r>
                      <a:endParaRPr sz="1000" b="1">
                        <a:solidFill>
                          <a:srgbClr val="FFFFFF"/>
                        </a:solidFill>
                      </a:endParaRPr>
                    </a:p>
                  </a:txBody>
                  <a:tcPr>
                    <a:solidFill>
                      <a:srgbClr val="1A56A8"/>
                    </a:solidFill>
                  </a:tcPr>
                </a:tc>
                <a:tc>
                  <a:txBody>
                    <a:bodyPr wrap="square"/>
                    <a:lstStyle/>
                    <a:p>
                      <a:r>
                        <a:rPr sz="1000" b="1">
                          <a:solidFill>
                            <a:srgbClr val="FFFFFF"/>
                          </a:solidFill>
                        </a:rPr>
                        <a:t>均衡(3)</a:t>
                      </a:r>
                      <a:endParaRPr sz="1000" b="1">
                        <a:solidFill>
                          <a:srgbClr val="FFFFFF"/>
                        </a:solidFill>
                      </a:endParaRPr>
                    </a:p>
                  </a:txBody>
                  <a:tcPr>
                    <a:solidFill>
                      <a:srgbClr val="1A56A8"/>
                    </a:solidFill>
                  </a:tcPr>
                </a:tc>
              </a:tr>
              <a:tr h="345440">
                <a:tc>
                  <a:txBody>
                    <a:bodyPr wrap="square"/>
                    <a:lstStyle/>
                    <a:p>
                      <a:r>
                        <a:rPr sz="1000">
                          <a:solidFill>
                            <a:srgbClr val="2D2D2D"/>
                          </a:solidFill>
                        </a:rPr>
                        <a:t>拾取 A 球</a:t>
                      </a:r>
                      <a:endParaRPr sz="1000">
                        <a:solidFill>
                          <a:srgbClr val="2D2D2D"/>
                        </a:solidFill>
                      </a:endParaRPr>
                    </a:p>
                  </a:txBody>
                  <a:tcPr/>
                </a:tc>
                <a:tc>
                  <a:txBody>
                    <a:bodyPr wrap="square"/>
                    <a:lstStyle/>
                    <a:p>
                      <a:r>
                        <a:rPr sz="1000">
                          <a:solidFill>
                            <a:srgbClr val="2D2D2D"/>
                          </a:solidFill>
                        </a:rPr>
                        <a:t>10</a:t>
                      </a:r>
                      <a:endParaRPr sz="1000">
                        <a:solidFill>
                          <a:srgbClr val="2D2D2D"/>
                        </a:solidFill>
                      </a:endParaRPr>
                    </a:p>
                  </a:txBody>
                  <a:tcPr/>
                </a:tc>
                <a:tc>
                  <a:txBody>
                    <a:bodyPr wrap="square"/>
                    <a:lstStyle/>
                    <a:p>
                      <a:r>
                        <a:rPr sz="1000">
                          <a:solidFill>
                            <a:srgbClr val="2D2D2D"/>
                          </a:solidFill>
                        </a:rPr>
                        <a:t>6</a:t>
                      </a:r>
                      <a:endParaRPr sz="1000">
                        <a:solidFill>
                          <a:srgbClr val="2D2D2D"/>
                        </a:solidFill>
                      </a:endParaRPr>
                    </a:p>
                  </a:txBody>
                  <a:tcPr/>
                </a:tc>
                <a:tc>
                  <a:txBody>
                    <a:bodyPr wrap="square"/>
                    <a:lstStyle/>
                    <a:p>
                      <a:r>
                        <a:rPr sz="1000">
                          <a:solidFill>
                            <a:srgbClr val="2D2D2D"/>
                          </a:solidFill>
                        </a:rPr>
                        <a:t>12</a:t>
                      </a:r>
                      <a:endParaRPr sz="1000">
                        <a:solidFill>
                          <a:srgbClr val="2D2D2D"/>
                        </a:solidFill>
                      </a:endParaRPr>
                    </a:p>
                  </a:txBody>
                  <a:tcPr/>
                </a:tc>
                <a:tc>
                  <a:txBody>
                    <a:bodyPr wrap="square"/>
                    <a:lstStyle/>
                    <a:p>
                      <a:r>
                        <a:rPr sz="1000">
                          <a:solidFill>
                            <a:srgbClr val="2D2D2D"/>
                          </a:solidFill>
                        </a:rPr>
                        <a:t>6</a:t>
                      </a:r>
                      <a:endParaRPr sz="1000">
                        <a:solidFill>
                          <a:srgbClr val="2D2D2D"/>
                        </a:solidFill>
                      </a:endParaRPr>
                    </a:p>
                  </a:txBody>
                  <a:tcPr/>
                </a:tc>
              </a:tr>
              <a:tr h="345440">
                <a:tc>
                  <a:txBody>
                    <a:bodyPr wrap="square"/>
                    <a:lstStyle/>
                    <a:p>
                      <a:r>
                        <a:rPr sz="1000">
                          <a:solidFill>
                            <a:srgbClr val="2D2D2D"/>
                          </a:solidFill>
                        </a:rPr>
                        <a:t>拾取 B 球</a:t>
                      </a:r>
                      <a:endParaRPr sz="1000">
                        <a:solidFill>
                          <a:srgbClr val="2D2D2D"/>
                        </a:solidFill>
                      </a:endParaRPr>
                    </a:p>
                  </a:txBody>
                  <a:tcPr/>
                </a:tc>
                <a:tc>
                  <a:txBody>
                    <a:bodyPr wrap="square"/>
                    <a:lstStyle/>
                    <a:p>
                      <a:r>
                        <a:rPr sz="1000">
                          <a:solidFill>
                            <a:srgbClr val="2D2D2D"/>
                          </a:solidFill>
                        </a:rPr>
                        <a:t>15</a:t>
                      </a:r>
                      <a:endParaRPr sz="1000">
                        <a:solidFill>
                          <a:srgbClr val="2D2D2D"/>
                        </a:solidFill>
                      </a:endParaRPr>
                    </a:p>
                  </a:txBody>
                  <a:tcPr/>
                </a:tc>
                <a:tc>
                  <a:txBody>
                    <a:bodyPr wrap="square"/>
                    <a:lstStyle/>
                    <a:p>
                      <a:r>
                        <a:rPr sz="1000">
                          <a:solidFill>
                            <a:srgbClr val="2D2D2D"/>
                          </a:solidFill>
                        </a:rPr>
                        <a:t>3</a:t>
                      </a:r>
                      <a:endParaRPr sz="1000">
                        <a:solidFill>
                          <a:srgbClr val="2D2D2D"/>
                        </a:solidFill>
                      </a:endParaRPr>
                    </a:p>
                  </a:txBody>
                  <a:tcPr/>
                </a:tc>
                <a:tc>
                  <a:txBody>
                    <a:bodyPr wrap="square"/>
                    <a:lstStyle/>
                    <a:p>
                      <a:r>
                        <a:rPr sz="1000">
                          <a:solidFill>
                            <a:srgbClr val="2D2D2D"/>
                          </a:solidFill>
                        </a:rPr>
                        <a:t>10</a:t>
                      </a:r>
                      <a:endParaRPr sz="1000">
                        <a:solidFill>
                          <a:srgbClr val="2D2D2D"/>
                        </a:solidFill>
                      </a:endParaRPr>
                    </a:p>
                  </a:txBody>
                  <a:tcPr/>
                </a:tc>
                <a:tc>
                  <a:txBody>
                    <a:bodyPr wrap="square"/>
                    <a:lstStyle/>
                    <a:p>
                      <a:r>
                        <a:rPr sz="1000">
                          <a:solidFill>
                            <a:srgbClr val="2D2D2D"/>
                          </a:solidFill>
                        </a:rPr>
                        <a:t>4</a:t>
                      </a:r>
                      <a:endParaRPr sz="1000">
                        <a:solidFill>
                          <a:srgbClr val="2D2D2D"/>
                        </a:solidFill>
                      </a:endParaRPr>
                    </a:p>
                  </a:txBody>
                  <a:tcPr/>
                </a:tc>
              </a:tr>
              <a:tr h="345440">
                <a:tc>
                  <a:txBody>
                    <a:bodyPr wrap="square"/>
                    <a:lstStyle/>
                    <a:p>
                      <a:r>
                        <a:rPr sz="1000">
                          <a:solidFill>
                            <a:srgbClr val="2D2D2D"/>
                          </a:solidFill>
                        </a:rPr>
                        <a:t>对敌伤害</a:t>
                      </a:r>
                      <a:endParaRPr sz="1000">
                        <a:solidFill>
                          <a:srgbClr val="2D2D2D"/>
                        </a:solidFill>
                      </a:endParaRPr>
                    </a:p>
                  </a:txBody>
                  <a:tcPr/>
                </a:tc>
                <a:tc>
                  <a:txBody>
                    <a:bodyPr wrap="square"/>
                    <a:lstStyle/>
                    <a:p>
                      <a:r>
                        <a:rPr sz="1000">
                          <a:solidFill>
                            <a:srgbClr val="2D2D2D"/>
                          </a:solidFill>
                        </a:rPr>
                        <a:t>10</a:t>
                      </a:r>
                      <a:endParaRPr sz="1000">
                        <a:solidFill>
                          <a:srgbClr val="2D2D2D"/>
                        </a:solidFill>
                      </a:endParaRPr>
                    </a:p>
                  </a:txBody>
                  <a:tcPr/>
                </a:tc>
                <a:tc>
                  <a:txBody>
                    <a:bodyPr wrap="square"/>
                    <a:lstStyle/>
                    <a:p>
                      <a:r>
                        <a:rPr sz="1000">
                          <a:solidFill>
                            <a:srgbClr val="2D2D2D"/>
                          </a:solidFill>
                        </a:rPr>
                        <a:t>8</a:t>
                      </a:r>
                      <a:endParaRPr sz="1000">
                        <a:solidFill>
                          <a:srgbClr val="2D2D2D"/>
                        </a:solidFill>
                      </a:endParaRPr>
                    </a:p>
                  </a:txBody>
                  <a:tcPr/>
                </a:tc>
                <a:tc>
                  <a:txBody>
                    <a:bodyPr wrap="square"/>
                    <a:lstStyle/>
                    <a:p>
                      <a:r>
                        <a:rPr sz="1000">
                          <a:solidFill>
                            <a:srgbClr val="2D2D2D"/>
                          </a:solidFill>
                        </a:rPr>
                        <a:t>3</a:t>
                      </a:r>
                      <a:endParaRPr sz="1000">
                        <a:solidFill>
                          <a:srgbClr val="2D2D2D"/>
                        </a:solidFill>
                      </a:endParaRPr>
                    </a:p>
                  </a:txBody>
                  <a:tcPr/>
                </a:tc>
                <a:tc>
                  <a:txBody>
                    <a:bodyPr wrap="square"/>
                    <a:lstStyle/>
                    <a:p>
                      <a:r>
                        <a:rPr sz="1000">
                          <a:solidFill>
                            <a:srgbClr val="2D2D2D"/>
                          </a:solidFill>
                        </a:rPr>
                        <a:t>4.05</a:t>
                      </a:r>
                      <a:endParaRPr sz="1000">
                        <a:solidFill>
                          <a:srgbClr val="2D2D2D"/>
                        </a:solidFill>
                      </a:endParaRPr>
                    </a:p>
                  </a:txBody>
                  <a:tcPr/>
                </a:tc>
              </a:tr>
              <a:tr h="345440">
                <a:tc>
                  <a:txBody>
                    <a:bodyPr wrap="square"/>
                    <a:lstStyle/>
                    <a:p>
                      <a:r>
                        <a:rPr sz="1000">
                          <a:solidFill>
                            <a:srgbClr val="2D2D2D"/>
                          </a:solidFill>
                        </a:rPr>
                        <a:t>对玩家伤害</a:t>
                      </a:r>
                      <a:endParaRPr sz="1000">
                        <a:solidFill>
                          <a:srgbClr val="2D2D2D"/>
                        </a:solidFill>
                      </a:endParaRPr>
                    </a:p>
                  </a:txBody>
                  <a:tcPr/>
                </a:tc>
                <a:tc>
                  <a:txBody>
                    <a:bodyPr wrap="square"/>
                    <a:lstStyle/>
                    <a:p>
                      <a:r>
                        <a:rPr sz="1000">
                          <a:solidFill>
                            <a:srgbClr val="2D2D2D"/>
                          </a:solidFill>
                        </a:rPr>
                        <a:t>15</a:t>
                      </a:r>
                      <a:endParaRPr sz="1000">
                        <a:solidFill>
                          <a:srgbClr val="2D2D2D"/>
                        </a:solidFill>
                      </a:endParaRPr>
                    </a:p>
                  </a:txBody>
                  <a:tcPr/>
                </a:tc>
                <a:tc>
                  <a:txBody>
                    <a:bodyPr wrap="square"/>
                    <a:lstStyle/>
                    <a:p>
                      <a:r>
                        <a:rPr sz="1000">
                          <a:solidFill>
                            <a:srgbClr val="2D2D2D"/>
                          </a:solidFill>
                        </a:rPr>
                        <a:t>10</a:t>
                      </a:r>
                      <a:endParaRPr sz="1000">
                        <a:solidFill>
                          <a:srgbClr val="2D2D2D"/>
                        </a:solidFill>
                      </a:endParaRPr>
                    </a:p>
                  </a:txBody>
                  <a:tcPr/>
                </a:tc>
                <a:tc>
                  <a:txBody>
                    <a:bodyPr wrap="square"/>
                    <a:lstStyle/>
                    <a:p>
                      <a:r>
                        <a:rPr sz="1000">
                          <a:solidFill>
                            <a:srgbClr val="2D2D2D"/>
                          </a:solidFill>
                        </a:rPr>
                        <a:t>4</a:t>
                      </a:r>
                      <a:endParaRPr sz="1000">
                        <a:solidFill>
                          <a:srgbClr val="2D2D2D"/>
                        </a:solidFill>
                      </a:endParaRPr>
                    </a:p>
                  </a:txBody>
                  <a:tcPr/>
                </a:tc>
                <a:tc>
                  <a:txBody>
                    <a:bodyPr wrap="square"/>
                    <a:lstStyle/>
                    <a:p>
                      <a:r>
                        <a:rPr sz="1000">
                          <a:solidFill>
                            <a:srgbClr val="2D2D2D"/>
                          </a:solidFill>
                        </a:rPr>
                        <a:t>6.05</a:t>
                      </a:r>
                      <a:endParaRPr sz="1000">
                        <a:solidFill>
                          <a:srgbClr val="2D2D2D"/>
                        </a:solidFill>
                      </a:endParaRPr>
                    </a:p>
                  </a:txBody>
                  <a:tcPr/>
                </a:tc>
              </a:tr>
              <a:tr h="345440">
                <a:tc>
                  <a:txBody>
                    <a:bodyPr wrap="square"/>
                    <a:lstStyle/>
                    <a:p>
                      <a:r>
                        <a:rPr sz="1000">
                          <a:solidFill>
                            <a:srgbClr val="2D2D2D"/>
                          </a:solidFill>
                        </a:rPr>
                        <a:t>击杀敌人</a:t>
                      </a:r>
                      <a:endParaRPr sz="1000">
                        <a:solidFill>
                          <a:srgbClr val="2D2D2D"/>
                        </a:solidFill>
                      </a:endParaRPr>
                    </a:p>
                  </a:txBody>
                  <a:tcPr/>
                </a:tc>
                <a:tc>
                  <a:txBody>
                    <a:bodyPr wrap="square"/>
                    <a:lstStyle/>
                    <a:p>
                      <a:r>
                        <a:rPr sz="1000">
                          <a:solidFill>
                            <a:srgbClr val="2D2D2D"/>
                          </a:solidFill>
                        </a:rPr>
                        <a:t>30</a:t>
                      </a:r>
                      <a:endParaRPr sz="1000">
                        <a:solidFill>
                          <a:srgbClr val="2D2D2D"/>
                        </a:solidFill>
                      </a:endParaRPr>
                    </a:p>
                  </a:txBody>
                  <a:tcPr/>
                </a:tc>
                <a:tc>
                  <a:txBody>
                    <a:bodyPr wrap="square"/>
                    <a:lstStyle/>
                    <a:p>
                      <a:r>
                        <a:rPr sz="1000">
                          <a:solidFill>
                            <a:srgbClr val="2D2D2D"/>
                          </a:solidFill>
                        </a:rPr>
                        <a:t>16</a:t>
                      </a:r>
                      <a:endParaRPr sz="1000">
                        <a:solidFill>
                          <a:srgbClr val="2D2D2D"/>
                        </a:solidFill>
                      </a:endParaRPr>
                    </a:p>
                  </a:txBody>
                  <a:tcPr/>
                </a:tc>
                <a:tc>
                  <a:txBody>
                    <a:bodyPr wrap="square"/>
                    <a:lstStyle/>
                    <a:p>
                      <a:r>
                        <a:rPr sz="1000">
                          <a:solidFill>
                            <a:srgbClr val="2D2D2D"/>
                          </a:solidFill>
                        </a:rPr>
                        <a:t>6</a:t>
                      </a:r>
                      <a:endParaRPr sz="1000">
                        <a:solidFill>
                          <a:srgbClr val="2D2D2D"/>
                        </a:solidFill>
                      </a:endParaRPr>
                    </a:p>
                  </a:txBody>
                  <a:tcPr/>
                </a:tc>
                <a:tc>
                  <a:txBody>
                    <a:bodyPr wrap="square"/>
                    <a:lstStyle/>
                    <a:p>
                      <a:r>
                        <a:rPr sz="1000">
                          <a:solidFill>
                            <a:srgbClr val="2D2D2D"/>
                          </a:solidFill>
                        </a:rPr>
                        <a:t>8</a:t>
                      </a:r>
                      <a:endParaRPr sz="1000">
                        <a:solidFill>
                          <a:srgbClr val="2D2D2D"/>
                        </a:solidFill>
                      </a:endParaRPr>
                    </a:p>
                  </a:txBody>
                  <a:tcPr/>
                </a:tc>
              </a:tr>
              <a:tr h="345440">
                <a:tc>
                  <a:txBody>
                    <a:bodyPr wrap="square"/>
                    <a:lstStyle/>
                    <a:p>
                      <a:r>
                        <a:rPr sz="1000">
                          <a:solidFill>
                            <a:srgbClr val="2D2D2D"/>
                          </a:solidFill>
                        </a:rPr>
                        <a:t>击杀玩家</a:t>
                      </a:r>
                      <a:endParaRPr sz="1000">
                        <a:solidFill>
                          <a:srgbClr val="2D2D2D"/>
                        </a:solidFill>
                      </a:endParaRPr>
                    </a:p>
                  </a:txBody>
                  <a:tcPr/>
                </a:tc>
                <a:tc>
                  <a:txBody>
                    <a:bodyPr wrap="square"/>
                    <a:lstStyle/>
                    <a:p>
                      <a:r>
                        <a:rPr sz="1000">
                          <a:solidFill>
                            <a:srgbClr val="2D2D2D"/>
                          </a:solidFill>
                        </a:rPr>
                        <a:t>45</a:t>
                      </a:r>
                      <a:endParaRPr sz="1000">
                        <a:solidFill>
                          <a:srgbClr val="2D2D2D"/>
                        </a:solidFill>
                      </a:endParaRPr>
                    </a:p>
                  </a:txBody>
                  <a:tcPr/>
                </a:tc>
                <a:tc>
                  <a:txBody>
                    <a:bodyPr wrap="square"/>
                    <a:lstStyle/>
                    <a:p>
                      <a:r>
                        <a:rPr sz="1000">
                          <a:solidFill>
                            <a:srgbClr val="2D2D2D"/>
                          </a:solidFill>
                        </a:rPr>
                        <a:t>20</a:t>
                      </a:r>
                      <a:endParaRPr sz="1000">
                        <a:solidFill>
                          <a:srgbClr val="2D2D2D"/>
                        </a:solidFill>
                      </a:endParaRPr>
                    </a:p>
                  </a:txBody>
                  <a:tcPr/>
                </a:tc>
                <a:tc>
                  <a:txBody>
                    <a:bodyPr wrap="square"/>
                    <a:lstStyle/>
                    <a:p>
                      <a:r>
                        <a:rPr sz="1000">
                          <a:solidFill>
                            <a:srgbClr val="2D2D2D"/>
                          </a:solidFill>
                        </a:rPr>
                        <a:t>8</a:t>
                      </a:r>
                      <a:endParaRPr sz="1000">
                        <a:solidFill>
                          <a:srgbClr val="2D2D2D"/>
                        </a:solidFill>
                      </a:endParaRPr>
                    </a:p>
                  </a:txBody>
                  <a:tcPr/>
                </a:tc>
                <a:tc>
                  <a:txBody>
                    <a:bodyPr wrap="square"/>
                    <a:lstStyle/>
                    <a:p>
                      <a:r>
                        <a:rPr sz="1000">
                          <a:solidFill>
                            <a:srgbClr val="2D2D2D"/>
                          </a:solidFill>
                        </a:rPr>
                        <a:t>12</a:t>
                      </a:r>
                      <a:endParaRPr sz="1000">
                        <a:solidFill>
                          <a:srgbClr val="2D2D2D"/>
                        </a:solidFill>
                      </a:endParaRPr>
                    </a:p>
                  </a:txBody>
                  <a:tcPr/>
                </a:tc>
              </a:tr>
              <a:tr h="345440">
                <a:tc>
                  <a:txBody>
                    <a:bodyPr wrap="square"/>
                    <a:lstStyle/>
                    <a:p>
                      <a:r>
                        <a:rPr sz="1000">
                          <a:solidFill>
                            <a:srgbClr val="2D2D2D"/>
                          </a:solidFill>
                        </a:rPr>
                        <a:t>死亡</a:t>
                      </a:r>
                      <a:endParaRPr sz="1000">
                        <a:solidFill>
                          <a:srgbClr val="2D2D2D"/>
                        </a:solidFill>
                      </a:endParaRPr>
                    </a:p>
                  </a:txBody>
                  <a:tcPr/>
                </a:tc>
                <a:tc>
                  <a:txBody>
                    <a:bodyPr wrap="square"/>
                    <a:lstStyle/>
                    <a:p>
                      <a:r>
                        <a:rPr sz="1000">
                          <a:solidFill>
                            <a:srgbClr val="2D2D2D"/>
                          </a:solidFill>
                        </a:rPr>
                        <a:t>-15</a:t>
                      </a:r>
                      <a:endParaRPr sz="1000">
                        <a:solidFill>
                          <a:srgbClr val="2D2D2D"/>
                        </a:solidFill>
                      </a:endParaRPr>
                    </a:p>
                  </a:txBody>
                  <a:tcPr/>
                </a:tc>
                <a:tc>
                  <a:txBody>
                    <a:bodyPr wrap="square"/>
                    <a:lstStyle/>
                    <a:p>
                      <a:r>
                        <a:rPr sz="1000">
                          <a:solidFill>
                            <a:srgbClr val="2D2D2D"/>
                          </a:solidFill>
                        </a:rPr>
                        <a:t>-10</a:t>
                      </a:r>
                      <a:endParaRPr sz="1000">
                        <a:solidFill>
                          <a:srgbClr val="2D2D2D"/>
                        </a:solidFill>
                      </a:endParaRPr>
                    </a:p>
                  </a:txBody>
                  <a:tcPr/>
                </a:tc>
                <a:tc>
                  <a:txBody>
                    <a:bodyPr wrap="square"/>
                    <a:lstStyle/>
                    <a:p>
                      <a:r>
                        <a:rPr sz="1000">
                          <a:solidFill>
                            <a:srgbClr val="2D2D2D"/>
                          </a:solidFill>
                        </a:rPr>
                        <a:t>-20</a:t>
                      </a:r>
                      <a:endParaRPr sz="1000">
                        <a:solidFill>
                          <a:srgbClr val="2D2D2D"/>
                        </a:solidFill>
                      </a:endParaRPr>
                    </a:p>
                  </a:txBody>
                  <a:tcPr/>
                </a:tc>
                <a:tc>
                  <a:txBody>
                    <a:bodyPr wrap="square"/>
                    <a:lstStyle/>
                    <a:p>
                      <a:r>
                        <a:rPr sz="1000">
                          <a:solidFill>
                            <a:srgbClr val="2D2D2D"/>
                          </a:solidFill>
                        </a:rPr>
                        <a:t>-15</a:t>
                      </a:r>
                      <a:endParaRPr sz="1000">
                        <a:solidFill>
                          <a:srgbClr val="2D2D2D"/>
                        </a:solidFill>
                      </a:endParaRPr>
                    </a:p>
                  </a:txBody>
                  <a:tcPr/>
                </a:tc>
              </a:tr>
              <a:tr h="345440">
                <a:tc>
                  <a:txBody>
                    <a:bodyPr wrap="square"/>
                    <a:lstStyle/>
                    <a:p>
                      <a:r>
                        <a:rPr sz="1000">
                          <a:solidFill>
                            <a:srgbClr val="2D2D2D"/>
                          </a:solidFill>
                        </a:rPr>
                        <a:t>撞墙</a:t>
                      </a:r>
                      <a:endParaRPr sz="1000">
                        <a:solidFill>
                          <a:srgbClr val="2D2D2D"/>
                        </a:solidFill>
                      </a:endParaRPr>
                    </a:p>
                  </a:txBody>
                  <a:tcPr/>
                </a:tc>
                <a:tc>
                  <a:txBody>
                    <a:bodyPr wrap="square"/>
                    <a:lstStyle/>
                    <a:p>
                      <a:r>
                        <a:rPr sz="1000">
                          <a:solidFill>
                            <a:srgbClr val="2D2D2D"/>
                          </a:solidFill>
                        </a:rPr>
                        <a:t>-0.5</a:t>
                      </a:r>
                      <a:endParaRPr sz="1000">
                        <a:solidFill>
                          <a:srgbClr val="2D2D2D"/>
                        </a:solidFill>
                      </a:endParaRPr>
                    </a:p>
                  </a:txBody>
                  <a:tcPr/>
                </a:tc>
                <a:tc>
                  <a:txBody>
                    <a:bodyPr wrap="square"/>
                    <a:lstStyle/>
                    <a:p>
                      <a:r>
                        <a:rPr sz="1000">
                          <a:solidFill>
                            <a:srgbClr val="2D2D2D"/>
                          </a:solidFill>
                        </a:rPr>
                        <a:t>-0.5</a:t>
                      </a:r>
                      <a:endParaRPr sz="1000">
                        <a:solidFill>
                          <a:srgbClr val="2D2D2D"/>
                        </a:solidFill>
                      </a:endParaRPr>
                    </a:p>
                  </a:txBody>
                  <a:tcPr/>
                </a:tc>
                <a:tc>
                  <a:txBody>
                    <a:bodyPr wrap="square"/>
                    <a:lstStyle/>
                    <a:p>
                      <a:r>
                        <a:rPr sz="1000">
                          <a:solidFill>
                            <a:srgbClr val="2D2D2D"/>
                          </a:solidFill>
                        </a:rPr>
                        <a:t>-0.5</a:t>
                      </a:r>
                      <a:endParaRPr sz="1000">
                        <a:solidFill>
                          <a:srgbClr val="2D2D2D"/>
                        </a:solidFill>
                      </a:endParaRPr>
                    </a:p>
                  </a:txBody>
                  <a:tcPr/>
                </a:tc>
                <a:tc>
                  <a:txBody>
                    <a:bodyPr wrap="square"/>
                    <a:lstStyle/>
                    <a:p>
                      <a:r>
                        <a:rPr sz="1000">
                          <a:solidFill>
                            <a:srgbClr val="2D2D2D"/>
                          </a:solidFill>
                        </a:rPr>
                        <a:t>-0.5</a:t>
                      </a:r>
                      <a:endParaRPr sz="1000">
                        <a:solidFill>
                          <a:srgbClr val="2D2D2D"/>
                        </a:solidFill>
                      </a:endParaRPr>
                    </a:p>
                  </a:txBody>
                  <a:tcPr/>
                </a:tc>
              </a:tr>
            </a:tbl>
          </a:graphicData>
        </a:graphic>
      </p:graphicFrame>
      <p:sp>
        <p:nvSpPr>
          <p:cNvPr id="9" name="Rounded Rectangle 8"/>
          <p:cNvSpPr/>
          <p:nvPr/>
        </p:nvSpPr>
        <p:spPr>
          <a:xfrm>
            <a:off x="6583680" y="1078992"/>
            <a:ext cx="4846320" cy="210312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1170432"/>
            <a:ext cx="4389120" cy="274320"/>
          </a:xfrm>
          <a:prstGeom prst="rect">
            <a:avLst/>
          </a:prstGeom>
          <a:noFill/>
        </p:spPr>
        <p:txBody>
          <a:bodyPr wrap="square"/>
          <a:lstStyle/>
          <a:p>
            <a:pPr algn="l"/>
            <a:r>
              <a:rPr sz="1300" b="1">
                <a:solidFill>
                  <a:srgbClr val="1A56A8"/>
                </a:solidFill>
              </a:rPr>
              <a:t>奖励球势能塑形 (PBRS)</a:t>
            </a:r>
            <a:endParaRPr sz="1300" b="1">
              <a:solidFill>
                <a:srgbClr val="1A56A8"/>
              </a:solidFill>
            </a:endParaRPr>
          </a:p>
        </p:txBody>
      </p:sp>
      <p:sp>
        <p:nvSpPr>
          <p:cNvPr id="11" name="TextBox 10"/>
          <p:cNvSpPr txBox="1"/>
          <p:nvPr/>
        </p:nvSpPr>
        <p:spPr>
          <a:xfrm>
            <a:off x="6766560" y="1517904"/>
            <a:ext cx="4389120" cy="274320"/>
          </a:xfrm>
          <a:prstGeom prst="rect">
            <a:avLst/>
          </a:prstGeom>
          <a:noFill/>
        </p:spPr>
        <p:txBody>
          <a:bodyPr wrap="square"/>
          <a:lstStyle/>
          <a:p>
            <a:pPr algn="ctr"/>
            <a:r>
              <a:rPr sz="1500" b="1">
                <a:solidFill>
                  <a:srgbClr val="2D2D2D"/>
                </a:solidFill>
              </a:rPr>
              <a:t>F(s,a,s') = γΦ(s') − Φ(s)</a:t>
            </a:r>
            <a:endParaRPr sz="1500" b="1">
              <a:solidFill>
                <a:srgbClr val="2D2D2D"/>
              </a:solidFill>
            </a:endParaRPr>
          </a:p>
        </p:txBody>
      </p:sp>
      <p:sp>
        <p:nvSpPr>
          <p:cNvPr id="12" name="TextBox 11"/>
          <p:cNvSpPr txBox="1"/>
          <p:nvPr/>
        </p:nvSpPr>
        <p:spPr>
          <a:xfrm>
            <a:off x="6766560" y="1901952"/>
            <a:ext cx="4389120" cy="1371600"/>
          </a:xfrm>
          <a:prstGeom prst="rect">
            <a:avLst/>
          </a:prstGeom>
          <a:noFill/>
        </p:spPr>
        <p:txBody>
          <a:bodyPr wrap="square"/>
          <a:lstStyle/>
          <a:p>
            <a:pPr algn="l">
              <a:lnSpc>
                <a:spcPts val="1500"/>
              </a:lnSpc>
              <a:spcAft>
                <a:spcPts val="200"/>
              </a:spcAft>
            </a:pPr>
            <a:r>
              <a:rPr sz="1100" b="0">
                <a:solidFill>
                  <a:srgbClr val="2D2D2D"/>
                </a:solidFill>
              </a:rPr>
              <a:t>  线性势函数 Φ = −(R/r)·d + R</a:t>
            </a:r>
            <a:endParaRPr sz="1100" b="0">
              <a:solidFill>
                <a:srgbClr val="2D2D2D"/>
              </a:solidFill>
            </a:endParaRPr>
          </a:p>
          <a:p>
            <a:pPr algn="l">
              <a:lnSpc>
                <a:spcPts val="1500"/>
              </a:lnSpc>
              <a:spcAft>
                <a:spcPts val="200"/>
              </a:spcAft>
            </a:pPr>
            <a:r>
              <a:rPr sz="1100" b="0">
                <a:solidFill>
                  <a:srgbClr val="2D2D2D"/>
                </a:solidFill>
              </a:rPr>
              <a:t>  指数势函数 Φ = R·exp(−d/r)</a:t>
            </a:r>
            <a:endParaRPr sz="1100" b="0">
              <a:solidFill>
                <a:srgbClr val="2D2D2D"/>
              </a:solidFill>
            </a:endParaRPr>
          </a:p>
          <a:p>
            <a:pPr algn="l">
              <a:lnSpc>
                <a:spcPts val="1500"/>
              </a:lnSpc>
              <a:spcAft>
                <a:spcPts val="200"/>
              </a:spcAft>
            </a:pPr>
            <a:r>
              <a:rPr sz="1100" b="0">
                <a:solidFill>
                  <a:srgbClr val="2D2D2D"/>
                </a:solidFill>
              </a:rPr>
              <a:t>  反比例势函数 Φ = R·r/(d+r)</a:t>
            </a:r>
            <a:endParaRPr sz="1100" b="0">
              <a:solidFill>
                <a:srgbClr val="2D2D2D"/>
              </a:solidFill>
            </a:endParaRPr>
          </a:p>
          <a:p>
            <a:pPr algn="l">
              <a:lnSpc>
                <a:spcPts val="1500"/>
              </a:lnSpc>
              <a:spcAft>
                <a:spcPts val="200"/>
              </a:spcAft>
            </a:pPr>
            <a:r>
              <a:rPr sz="1100" b="0">
                <a:solidFill>
                  <a:srgbClr val="2D2D2D"/>
                </a:solidFill>
              </a:rPr>
              <a:t>  最终选择：线性势函数 + 最近球模式</a:t>
            </a:r>
            <a:endParaRPr sz="1100" b="0">
              <a:solidFill>
                <a:srgbClr val="2D2D2D"/>
              </a:solidFill>
            </a:endParaRPr>
          </a:p>
        </p:txBody>
      </p:sp>
      <p:sp>
        <p:nvSpPr>
          <p:cNvPr id="13" name="Rounded Rectangle 12"/>
          <p:cNvSpPr/>
          <p:nvPr/>
        </p:nvSpPr>
        <p:spPr>
          <a:xfrm>
            <a:off x="6583680" y="3456432"/>
            <a:ext cx="4846320" cy="109728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3547872"/>
            <a:ext cx="4389120" cy="274320"/>
          </a:xfrm>
          <a:prstGeom prst="rect">
            <a:avLst/>
          </a:prstGeom>
          <a:noFill/>
        </p:spPr>
        <p:txBody>
          <a:bodyPr wrap="square"/>
          <a:lstStyle/>
          <a:p>
            <a:pPr algn="l"/>
            <a:r>
              <a:rPr sz="1200" b="1">
                <a:solidFill>
                  <a:srgbClr val="1A56A8"/>
                </a:solidFill>
              </a:rPr>
              <a:t>奖励归一化</a:t>
            </a:r>
            <a:endParaRPr sz="1200" b="1">
              <a:solidFill>
                <a:srgbClr val="1A56A8"/>
              </a:solidFill>
            </a:endParaRPr>
          </a:p>
        </p:txBody>
      </p:sp>
      <p:sp>
        <p:nvSpPr>
          <p:cNvPr id="15" name="TextBox 14"/>
          <p:cNvSpPr txBox="1"/>
          <p:nvPr/>
        </p:nvSpPr>
        <p:spPr>
          <a:xfrm>
            <a:off x="6766560" y="3867912"/>
            <a:ext cx="4389120" cy="640080"/>
          </a:xfrm>
          <a:prstGeom prst="rect">
            <a:avLst/>
          </a:prstGeom>
          <a:noFill/>
        </p:spPr>
        <p:txBody>
          <a:bodyPr wrap="square"/>
          <a:lstStyle/>
          <a:p>
            <a:pPr algn="l">
              <a:lnSpc>
                <a:spcPts val="1500"/>
              </a:lnSpc>
              <a:spcAft>
                <a:spcPts val="200"/>
              </a:spcAft>
            </a:pPr>
            <a:r>
              <a:rPr sz="1100" b="0">
                <a:solidFill>
                  <a:srgbClr val="2D2D2D"/>
                </a:solidFill>
              </a:rPr>
              <a:t>  Welford 在线算法维护均值与方差</a:t>
            </a:r>
            <a:endParaRPr sz="1100" b="0">
              <a:solidFill>
                <a:srgbClr val="2D2D2D"/>
              </a:solidFill>
            </a:endParaRPr>
          </a:p>
          <a:p>
            <a:pPr algn="l">
              <a:lnSpc>
                <a:spcPts val="1500"/>
              </a:lnSpc>
              <a:spcAft>
                <a:spcPts val="200"/>
              </a:spcAft>
            </a:pPr>
            <a:r>
              <a:rPr sz="1100" b="0">
                <a:solidFill>
                  <a:srgbClr val="2D2D2D"/>
                </a:solidFill>
              </a:rPr>
              <a:t>  z-score 归一化，稳定价值网络输出在 [-1,1]</a:t>
            </a:r>
            <a:endParaRPr sz="1100" b="0">
              <a:solidFill>
                <a:srgbClr val="2D2D2D"/>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475488"/>
          </a:xfrm>
          <a:prstGeom prst="rect">
            <a:avLst/>
          </a:prstGeom>
          <a:noFill/>
        </p:spPr>
        <p:txBody>
          <a:bodyPr wrap="square"/>
          <a:lstStyle/>
          <a:p>
            <a:pPr algn="l"/>
            <a:r>
              <a:rPr sz="2300" b="1">
                <a:solidFill>
                  <a:srgbClr val="1A56A8"/>
                </a:solidFill>
              </a:rPr>
              <a:t>训练方案对比</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0" y="384048"/>
            <a:ext cx="2926080" cy="475488"/>
          </a:xfrm>
          <a:prstGeom prst="rect">
            <a:avLst/>
          </a:prstGeom>
          <a:noFill/>
        </p:spPr>
        <p:txBody>
          <a:bodyPr wrap="square"/>
          <a:lstStyle/>
          <a:p>
            <a:pPr algn="r"/>
            <a:r>
              <a:rPr sz="1200" b="0">
                <a:solidFill>
                  <a:srgbClr val="6B7B8D"/>
                </a:solidFill>
              </a:rPr>
              <a:t>观测消融 / 奖励塑形 / 多目标引导</a:t>
            </a:r>
            <a:endParaRPr sz="1200" b="0">
              <a:solidFill>
                <a:srgbClr val="6B7B8D"/>
              </a:solidFill>
            </a:endParaRPr>
          </a:p>
        </p:txBody>
      </p:sp>
      <p:sp>
        <p:nvSpPr>
          <p:cNvPr id="7" name="Rounded Rectangle 6"/>
          <p:cNvSpPr/>
          <p:nvPr/>
        </p:nvSpPr>
        <p:spPr>
          <a:xfrm>
            <a:off x="594360" y="1078992"/>
            <a:ext cx="5166360" cy="251460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52144"/>
            <a:ext cx="4663440" cy="256032"/>
          </a:xfrm>
          <a:prstGeom prst="rect">
            <a:avLst/>
          </a:prstGeom>
          <a:noFill/>
        </p:spPr>
        <p:txBody>
          <a:bodyPr wrap="square"/>
          <a:lstStyle/>
          <a:p>
            <a:pPr algn="l"/>
            <a:r>
              <a:rPr sz="1200" b="1">
                <a:solidFill>
                  <a:srgbClr val="1A56A8"/>
                </a:solidFill>
              </a:rPr>
              <a:t>有效掩码消融</a:t>
            </a:r>
            <a:endParaRPr sz="1200" b="1">
              <a:solidFill>
                <a:srgbClr val="1A56A8"/>
              </a:solidFill>
            </a:endParaRPr>
          </a:p>
        </p:txBody>
      </p:sp>
      <p:sp>
        <p:nvSpPr>
          <p:cNvPr id="9" name="TextBox 8"/>
          <p:cNvSpPr txBox="1"/>
          <p:nvPr/>
        </p:nvSpPr>
        <p:spPr>
          <a:xfrm>
            <a:off x="777240" y="1426464"/>
            <a:ext cx="2743200" cy="201168"/>
          </a:xfrm>
          <a:prstGeom prst="rect">
            <a:avLst/>
          </a:prstGeom>
          <a:noFill/>
        </p:spPr>
        <p:txBody>
          <a:bodyPr wrap="square"/>
          <a:lstStyle/>
          <a:p>
            <a:pPr algn="l"/>
            <a:r>
              <a:rPr sz="1000" b="1">
                <a:solidFill>
                  <a:srgbClr val="10B981"/>
                </a:solidFill>
              </a:rPr>
              <a:t>启用后总得分提升 9.9%</a:t>
            </a:r>
            <a:endParaRPr sz="1000" b="1">
              <a:solidFill>
                <a:srgbClr val="10B981"/>
              </a:solidFill>
            </a:endParaRPr>
          </a:p>
        </p:txBody>
      </p:sp>
      <p:pic>
        <p:nvPicPr>
          <p:cNvPr id="10" name="Picture 9" descr="valid_mask_comparison_total_ball_score.png"/>
          <p:cNvPicPr>
            <a:picLocks noChangeAspect="1"/>
          </p:cNvPicPr>
          <p:nvPr/>
        </p:nvPicPr>
        <p:blipFill>
          <a:blip r:embed="rId1"/>
          <a:stretch>
            <a:fillRect/>
          </a:stretch>
        </p:blipFill>
        <p:spPr>
          <a:xfrm>
            <a:off x="777240" y="1673352"/>
            <a:ext cx="2543067" cy="1508760"/>
          </a:xfrm>
          <a:prstGeom prst="rect">
            <a:avLst/>
          </a:prstGeom>
        </p:spPr>
      </p:pic>
      <p:pic>
        <p:nvPicPr>
          <p:cNvPr id="11" name="Picture 10" descr="valid_mask_comparison_player_ball_score.png"/>
          <p:cNvPicPr>
            <a:picLocks noChangeAspect="1"/>
          </p:cNvPicPr>
          <p:nvPr/>
        </p:nvPicPr>
        <p:blipFill>
          <a:blip r:embed="rId2"/>
          <a:stretch>
            <a:fillRect/>
          </a:stretch>
        </p:blipFill>
        <p:spPr>
          <a:xfrm>
            <a:off x="2880360" y="1673352"/>
            <a:ext cx="2062055" cy="1508760"/>
          </a:xfrm>
          <a:prstGeom prst="rect">
            <a:avLst/>
          </a:prstGeom>
        </p:spPr>
      </p:pic>
      <p:sp>
        <p:nvSpPr>
          <p:cNvPr id="12" name="Rounded Rectangle 11"/>
          <p:cNvSpPr/>
          <p:nvPr/>
        </p:nvSpPr>
        <p:spPr>
          <a:xfrm>
            <a:off x="6126480" y="1078992"/>
            <a:ext cx="5166360" cy="251460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152144"/>
            <a:ext cx="4663440" cy="256032"/>
          </a:xfrm>
          <a:prstGeom prst="rect">
            <a:avLst/>
          </a:prstGeom>
          <a:noFill/>
        </p:spPr>
        <p:txBody>
          <a:bodyPr wrap="square"/>
          <a:lstStyle/>
          <a:p>
            <a:pPr algn="l"/>
            <a:r>
              <a:rPr sz="1200" b="1">
                <a:solidFill>
                  <a:srgbClr val="1A56A8"/>
                </a:solidFill>
              </a:rPr>
              <a:t>奖励球塑形方案对比</a:t>
            </a:r>
            <a:endParaRPr sz="1200" b="1">
              <a:solidFill>
                <a:srgbClr val="1A56A8"/>
              </a:solidFill>
            </a:endParaRPr>
          </a:p>
        </p:txBody>
      </p:sp>
      <p:sp>
        <p:nvSpPr>
          <p:cNvPr id="14" name="TextBox 13"/>
          <p:cNvSpPr txBox="1"/>
          <p:nvPr/>
        </p:nvSpPr>
        <p:spPr>
          <a:xfrm>
            <a:off x="6309360" y="1426464"/>
            <a:ext cx="4572000" cy="201168"/>
          </a:xfrm>
          <a:prstGeom prst="rect">
            <a:avLst/>
          </a:prstGeom>
          <a:noFill/>
        </p:spPr>
        <p:txBody>
          <a:bodyPr wrap="square"/>
          <a:lstStyle/>
          <a:p>
            <a:pPr algn="l"/>
            <a:r>
              <a:rPr sz="1000" b="0">
                <a:solidFill>
                  <a:srgbClr val="6B7B8D"/>
                </a:solidFill>
              </a:rPr>
              <a:t>线性/反比例/距离奖励无明显差距，指数居中，稀疏最差</a:t>
            </a:r>
            <a:endParaRPr sz="1000" b="0">
              <a:solidFill>
                <a:srgbClr val="6B7B8D"/>
              </a:solidFill>
            </a:endParaRPr>
          </a:p>
        </p:txBody>
      </p:sp>
      <p:pic>
        <p:nvPicPr>
          <p:cNvPr id="15" name="Picture 14" descr="per_player_comparison-ball.png"/>
          <p:cNvPicPr>
            <a:picLocks noChangeAspect="1"/>
          </p:cNvPicPr>
          <p:nvPr/>
        </p:nvPicPr>
        <p:blipFill>
          <a:blip r:embed="rId3"/>
          <a:stretch>
            <a:fillRect/>
          </a:stretch>
        </p:blipFill>
        <p:spPr>
          <a:xfrm>
            <a:off x="6309360" y="1673352"/>
            <a:ext cx="2042220" cy="1508760"/>
          </a:xfrm>
          <a:prstGeom prst="rect">
            <a:avLst/>
          </a:prstGeom>
        </p:spPr>
      </p:pic>
      <p:pic>
        <p:nvPicPr>
          <p:cNvPr id="16" name="Picture 15" descr="total_comparison-ball.png"/>
          <p:cNvPicPr>
            <a:picLocks noChangeAspect="1"/>
          </p:cNvPicPr>
          <p:nvPr/>
        </p:nvPicPr>
        <p:blipFill>
          <a:blip r:embed="rId4"/>
          <a:stretch>
            <a:fillRect/>
          </a:stretch>
        </p:blipFill>
        <p:spPr>
          <a:xfrm>
            <a:off x="8641080" y="1673352"/>
            <a:ext cx="2801860" cy="1508760"/>
          </a:xfrm>
          <a:prstGeom prst="rect">
            <a:avLst/>
          </a:prstGeom>
        </p:spPr>
      </p:pic>
      <p:sp>
        <p:nvSpPr>
          <p:cNvPr id="17" name="Rounded Rectangle 16"/>
          <p:cNvSpPr/>
          <p:nvPr/>
        </p:nvSpPr>
        <p:spPr>
          <a:xfrm>
            <a:off x="594360" y="3822192"/>
            <a:ext cx="5166360" cy="242316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895344"/>
            <a:ext cx="4663440" cy="256032"/>
          </a:xfrm>
          <a:prstGeom prst="rect">
            <a:avLst/>
          </a:prstGeom>
          <a:noFill/>
        </p:spPr>
        <p:txBody>
          <a:bodyPr wrap="square"/>
          <a:lstStyle/>
          <a:p>
            <a:pPr algn="l"/>
            <a:r>
              <a:rPr sz="1200" b="1">
                <a:solidFill>
                  <a:srgbClr val="1A56A8"/>
                </a:solidFill>
              </a:rPr>
              <a:t>多目标引导：最近球 vs 所有球</a:t>
            </a:r>
            <a:endParaRPr sz="1200" b="1">
              <a:solidFill>
                <a:srgbClr val="1A56A8"/>
              </a:solidFill>
            </a:endParaRPr>
          </a:p>
        </p:txBody>
      </p:sp>
      <p:sp>
        <p:nvSpPr>
          <p:cNvPr id="19" name="TextBox 18"/>
          <p:cNvSpPr txBox="1"/>
          <p:nvPr/>
        </p:nvSpPr>
        <p:spPr>
          <a:xfrm>
            <a:off x="777240" y="4169664"/>
            <a:ext cx="4572000" cy="201168"/>
          </a:xfrm>
          <a:prstGeom prst="rect">
            <a:avLst/>
          </a:prstGeom>
          <a:noFill/>
        </p:spPr>
        <p:txBody>
          <a:bodyPr wrap="square"/>
          <a:lstStyle/>
          <a:p>
            <a:pPr algn="l"/>
            <a:r>
              <a:rPr sz="1000" b="0">
                <a:solidFill>
                  <a:srgbClr val="6B7B8D"/>
                </a:solidFill>
              </a:rPr>
              <a:t>最近球模式训练效率高出 67%，多球势能叠加在球间中点区域形成势能抵消</a:t>
            </a:r>
            <a:endParaRPr sz="1000" b="0">
              <a:solidFill>
                <a:srgbClr val="6B7B8D"/>
              </a:solidFill>
            </a:endParaRPr>
          </a:p>
        </p:txBody>
      </p:sp>
      <p:pic>
        <p:nvPicPr>
          <p:cNvPr id="20" name="Picture 19" descr="nearest_vs_all_player_comparison.png"/>
          <p:cNvPicPr>
            <a:picLocks noChangeAspect="1"/>
          </p:cNvPicPr>
          <p:nvPr/>
        </p:nvPicPr>
        <p:blipFill>
          <a:blip r:embed="rId5"/>
          <a:stretch>
            <a:fillRect/>
          </a:stretch>
        </p:blipFill>
        <p:spPr>
          <a:xfrm>
            <a:off x="1097280" y="4416552"/>
            <a:ext cx="3840480" cy="2986439"/>
          </a:xfrm>
          <a:prstGeom prst="rect">
            <a:avLst/>
          </a:prstGeom>
        </p:spPr>
      </p:pic>
      <p:sp>
        <p:nvSpPr>
          <p:cNvPr id="21" name="Rounded Rectangle 20"/>
          <p:cNvSpPr/>
          <p:nvPr/>
        </p:nvSpPr>
        <p:spPr>
          <a:xfrm>
            <a:off x="6126480" y="3822192"/>
            <a:ext cx="5166360" cy="242316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3913632"/>
            <a:ext cx="4663440" cy="256032"/>
          </a:xfrm>
          <a:prstGeom prst="rect">
            <a:avLst/>
          </a:prstGeom>
          <a:noFill/>
        </p:spPr>
        <p:txBody>
          <a:bodyPr wrap="square"/>
          <a:lstStyle/>
          <a:p>
            <a:pPr algn="l"/>
            <a:r>
              <a:rPr sz="1200" b="1">
                <a:solidFill>
                  <a:srgbClr val="1A56A8"/>
                </a:solidFill>
              </a:rPr>
              <a:t>本章实验结论</a:t>
            </a:r>
            <a:endParaRPr sz="1200" b="1">
              <a:solidFill>
                <a:srgbClr val="1A56A8"/>
              </a:solidFill>
            </a:endParaRPr>
          </a:p>
        </p:txBody>
      </p:sp>
      <p:sp>
        <p:nvSpPr>
          <p:cNvPr id="23" name="TextBox 22"/>
          <p:cNvSpPr txBox="1"/>
          <p:nvPr/>
        </p:nvSpPr>
        <p:spPr>
          <a:xfrm>
            <a:off x="6309360" y="4279392"/>
            <a:ext cx="4663440" cy="1828800"/>
          </a:xfrm>
          <a:prstGeom prst="rect">
            <a:avLst/>
          </a:prstGeom>
          <a:noFill/>
        </p:spPr>
        <p:txBody>
          <a:bodyPr wrap="square"/>
          <a:lstStyle/>
          <a:p>
            <a:pPr algn="l">
              <a:lnSpc>
                <a:spcPts val="1500"/>
              </a:lnSpc>
              <a:spcAft>
                <a:spcPts val="200"/>
              </a:spcAft>
            </a:pPr>
            <a:r>
              <a:rPr sz="1100" b="0">
                <a:solidFill>
                  <a:srgbClr val="2D2D2D"/>
                </a:solidFill>
              </a:rPr>
              <a:t>  有效掩码区分有效/无效观测 → 性能提升</a:t>
            </a:r>
            <a:endParaRPr sz="1100" b="0">
              <a:solidFill>
                <a:srgbClr val="2D2D2D"/>
              </a:solidFill>
            </a:endParaRPr>
          </a:p>
          <a:p>
            <a:pPr algn="l">
              <a:lnSpc>
                <a:spcPts val="1500"/>
              </a:lnSpc>
              <a:spcAft>
                <a:spcPts val="200"/>
              </a:spcAft>
            </a:pPr>
            <a:r>
              <a:rPr sz="1100" b="0">
                <a:solidFill>
                  <a:srgbClr val="2D2D2D"/>
                </a:solidFill>
              </a:rPr>
              <a:t>  线性势函数满足 PBRS 最优策略不变性</a:t>
            </a:r>
            <a:endParaRPr sz="1100" b="0">
              <a:solidFill>
                <a:srgbClr val="2D2D2D"/>
              </a:solidFill>
            </a:endParaRPr>
          </a:p>
          <a:p>
            <a:pPr algn="l">
              <a:lnSpc>
                <a:spcPts val="1500"/>
              </a:lnSpc>
              <a:spcAft>
                <a:spcPts val="200"/>
              </a:spcAft>
            </a:pPr>
            <a:r>
              <a:rPr sz="1100" b="0">
                <a:solidFill>
                  <a:srgbClr val="2D2D2D"/>
                </a:solidFill>
              </a:rPr>
              <a:t>  最近球模式将多目标任务分解为阶段性子目标</a:t>
            </a:r>
            <a:endParaRPr sz="1100" b="0">
              <a:solidFill>
                <a:srgbClr val="2D2D2D"/>
              </a:solidFill>
            </a:endParaRPr>
          </a:p>
          <a:p>
            <a:pPr algn="l">
              <a:lnSpc>
                <a:spcPts val="1500"/>
              </a:lnSpc>
              <a:spcAft>
                <a:spcPts val="200"/>
              </a:spcAft>
            </a:pPr>
            <a:r>
              <a:rPr sz="1100" b="0">
                <a:solidFill>
                  <a:srgbClr val="2D2D2D"/>
                </a:solidFill>
              </a:rPr>
              <a:t>  以上结论用于后续所有实验的配置选择</a:t>
            </a:r>
            <a:endParaRPr sz="1100" b="0">
              <a:solidFill>
                <a:srgbClr val="2D2D2D"/>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475488"/>
          </a:xfrm>
          <a:prstGeom prst="rect">
            <a:avLst/>
          </a:prstGeom>
          <a:noFill/>
        </p:spPr>
        <p:txBody>
          <a:bodyPr wrap="square"/>
          <a:lstStyle/>
          <a:p>
            <a:pPr algn="l"/>
            <a:r>
              <a:rPr sz="2300" b="1">
                <a:solidFill>
                  <a:srgbClr val="1A56A8"/>
                </a:solidFill>
              </a:rPr>
              <a:t>训练方案对比</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0" y="384048"/>
            <a:ext cx="2926080" cy="475488"/>
          </a:xfrm>
          <a:prstGeom prst="rect">
            <a:avLst/>
          </a:prstGeom>
          <a:noFill/>
        </p:spPr>
        <p:txBody>
          <a:bodyPr wrap="square"/>
          <a:lstStyle/>
          <a:p>
            <a:pPr algn="r"/>
            <a:r>
              <a:rPr sz="1200" b="0">
                <a:solidFill>
                  <a:srgbClr val="6B7B8D"/>
                </a:solidFill>
              </a:rPr>
              <a:t>障碍物避障策略</a:t>
            </a:r>
            <a:endParaRPr sz="1200" b="0">
              <a:solidFill>
                <a:srgbClr val="6B7B8D"/>
              </a:solidFill>
            </a:endParaRPr>
          </a:p>
        </p:txBody>
      </p:sp>
      <p:sp>
        <p:nvSpPr>
          <p:cNvPr id="7" name="Rounded Rectangle 6"/>
          <p:cNvSpPr/>
          <p:nvPr/>
        </p:nvSpPr>
        <p:spPr>
          <a:xfrm>
            <a:off x="594360" y="1078992"/>
            <a:ext cx="5166360" cy="438912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52144"/>
            <a:ext cx="4663440" cy="256032"/>
          </a:xfrm>
          <a:prstGeom prst="rect">
            <a:avLst/>
          </a:prstGeom>
          <a:noFill/>
        </p:spPr>
        <p:txBody>
          <a:bodyPr wrap="square"/>
          <a:lstStyle/>
          <a:p>
            <a:pPr algn="l"/>
            <a:r>
              <a:rPr sz="1200" b="1">
                <a:solidFill>
                  <a:srgbClr val="1A56A8"/>
                </a:solidFill>
              </a:rPr>
              <a:t>撞墙惩罚力度对比</a:t>
            </a:r>
            <a:endParaRPr sz="1200" b="1">
              <a:solidFill>
                <a:srgbClr val="1A56A8"/>
              </a:solidFill>
            </a:endParaRPr>
          </a:p>
        </p:txBody>
      </p:sp>
      <p:sp>
        <p:nvSpPr>
          <p:cNvPr id="9" name="TextBox 8"/>
          <p:cNvSpPr txBox="1"/>
          <p:nvPr/>
        </p:nvSpPr>
        <p:spPr>
          <a:xfrm>
            <a:off x="777240" y="1426464"/>
            <a:ext cx="4572000" cy="201168"/>
          </a:xfrm>
          <a:prstGeom prst="rect">
            <a:avLst/>
          </a:prstGeom>
          <a:noFill/>
        </p:spPr>
        <p:txBody>
          <a:bodyPr wrap="square"/>
          <a:lstStyle/>
          <a:p>
            <a:pPr algn="l"/>
            <a:r>
              <a:rPr sz="1000" b="0">
                <a:solidFill>
                  <a:srgbClr val="6B7B8D"/>
                </a:solidFill>
              </a:rPr>
              <a:t>0.5 惩罚在得分与避障间取得最佳平衡</a:t>
            </a:r>
            <a:endParaRPr sz="1000" b="0">
              <a:solidFill>
                <a:srgbClr val="6B7B8D"/>
              </a:solidFill>
            </a:endParaRPr>
          </a:p>
        </p:txBody>
      </p:sp>
      <p:pic>
        <p:nvPicPr>
          <p:cNvPr id="10" name="Picture 9" descr="wall-penalty-player_wall_count_comparison.png"/>
          <p:cNvPicPr>
            <a:picLocks noChangeAspect="1"/>
          </p:cNvPicPr>
          <p:nvPr/>
        </p:nvPicPr>
        <p:blipFill>
          <a:blip r:embed="rId1"/>
          <a:stretch>
            <a:fillRect/>
          </a:stretch>
        </p:blipFill>
        <p:spPr>
          <a:xfrm>
            <a:off x="777240" y="1719072"/>
            <a:ext cx="1918122" cy="1417320"/>
          </a:xfrm>
          <a:prstGeom prst="rect">
            <a:avLst/>
          </a:prstGeom>
        </p:spPr>
      </p:pic>
      <p:pic>
        <p:nvPicPr>
          <p:cNvPr id="11" name="Picture 10" descr="wall-penalty-player_ball_score_comparison.png"/>
          <p:cNvPicPr>
            <a:picLocks noChangeAspect="1"/>
          </p:cNvPicPr>
          <p:nvPr/>
        </p:nvPicPr>
        <p:blipFill>
          <a:blip r:embed="rId2"/>
          <a:stretch>
            <a:fillRect/>
          </a:stretch>
        </p:blipFill>
        <p:spPr>
          <a:xfrm>
            <a:off x="777240" y="3273552"/>
            <a:ext cx="1918122" cy="1417320"/>
          </a:xfrm>
          <a:prstGeom prst="rect">
            <a:avLst/>
          </a:prstGeom>
        </p:spPr>
      </p:pic>
      <p:sp>
        <p:nvSpPr>
          <p:cNvPr id="12" name="TextBox 11"/>
          <p:cNvSpPr txBox="1"/>
          <p:nvPr/>
        </p:nvSpPr>
        <p:spPr>
          <a:xfrm>
            <a:off x="3108960" y="1719072"/>
            <a:ext cx="2560320" cy="1371600"/>
          </a:xfrm>
          <a:prstGeom prst="rect">
            <a:avLst/>
          </a:prstGeom>
          <a:noFill/>
        </p:spPr>
        <p:txBody>
          <a:bodyPr wrap="square"/>
          <a:lstStyle/>
          <a:p>
            <a:pPr algn="l">
              <a:lnSpc>
                <a:spcPts val="1200"/>
              </a:lnSpc>
              <a:spcAft>
                <a:spcPts val="200"/>
              </a:spcAft>
            </a:pPr>
            <a:r>
              <a:rPr sz="900" b="0">
                <a:solidFill>
                  <a:srgbClr val="6B7B8D"/>
                </a:solidFill>
              </a:rPr>
              <a:t>  0.05: 撞墙 161.5 次</a:t>
            </a:r>
            <a:endParaRPr sz="900" b="0">
              <a:solidFill>
                <a:srgbClr val="6B7B8D"/>
              </a:solidFill>
            </a:endParaRPr>
          </a:p>
          <a:p>
            <a:pPr algn="l">
              <a:lnSpc>
                <a:spcPts val="1200"/>
              </a:lnSpc>
              <a:spcAft>
                <a:spcPts val="200"/>
              </a:spcAft>
            </a:pPr>
            <a:r>
              <a:rPr sz="900" b="0">
                <a:solidFill>
                  <a:srgbClr val="6B7B8D"/>
                </a:solidFill>
              </a:rPr>
              <a:t>  0.5: 撞墙 114.8 次 (−29%)</a:t>
            </a:r>
            <a:endParaRPr sz="900" b="0">
              <a:solidFill>
                <a:srgbClr val="6B7B8D"/>
              </a:solidFill>
            </a:endParaRPr>
          </a:p>
          <a:p>
            <a:pPr algn="l">
              <a:lnSpc>
                <a:spcPts val="1200"/>
              </a:lnSpc>
              <a:spcAft>
                <a:spcPts val="200"/>
              </a:spcAft>
            </a:pPr>
            <a:r>
              <a:rPr sz="900" b="0">
                <a:solidFill>
                  <a:srgbClr val="6B7B8D"/>
                </a:solidFill>
              </a:rPr>
              <a:t>  5.0: 撞墙 16.7 次，但得分骤降</a:t>
            </a:r>
            <a:endParaRPr sz="900" b="0">
              <a:solidFill>
                <a:srgbClr val="6B7B8D"/>
              </a:solidFill>
            </a:endParaRPr>
          </a:p>
        </p:txBody>
      </p:sp>
      <p:sp>
        <p:nvSpPr>
          <p:cNvPr id="13" name="Rounded Rectangle 12"/>
          <p:cNvSpPr/>
          <p:nvPr/>
        </p:nvSpPr>
        <p:spPr>
          <a:xfrm>
            <a:off x="6126480" y="1078992"/>
            <a:ext cx="5166360" cy="438912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152144"/>
            <a:ext cx="4663440" cy="256032"/>
          </a:xfrm>
          <a:prstGeom prst="rect">
            <a:avLst/>
          </a:prstGeom>
          <a:noFill/>
        </p:spPr>
        <p:txBody>
          <a:bodyPr wrap="square"/>
          <a:lstStyle/>
          <a:p>
            <a:pPr algn="l"/>
            <a:r>
              <a:rPr sz="1200" b="1">
                <a:solidFill>
                  <a:srgbClr val="1A56A8"/>
                </a:solidFill>
              </a:rPr>
              <a:t>障碍物塑形方案对比</a:t>
            </a:r>
            <a:endParaRPr sz="1200" b="1">
              <a:solidFill>
                <a:srgbClr val="1A56A8"/>
              </a:solidFill>
            </a:endParaRPr>
          </a:p>
        </p:txBody>
      </p:sp>
      <p:sp>
        <p:nvSpPr>
          <p:cNvPr id="15" name="TextBox 14"/>
          <p:cNvSpPr txBox="1"/>
          <p:nvPr/>
        </p:nvSpPr>
        <p:spPr>
          <a:xfrm>
            <a:off x="6309360" y="1426464"/>
            <a:ext cx="4572000" cy="201168"/>
          </a:xfrm>
          <a:prstGeom prst="rect">
            <a:avLst/>
          </a:prstGeom>
          <a:noFill/>
        </p:spPr>
        <p:txBody>
          <a:bodyPr wrap="square"/>
          <a:lstStyle/>
          <a:p>
            <a:pPr algn="l"/>
            <a:r>
              <a:rPr sz="1000" b="0">
                <a:solidFill>
                  <a:srgbClr val="6B7B8D"/>
                </a:solidFill>
              </a:rPr>
              <a:t>稠密塑形减少撞墙，但代价是忽略障碍物附近的奖励球</a:t>
            </a:r>
            <a:endParaRPr sz="1000" b="0">
              <a:solidFill>
                <a:srgbClr val="6B7B8D"/>
              </a:solidFill>
            </a:endParaRPr>
          </a:p>
        </p:txBody>
      </p:sp>
      <p:pic>
        <p:nvPicPr>
          <p:cNvPr id="16" name="Picture 15" descr="wall_potential_comparison_total_walls.png"/>
          <p:cNvPicPr>
            <a:picLocks noChangeAspect="1"/>
          </p:cNvPicPr>
          <p:nvPr/>
        </p:nvPicPr>
        <p:blipFill>
          <a:blip r:embed="rId3"/>
          <a:stretch>
            <a:fillRect/>
          </a:stretch>
        </p:blipFill>
        <p:spPr>
          <a:xfrm>
            <a:off x="6309360" y="1719072"/>
            <a:ext cx="2632050" cy="1417320"/>
          </a:xfrm>
          <a:prstGeom prst="rect">
            <a:avLst/>
          </a:prstGeom>
        </p:spPr>
      </p:pic>
      <p:pic>
        <p:nvPicPr>
          <p:cNvPr id="17" name="Picture 16" descr="wall_potential_comparison_total_score.png"/>
          <p:cNvPicPr>
            <a:picLocks noChangeAspect="1"/>
          </p:cNvPicPr>
          <p:nvPr/>
        </p:nvPicPr>
        <p:blipFill>
          <a:blip r:embed="rId4"/>
          <a:stretch>
            <a:fillRect/>
          </a:stretch>
        </p:blipFill>
        <p:spPr>
          <a:xfrm>
            <a:off x="6309360" y="3273552"/>
            <a:ext cx="2632050" cy="1417320"/>
          </a:xfrm>
          <a:prstGeom prst="rect">
            <a:avLst/>
          </a:prstGeom>
        </p:spPr>
      </p:pic>
      <p:sp>
        <p:nvSpPr>
          <p:cNvPr id="18" name="Rounded Rectangle 17"/>
          <p:cNvSpPr/>
          <p:nvPr/>
        </p:nvSpPr>
        <p:spPr>
          <a:xfrm>
            <a:off x="594360" y="5696712"/>
            <a:ext cx="11000232" cy="475488"/>
          </a:xfrm>
          <a:prstGeom prst="roundRect">
            <a:avLst>
              <a:gd name="adj" fmla="val 5000"/>
            </a:avLst>
          </a:prstGeom>
          <a:solidFill>
            <a:srgbClr val="EBF0F7"/>
          </a:solidFill>
          <a:ln w="9525">
            <a:solidFill>
              <a:srgbClr val="C8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769864"/>
            <a:ext cx="10515600" cy="320040"/>
          </a:xfrm>
          <a:prstGeom prst="rect">
            <a:avLst/>
          </a:prstGeom>
          <a:noFill/>
        </p:spPr>
        <p:txBody>
          <a:bodyPr wrap="square"/>
          <a:lstStyle/>
          <a:p>
            <a:pPr algn="ctr"/>
            <a:r>
              <a:rPr sz="1200" b="1">
                <a:solidFill>
                  <a:srgbClr val="1A56A8"/>
                </a:solidFill>
              </a:rPr>
              <a:t>结论：稀疏惩罚 (0.5) 在得分与避障间最优平衡；障碍物并非[越远越好]，未碰撞时不应施加惩罚</a:t>
            </a:r>
            <a:endParaRPr sz="1200" b="1">
              <a:solidFill>
                <a:srgbClr val="1A56A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475488"/>
          </a:xfrm>
          <a:prstGeom prst="rect">
            <a:avLst/>
          </a:prstGeom>
          <a:noFill/>
        </p:spPr>
        <p:txBody>
          <a:bodyPr wrap="square"/>
          <a:lstStyle/>
          <a:p>
            <a:pPr algn="l"/>
            <a:r>
              <a:rPr sz="2300" b="1">
                <a:solidFill>
                  <a:srgbClr val="1A56A8"/>
                </a:solidFill>
              </a:rPr>
              <a:t>网络架构设计</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0" y="384048"/>
            <a:ext cx="2926080" cy="475488"/>
          </a:xfrm>
          <a:prstGeom prst="rect">
            <a:avLst/>
          </a:prstGeom>
          <a:noFill/>
        </p:spPr>
        <p:txBody>
          <a:bodyPr wrap="square"/>
          <a:lstStyle/>
          <a:p>
            <a:pPr algn="r"/>
            <a:r>
              <a:rPr sz="1200" b="0">
                <a:solidFill>
                  <a:srgbClr val="6B7B8D"/>
                </a:solidFill>
              </a:rPr>
              <a:t>MLP / Segmented MLP / GRU-MLP</a:t>
            </a:r>
            <a:endParaRPr sz="1200" b="0">
              <a:solidFill>
                <a:srgbClr val="6B7B8D"/>
              </a:solidFill>
            </a:endParaRPr>
          </a:p>
        </p:txBody>
      </p:sp>
      <p:sp>
        <p:nvSpPr>
          <p:cNvPr id="7" name="Rounded Rectangle 6"/>
          <p:cNvSpPr/>
          <p:nvPr/>
        </p:nvSpPr>
        <p:spPr>
          <a:xfrm>
            <a:off x="594360" y="1078992"/>
            <a:ext cx="3337560" cy="192024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04088" y="1188720"/>
            <a:ext cx="1828800" cy="292608"/>
          </a:xfrm>
          <a:prstGeom prst="roundRect">
            <a:avLst>
              <a:gd name="adj" fmla="val 5000"/>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MLP</a:t>
            </a:r>
            <a:endParaRPr sz="1100" b="1">
              <a:solidFill>
                <a:srgbClr val="FFFFFF"/>
              </a:solidFill>
            </a:endParaRPr>
          </a:p>
        </p:txBody>
      </p:sp>
      <p:sp>
        <p:nvSpPr>
          <p:cNvPr id="9" name="TextBox 8"/>
          <p:cNvSpPr txBox="1"/>
          <p:nvPr/>
        </p:nvSpPr>
        <p:spPr>
          <a:xfrm>
            <a:off x="704088" y="1581912"/>
            <a:ext cx="3108960" cy="1371600"/>
          </a:xfrm>
          <a:prstGeom prst="rect">
            <a:avLst/>
          </a:prstGeom>
          <a:noFill/>
        </p:spPr>
        <p:txBody>
          <a:bodyPr wrap="square"/>
          <a:lstStyle/>
          <a:p>
            <a:pPr algn="l">
              <a:lnSpc>
                <a:spcPts val="1400"/>
              </a:lnSpc>
              <a:spcAft>
                <a:spcPts val="200"/>
              </a:spcAft>
            </a:pPr>
            <a:r>
              <a:rPr sz="1000" b="0">
                <a:solidFill>
                  <a:srgbClr val="2D2D2D"/>
                </a:solidFill>
              </a:rPr>
              <a:t>  全部 174 维观测拼接输入</a:t>
            </a:r>
            <a:endParaRPr sz="1000" b="0">
              <a:solidFill>
                <a:srgbClr val="2D2D2D"/>
              </a:solidFill>
            </a:endParaRPr>
          </a:p>
          <a:p>
            <a:pPr algn="l">
              <a:lnSpc>
                <a:spcPts val="1400"/>
              </a:lnSpc>
              <a:spcAft>
                <a:spcPts val="200"/>
              </a:spcAft>
            </a:pPr>
            <a:r>
              <a:rPr sz="1000" b="0">
                <a:solidFill>
                  <a:srgbClr val="2D2D2D"/>
                </a:solidFill>
              </a:rPr>
              <a:t>  多层全连接网络处理</a:t>
            </a:r>
            <a:endParaRPr sz="1000" b="0">
              <a:solidFill>
                <a:srgbClr val="2D2D2D"/>
              </a:solidFill>
            </a:endParaRPr>
          </a:p>
          <a:p>
            <a:pPr algn="l">
              <a:lnSpc>
                <a:spcPts val="1400"/>
              </a:lnSpc>
              <a:spcAft>
                <a:spcPts val="200"/>
              </a:spcAft>
            </a:pPr>
            <a:r>
              <a:rPr sz="1000" b="0">
                <a:solidFill>
                  <a:srgbClr val="2D2D2D"/>
                </a:solidFill>
              </a:rPr>
              <a:t>  Actor(6 类动作) + Critic(V)</a:t>
            </a:r>
            <a:endParaRPr sz="1000" b="0">
              <a:solidFill>
                <a:srgbClr val="2D2D2D"/>
              </a:solidFill>
            </a:endParaRPr>
          </a:p>
          <a:p>
            <a:pPr algn="l">
              <a:lnSpc>
                <a:spcPts val="1400"/>
              </a:lnSpc>
              <a:spcAft>
                <a:spcPts val="200"/>
              </a:spcAft>
            </a:pPr>
            <a:r>
              <a:rPr sz="1000" b="0">
                <a:solidFill>
                  <a:srgbClr val="2D2D2D"/>
                </a:solidFill>
              </a:rPr>
              <a:t>  最简单，无结构化处理</a:t>
            </a:r>
            <a:endParaRPr sz="1000" b="0">
              <a:solidFill>
                <a:srgbClr val="2D2D2D"/>
              </a:solidFill>
            </a:endParaRPr>
          </a:p>
        </p:txBody>
      </p:sp>
      <p:sp>
        <p:nvSpPr>
          <p:cNvPr id="10" name="Rounded Rectangle 9"/>
          <p:cNvSpPr/>
          <p:nvPr/>
        </p:nvSpPr>
        <p:spPr>
          <a:xfrm>
            <a:off x="4251960" y="1078992"/>
            <a:ext cx="3337560" cy="192024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61688" y="1188720"/>
            <a:ext cx="1828800" cy="292608"/>
          </a:xfrm>
          <a:prstGeom prst="roundRect">
            <a:avLst>
              <a:gd name="adj" fmla="val 5000"/>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Segmented MLP</a:t>
            </a:r>
            <a:endParaRPr sz="1100" b="1">
              <a:solidFill>
                <a:srgbClr val="FFFFFF"/>
              </a:solidFill>
            </a:endParaRPr>
          </a:p>
        </p:txBody>
      </p:sp>
      <p:sp>
        <p:nvSpPr>
          <p:cNvPr id="12" name="TextBox 11"/>
          <p:cNvSpPr txBox="1"/>
          <p:nvPr/>
        </p:nvSpPr>
        <p:spPr>
          <a:xfrm>
            <a:off x="4361688" y="1581912"/>
            <a:ext cx="3108960" cy="1371600"/>
          </a:xfrm>
          <a:prstGeom prst="rect">
            <a:avLst/>
          </a:prstGeom>
          <a:noFill/>
        </p:spPr>
        <p:txBody>
          <a:bodyPr wrap="square"/>
          <a:lstStyle/>
          <a:p>
            <a:pPr algn="l">
              <a:lnSpc>
                <a:spcPts val="1400"/>
              </a:lnSpc>
              <a:spcAft>
                <a:spcPts val="200"/>
              </a:spcAft>
            </a:pPr>
            <a:r>
              <a:rPr sz="1000" b="0">
                <a:solidFill>
                  <a:srgbClr val="2D2D2D"/>
                </a:solidFill>
              </a:rPr>
              <a:t>  5 个独立子 MLP 分别编码</a:t>
            </a:r>
            <a:endParaRPr sz="1000" b="0">
              <a:solidFill>
                <a:srgbClr val="2D2D2D"/>
              </a:solidFill>
            </a:endParaRPr>
          </a:p>
          <a:p>
            <a:pPr algn="l">
              <a:lnSpc>
                <a:spcPts val="1400"/>
              </a:lnSpc>
              <a:spcAft>
                <a:spcPts val="200"/>
              </a:spcAft>
            </a:pPr>
            <a:r>
              <a:rPr sz="1000" b="0">
                <a:solidFill>
                  <a:srgbClr val="2D2D2D"/>
                </a:solidFill>
              </a:rPr>
              <a:t>  SELF/PLAYER/BALL/ENEMY/LiDAR</a:t>
            </a:r>
            <a:endParaRPr sz="1000" b="0">
              <a:solidFill>
                <a:srgbClr val="2D2D2D"/>
              </a:solidFill>
            </a:endParaRPr>
          </a:p>
          <a:p>
            <a:pPr algn="l">
              <a:lnSpc>
                <a:spcPts val="1400"/>
              </a:lnSpc>
              <a:spcAft>
                <a:spcPts val="200"/>
              </a:spcAft>
            </a:pPr>
            <a:r>
              <a:rPr sz="1000" b="0">
                <a:solidFill>
                  <a:srgbClr val="2D2D2D"/>
                </a:solidFill>
              </a:rPr>
              <a:t>  子网络输出拼接 → 共享 trunk</a:t>
            </a:r>
            <a:endParaRPr sz="1000" b="0">
              <a:solidFill>
                <a:srgbClr val="2D2D2D"/>
              </a:solidFill>
            </a:endParaRPr>
          </a:p>
          <a:p>
            <a:pPr algn="l">
              <a:lnSpc>
                <a:spcPts val="1400"/>
              </a:lnSpc>
              <a:spcAft>
                <a:spcPts val="200"/>
              </a:spcAft>
            </a:pPr>
            <a:r>
              <a:rPr sz="1000" b="0">
                <a:solidFill>
                  <a:srgbClr val="2D2D2D"/>
                </a:solidFill>
              </a:rPr>
              <a:t>  保留分段语义信息</a:t>
            </a:r>
            <a:endParaRPr sz="1000" b="0">
              <a:solidFill>
                <a:srgbClr val="2D2D2D"/>
              </a:solidFill>
            </a:endParaRPr>
          </a:p>
        </p:txBody>
      </p:sp>
      <p:sp>
        <p:nvSpPr>
          <p:cNvPr id="13" name="Rounded Rectangle 12"/>
          <p:cNvSpPr/>
          <p:nvPr/>
        </p:nvSpPr>
        <p:spPr>
          <a:xfrm>
            <a:off x="7909560" y="1078992"/>
            <a:ext cx="3337560" cy="192024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19288" y="1188720"/>
            <a:ext cx="1828800" cy="292608"/>
          </a:xfrm>
          <a:prstGeom prst="roundRect">
            <a:avLst>
              <a:gd name="adj" fmla="val 5000"/>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GRU-MLP</a:t>
            </a:r>
            <a:endParaRPr sz="1100" b="1">
              <a:solidFill>
                <a:srgbClr val="FFFFFF"/>
              </a:solidFill>
            </a:endParaRPr>
          </a:p>
        </p:txBody>
      </p:sp>
      <p:sp>
        <p:nvSpPr>
          <p:cNvPr id="15" name="TextBox 14"/>
          <p:cNvSpPr txBox="1"/>
          <p:nvPr/>
        </p:nvSpPr>
        <p:spPr>
          <a:xfrm>
            <a:off x="8019288" y="1581912"/>
            <a:ext cx="3108960" cy="1371600"/>
          </a:xfrm>
          <a:prstGeom prst="rect">
            <a:avLst/>
          </a:prstGeom>
          <a:noFill/>
        </p:spPr>
        <p:txBody>
          <a:bodyPr wrap="square"/>
          <a:lstStyle/>
          <a:p>
            <a:pPr algn="l">
              <a:lnSpc>
                <a:spcPts val="1400"/>
              </a:lnSpc>
              <a:spcAft>
                <a:spcPts val="200"/>
              </a:spcAft>
            </a:pPr>
            <a:r>
              <a:rPr sz="1000" b="0">
                <a:solidFill>
                  <a:srgbClr val="2D2D2D"/>
                </a:solidFill>
              </a:rPr>
              <a:t>  SELF/PLAYER/ENEMY/MAP → GRU</a:t>
            </a:r>
            <a:endParaRPr sz="1000" b="0">
              <a:solidFill>
                <a:srgbClr val="2D2D2D"/>
              </a:solidFill>
            </a:endParaRPr>
          </a:p>
          <a:p>
            <a:pPr algn="l">
              <a:lnSpc>
                <a:spcPts val="1400"/>
              </a:lnSpc>
              <a:spcAft>
                <a:spcPts val="200"/>
              </a:spcAft>
            </a:pPr>
            <a:r>
              <a:rPr sz="1000" b="0">
                <a:solidFill>
                  <a:srgbClr val="2D2D2D"/>
                </a:solidFill>
              </a:rPr>
              <a:t>  BALL 段独立 MLP 处理</a:t>
            </a:r>
            <a:endParaRPr sz="1000" b="0">
              <a:solidFill>
                <a:srgbClr val="2D2D2D"/>
              </a:solidFill>
            </a:endParaRPr>
          </a:p>
          <a:p>
            <a:pPr algn="l">
              <a:lnSpc>
                <a:spcPts val="1400"/>
              </a:lnSpc>
              <a:spcAft>
                <a:spcPts val="200"/>
              </a:spcAft>
            </a:pPr>
            <a:r>
              <a:rPr sz="1000" b="0">
                <a:solidFill>
                  <a:srgbClr val="2D2D2D"/>
                </a:solidFill>
              </a:rPr>
              <a:t>  GRU 输出与 BALL 拼接 → trunk</a:t>
            </a:r>
            <a:endParaRPr sz="1000" b="0">
              <a:solidFill>
                <a:srgbClr val="2D2D2D"/>
              </a:solidFill>
            </a:endParaRPr>
          </a:p>
          <a:p>
            <a:pPr algn="l">
              <a:lnSpc>
                <a:spcPts val="1400"/>
              </a:lnSpc>
              <a:spcAft>
                <a:spcPts val="200"/>
              </a:spcAft>
            </a:pPr>
            <a:r>
              <a:rPr sz="1000" b="0">
                <a:solidFill>
                  <a:srgbClr val="2D2D2D"/>
                </a:solidFill>
              </a:rPr>
              <a:t>  捕获时序依赖关系</a:t>
            </a:r>
            <a:endParaRPr sz="1000" b="0">
              <a:solidFill>
                <a:srgbClr val="2D2D2D"/>
              </a:solidFill>
            </a:endParaRPr>
          </a:p>
        </p:txBody>
      </p:sp>
      <p:pic>
        <p:nvPicPr>
          <p:cNvPr id="16" name="Picture 15" descr="network_architectures.png"/>
          <p:cNvPicPr>
            <a:picLocks noChangeAspect="1"/>
          </p:cNvPicPr>
          <p:nvPr/>
        </p:nvPicPr>
        <p:blipFill>
          <a:blip r:embed="rId1"/>
          <a:stretch>
            <a:fillRect/>
          </a:stretch>
        </p:blipFill>
        <p:spPr>
          <a:xfrm>
            <a:off x="731520" y="3273552"/>
            <a:ext cx="10515600" cy="41827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475488"/>
          </a:xfrm>
          <a:prstGeom prst="rect">
            <a:avLst/>
          </a:prstGeom>
          <a:noFill/>
        </p:spPr>
        <p:txBody>
          <a:bodyPr wrap="square"/>
          <a:lstStyle/>
          <a:p>
            <a:pPr algn="l"/>
            <a:r>
              <a:rPr sz="2300" b="1">
                <a:solidFill>
                  <a:srgbClr val="1A56A8"/>
                </a:solidFill>
              </a:rPr>
              <a:t>网络架构对比</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0" y="384048"/>
            <a:ext cx="2926080" cy="475488"/>
          </a:xfrm>
          <a:prstGeom prst="rect">
            <a:avLst/>
          </a:prstGeom>
          <a:noFill/>
        </p:spPr>
        <p:txBody>
          <a:bodyPr wrap="square"/>
          <a:lstStyle/>
          <a:p>
            <a:pPr algn="r"/>
            <a:r>
              <a:rPr sz="1200" b="0">
                <a:solidFill>
                  <a:srgbClr val="6B7B8D"/>
                </a:solidFill>
              </a:rPr>
              <a:t>固定参数对比 + Optuna 超参数搜索</a:t>
            </a:r>
            <a:endParaRPr sz="1200" b="0">
              <a:solidFill>
                <a:srgbClr val="6B7B8D"/>
              </a:solidFill>
            </a:endParaRPr>
          </a:p>
        </p:txBody>
      </p:sp>
      <p:sp>
        <p:nvSpPr>
          <p:cNvPr id="7" name="Rounded Rectangle 6"/>
          <p:cNvSpPr/>
          <p:nvPr/>
        </p:nvSpPr>
        <p:spPr>
          <a:xfrm>
            <a:off x="594360" y="1078992"/>
            <a:ext cx="5166360" cy="237744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52144"/>
            <a:ext cx="4663440" cy="256032"/>
          </a:xfrm>
          <a:prstGeom prst="rect">
            <a:avLst/>
          </a:prstGeom>
          <a:noFill/>
        </p:spPr>
        <p:txBody>
          <a:bodyPr wrap="square"/>
          <a:lstStyle/>
          <a:p>
            <a:pPr algn="l"/>
            <a:r>
              <a:rPr sz="1200" b="1">
                <a:solidFill>
                  <a:srgbClr val="1A56A8"/>
                </a:solidFill>
              </a:rPr>
              <a:t>拾取奖励球任务</a:t>
            </a:r>
            <a:endParaRPr sz="1200" b="1">
              <a:solidFill>
                <a:srgbClr val="1A56A8"/>
              </a:solidFill>
            </a:endParaRPr>
          </a:p>
        </p:txBody>
      </p:sp>
      <p:sp>
        <p:nvSpPr>
          <p:cNvPr id="9" name="TextBox 8"/>
          <p:cNvSpPr txBox="1"/>
          <p:nvPr/>
        </p:nvSpPr>
        <p:spPr>
          <a:xfrm>
            <a:off x="777240" y="1426464"/>
            <a:ext cx="4572000" cy="201168"/>
          </a:xfrm>
          <a:prstGeom prst="rect">
            <a:avLst/>
          </a:prstGeom>
          <a:noFill/>
        </p:spPr>
        <p:txBody>
          <a:bodyPr wrap="square"/>
          <a:lstStyle/>
          <a:p>
            <a:pPr algn="l"/>
            <a:r>
              <a:rPr sz="1000" b="0">
                <a:solidFill>
                  <a:srgbClr val="6B7B8D"/>
                </a:solidFill>
              </a:rPr>
              <a:t>SegMLP(911) &gt; MLP(857) ≈ GRU(854)，任务简单未拉开差距</a:t>
            </a:r>
            <a:endParaRPr sz="1000" b="0">
              <a:solidFill>
                <a:srgbClr val="6B7B8D"/>
              </a:solidFill>
            </a:endParaRPr>
          </a:p>
        </p:txBody>
      </p:sp>
      <p:pic>
        <p:nvPicPr>
          <p:cNvPr id="10" name="Picture 9" descr="s1_total_ball_score.png"/>
          <p:cNvPicPr>
            <a:picLocks noChangeAspect="1"/>
          </p:cNvPicPr>
          <p:nvPr/>
        </p:nvPicPr>
        <p:blipFill>
          <a:blip r:embed="rId1"/>
          <a:stretch>
            <a:fillRect/>
          </a:stretch>
        </p:blipFill>
        <p:spPr>
          <a:xfrm>
            <a:off x="914400" y="1700784"/>
            <a:ext cx="2388942" cy="1417320"/>
          </a:xfrm>
          <a:prstGeom prst="rect">
            <a:avLst/>
          </a:prstGeom>
        </p:spPr>
      </p:pic>
      <p:sp>
        <p:nvSpPr>
          <p:cNvPr id="11" name="Rounded Rectangle 10"/>
          <p:cNvSpPr/>
          <p:nvPr/>
        </p:nvSpPr>
        <p:spPr>
          <a:xfrm>
            <a:off x="6126480" y="1078992"/>
            <a:ext cx="5166360" cy="237744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152144"/>
            <a:ext cx="4663440" cy="256032"/>
          </a:xfrm>
          <a:prstGeom prst="rect">
            <a:avLst/>
          </a:prstGeom>
          <a:noFill/>
        </p:spPr>
        <p:txBody>
          <a:bodyPr wrap="square"/>
          <a:lstStyle/>
          <a:p>
            <a:pPr algn="l"/>
            <a:r>
              <a:rPr sz="1200" b="1">
                <a:solidFill>
                  <a:srgbClr val="1A56A8"/>
                </a:solidFill>
              </a:rPr>
              <a:t>战斗任务</a:t>
            </a:r>
            <a:endParaRPr sz="1200" b="1">
              <a:solidFill>
                <a:srgbClr val="1A56A8"/>
              </a:solidFill>
            </a:endParaRPr>
          </a:p>
        </p:txBody>
      </p:sp>
      <p:sp>
        <p:nvSpPr>
          <p:cNvPr id="13" name="TextBox 12"/>
          <p:cNvSpPr txBox="1"/>
          <p:nvPr/>
        </p:nvSpPr>
        <p:spPr>
          <a:xfrm>
            <a:off x="6309360" y="1426464"/>
            <a:ext cx="4572000" cy="201168"/>
          </a:xfrm>
          <a:prstGeom prst="rect">
            <a:avLst/>
          </a:prstGeom>
          <a:noFill/>
        </p:spPr>
        <p:txBody>
          <a:bodyPr wrap="square"/>
          <a:lstStyle/>
          <a:p>
            <a:pPr algn="l"/>
            <a:r>
              <a:rPr sz="1000" b="0">
                <a:solidFill>
                  <a:srgbClr val="6B7B8D"/>
                </a:solidFill>
              </a:rPr>
              <a:t>MLP(775) &gt; SegMLP(715) &gt; GRU(583)，GRU 撞墙偏高</a:t>
            </a:r>
            <a:endParaRPr sz="1000" b="0">
              <a:solidFill>
                <a:srgbClr val="6B7B8D"/>
              </a:solidFill>
            </a:endParaRPr>
          </a:p>
        </p:txBody>
      </p:sp>
      <p:pic>
        <p:nvPicPr>
          <p:cNvPr id="14" name="Picture 13" descr="sarl_total_score.png"/>
          <p:cNvPicPr>
            <a:picLocks noChangeAspect="1"/>
          </p:cNvPicPr>
          <p:nvPr/>
        </p:nvPicPr>
        <p:blipFill>
          <a:blip r:embed="rId2"/>
          <a:stretch>
            <a:fillRect/>
          </a:stretch>
        </p:blipFill>
        <p:spPr>
          <a:xfrm>
            <a:off x="6309360" y="1700784"/>
            <a:ext cx="2388942" cy="1417320"/>
          </a:xfrm>
          <a:prstGeom prst="rect">
            <a:avLst/>
          </a:prstGeom>
        </p:spPr>
      </p:pic>
      <p:sp>
        <p:nvSpPr>
          <p:cNvPr id="15" name="Rounded Rectangle 14"/>
          <p:cNvSpPr/>
          <p:nvPr/>
        </p:nvSpPr>
        <p:spPr>
          <a:xfrm>
            <a:off x="594360" y="3685032"/>
            <a:ext cx="5166360" cy="265176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758184"/>
            <a:ext cx="4663440" cy="256032"/>
          </a:xfrm>
          <a:prstGeom prst="rect">
            <a:avLst/>
          </a:prstGeom>
          <a:noFill/>
        </p:spPr>
        <p:txBody>
          <a:bodyPr wrap="square"/>
          <a:lstStyle/>
          <a:p>
            <a:pPr algn="l"/>
            <a:r>
              <a:rPr sz="1200" b="1">
                <a:solidFill>
                  <a:srgbClr val="1A56A8"/>
                </a:solidFill>
              </a:rPr>
              <a:t>Optuna 超参数搜索（架构联合）</a:t>
            </a:r>
            <a:endParaRPr sz="1200" b="1">
              <a:solidFill>
                <a:srgbClr val="1A56A8"/>
              </a:solidFill>
            </a:endParaRPr>
          </a:p>
        </p:txBody>
      </p:sp>
      <p:sp>
        <p:nvSpPr>
          <p:cNvPr id="17" name="TextBox 16"/>
          <p:cNvSpPr txBox="1"/>
          <p:nvPr/>
        </p:nvSpPr>
        <p:spPr>
          <a:xfrm>
            <a:off x="777240" y="4032504"/>
            <a:ext cx="4572000" cy="201168"/>
          </a:xfrm>
          <a:prstGeom prst="rect">
            <a:avLst/>
          </a:prstGeom>
          <a:noFill/>
        </p:spPr>
        <p:txBody>
          <a:bodyPr wrap="square"/>
          <a:lstStyle/>
          <a:p>
            <a:pPr algn="l"/>
            <a:r>
              <a:rPr sz="1000" b="0">
                <a:solidFill>
                  <a:srgbClr val="6B7B8D"/>
                </a:solidFill>
              </a:rPr>
              <a:t>SegMLP 187 trials | MLP 72 | GRU 仅 17 后被放弃</a:t>
            </a:r>
            <a:endParaRPr sz="1000" b="0">
              <a:solidFill>
                <a:srgbClr val="6B7B8D"/>
              </a:solidFill>
            </a:endParaRPr>
          </a:p>
        </p:txBody>
      </p:sp>
      <p:pic>
        <p:nvPicPr>
          <p:cNvPr id="18" name="Picture 17" descr="optuna_round2_compare.png"/>
          <p:cNvPicPr>
            <a:picLocks noChangeAspect="1"/>
          </p:cNvPicPr>
          <p:nvPr/>
        </p:nvPicPr>
        <p:blipFill>
          <a:blip r:embed="rId3"/>
          <a:stretch>
            <a:fillRect/>
          </a:stretch>
        </p:blipFill>
        <p:spPr>
          <a:xfrm>
            <a:off x="914400" y="4325112"/>
            <a:ext cx="2419864" cy="1645920"/>
          </a:xfrm>
          <a:prstGeom prst="rect">
            <a:avLst/>
          </a:prstGeom>
        </p:spPr>
      </p:pic>
      <p:sp>
        <p:nvSpPr>
          <p:cNvPr id="19" name="Rounded Rectangle 18"/>
          <p:cNvSpPr/>
          <p:nvPr/>
        </p:nvSpPr>
        <p:spPr>
          <a:xfrm>
            <a:off x="6126480" y="3685032"/>
            <a:ext cx="5166360" cy="265176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3776472"/>
            <a:ext cx="4663440" cy="256032"/>
          </a:xfrm>
          <a:prstGeom prst="rect">
            <a:avLst/>
          </a:prstGeom>
          <a:noFill/>
        </p:spPr>
        <p:txBody>
          <a:bodyPr wrap="square"/>
          <a:lstStyle/>
          <a:p>
            <a:pPr algn="l"/>
            <a:r>
              <a:rPr sz="1200" b="1">
                <a:solidFill>
                  <a:srgbClr val="1A56A8"/>
                </a:solidFill>
              </a:rPr>
              <a:t>架构对比结论</a:t>
            </a:r>
            <a:endParaRPr sz="1200" b="1">
              <a:solidFill>
                <a:srgbClr val="1A56A8"/>
              </a:solidFill>
            </a:endParaRPr>
          </a:p>
        </p:txBody>
      </p:sp>
      <p:sp>
        <p:nvSpPr>
          <p:cNvPr id="21" name="TextBox 20"/>
          <p:cNvSpPr txBox="1"/>
          <p:nvPr/>
        </p:nvSpPr>
        <p:spPr>
          <a:xfrm>
            <a:off x="6309360" y="4142232"/>
            <a:ext cx="4663440" cy="2286000"/>
          </a:xfrm>
          <a:prstGeom prst="rect">
            <a:avLst/>
          </a:prstGeom>
          <a:noFill/>
        </p:spPr>
        <p:txBody>
          <a:bodyPr wrap="square"/>
          <a:lstStyle/>
          <a:p>
            <a:pPr algn="l">
              <a:lnSpc>
                <a:spcPts val="1500"/>
              </a:lnSpc>
              <a:spcAft>
                <a:spcPts val="200"/>
              </a:spcAft>
            </a:pPr>
            <a:r>
              <a:rPr sz="1100" b="0">
                <a:solidFill>
                  <a:srgbClr val="2D2D2D"/>
                </a:solidFill>
              </a:rPr>
              <a:t>  网络架构优劣取决于任务类型</a:t>
            </a:r>
            <a:endParaRPr sz="1100" b="0">
              <a:solidFill>
                <a:srgbClr val="2D2D2D"/>
              </a:solidFill>
            </a:endParaRPr>
          </a:p>
          <a:p>
            <a:pPr algn="l">
              <a:lnSpc>
                <a:spcPts val="1500"/>
              </a:lnSpc>
              <a:spcAft>
                <a:spcPts val="200"/>
              </a:spcAft>
            </a:pPr>
            <a:r>
              <a:rPr sz="1100" b="0">
                <a:solidFill>
                  <a:srgbClr val="2D2D2D"/>
                </a:solidFill>
              </a:rPr>
              <a:t>  GRU-MLP 在本文环境中收益不明显</a:t>
            </a:r>
            <a:endParaRPr sz="1100" b="0">
              <a:solidFill>
                <a:srgbClr val="2D2D2D"/>
              </a:solidFill>
            </a:endParaRPr>
          </a:p>
          <a:p>
            <a:pPr algn="l">
              <a:lnSpc>
                <a:spcPts val="1500"/>
              </a:lnSpc>
              <a:spcAft>
                <a:spcPts val="200"/>
              </a:spcAft>
            </a:pPr>
            <a:r>
              <a:rPr sz="1100" b="0">
                <a:solidFill>
                  <a:srgbClr val="2D2D2D"/>
                </a:solidFill>
              </a:rPr>
              <a:t>    • 大视野半径 + 显式状态编码削弱时序记忆需求</a:t>
            </a:r>
            <a:endParaRPr sz="1100" b="0">
              <a:solidFill>
                <a:srgbClr val="2D2D2D"/>
              </a:solidFill>
            </a:endParaRPr>
          </a:p>
          <a:p>
            <a:pPr algn="l">
              <a:lnSpc>
                <a:spcPts val="1500"/>
              </a:lnSpc>
              <a:spcAft>
                <a:spcPts val="200"/>
              </a:spcAft>
            </a:pPr>
            <a:r>
              <a:rPr sz="1100" b="0">
                <a:solidFill>
                  <a:srgbClr val="2D2D2D"/>
                </a:solidFill>
              </a:rPr>
              <a:t>    • GRU 循环状态增加训练收敛难度</a:t>
            </a:r>
            <a:endParaRPr sz="1100" b="0">
              <a:solidFill>
                <a:srgbClr val="2D2D2D"/>
              </a:solidFill>
            </a:endParaRPr>
          </a:p>
          <a:p>
            <a:pPr algn="l">
              <a:lnSpc>
                <a:spcPts val="1500"/>
              </a:lnSpc>
              <a:spcAft>
                <a:spcPts val="200"/>
              </a:spcAft>
            </a:pPr>
            <a:r>
              <a:rPr sz="1100" b="0">
                <a:solidFill>
                  <a:srgbClr val="2D2D2D"/>
                </a:solidFill>
              </a:rPr>
              <a:t>  超参数最优值与任务类型高度耦合</a:t>
            </a:r>
            <a:endParaRPr sz="1100" b="0">
              <a:solidFill>
                <a:srgbClr val="2D2D2D"/>
              </a:solidFill>
            </a:endParaRPr>
          </a:p>
          <a:p>
            <a:pPr algn="l">
              <a:lnSpc>
                <a:spcPts val="1500"/>
              </a:lnSpc>
              <a:spcAft>
                <a:spcPts val="200"/>
              </a:spcAft>
            </a:pPr>
            <a:r>
              <a:rPr sz="1100" b="0">
                <a:solidFill>
                  <a:srgbClr val="2D2D2D"/>
                </a:solidFill>
              </a:rPr>
              <a:t>  后续博弈实验采用 MLP + 第一轮最优超参数</a:t>
            </a:r>
            <a:endParaRPr sz="1100" b="0">
              <a:solidFill>
                <a:srgbClr val="2D2D2D"/>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475488"/>
          </a:xfrm>
          <a:prstGeom prst="rect">
            <a:avLst/>
          </a:prstGeom>
          <a:noFill/>
        </p:spPr>
        <p:txBody>
          <a:bodyPr wrap="square"/>
          <a:lstStyle/>
          <a:p>
            <a:pPr algn="l"/>
            <a:r>
              <a:rPr sz="2300" b="1">
                <a:solidFill>
                  <a:srgbClr val="1A56A8"/>
                </a:solidFill>
              </a:rPr>
              <a:t>多智能体博弈训练方案</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0" y="384048"/>
            <a:ext cx="2926080" cy="475488"/>
          </a:xfrm>
          <a:prstGeom prst="rect">
            <a:avLst/>
          </a:prstGeom>
          <a:noFill/>
        </p:spPr>
        <p:txBody>
          <a:bodyPr wrap="square"/>
          <a:lstStyle/>
          <a:p>
            <a:pPr algn="r"/>
            <a:r>
              <a:rPr sz="1200" b="0">
                <a:solidFill>
                  <a:srgbClr val="6B7B8D"/>
                </a:solidFill>
              </a:rPr>
              <a:t>评估流程与方法设计</a:t>
            </a:r>
            <a:endParaRPr sz="1200" b="0">
              <a:solidFill>
                <a:srgbClr val="6B7B8D"/>
              </a:solidFill>
            </a:endParaRPr>
          </a:p>
        </p:txBody>
      </p:sp>
      <p:sp>
        <p:nvSpPr>
          <p:cNvPr id="7" name="Rounded Rectangle 6"/>
          <p:cNvSpPr/>
          <p:nvPr/>
        </p:nvSpPr>
        <p:spPr>
          <a:xfrm>
            <a:off x="594360" y="1078992"/>
            <a:ext cx="11000232" cy="86868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52144"/>
            <a:ext cx="10515600" cy="731520"/>
          </a:xfrm>
          <a:prstGeom prst="rect">
            <a:avLst/>
          </a:prstGeom>
          <a:noFill/>
        </p:spPr>
        <p:txBody>
          <a:bodyPr wrap="square"/>
          <a:lstStyle/>
          <a:p>
            <a:pPr algn="l">
              <a:lnSpc>
                <a:spcPts val="1500"/>
              </a:lnSpc>
              <a:spcAft>
                <a:spcPts val="200"/>
              </a:spcAft>
            </a:pPr>
            <a:r>
              <a:rPr sz="1100" b="0">
                <a:solidFill>
                  <a:srgbClr val="2D2D2D"/>
                </a:solidFill>
              </a:rPr>
              <a:t>  直接求解博弈均衡难度是 PPAD 完全（邓小铁等，2022），不直接求解</a:t>
            </a:r>
            <a:endParaRPr sz="1100" b="0">
              <a:solidFill>
                <a:srgbClr val="2D2D2D"/>
              </a:solidFill>
            </a:endParaRPr>
          </a:p>
          <a:p>
            <a:pPr algn="l">
              <a:lnSpc>
                <a:spcPts val="1500"/>
              </a:lnSpc>
              <a:spcAft>
                <a:spcPts val="200"/>
              </a:spcAft>
            </a:pPr>
            <a:r>
              <a:rPr sz="1100" b="0">
                <a:solidFill>
                  <a:srgbClr val="2D2D2D"/>
                </a:solidFill>
              </a:rPr>
              <a:t>  多人非对称混战的一般和博弈场景缺乏先例研究，将已有方法在该环境测试性能</a:t>
            </a:r>
            <a:endParaRPr sz="1100" b="0">
              <a:solidFill>
                <a:srgbClr val="2D2D2D"/>
              </a:solidFill>
            </a:endParaRPr>
          </a:p>
        </p:txBody>
      </p:sp>
      <p:sp>
        <p:nvSpPr>
          <p:cNvPr id="9" name="TextBox 8"/>
          <p:cNvSpPr txBox="1"/>
          <p:nvPr/>
        </p:nvSpPr>
        <p:spPr>
          <a:xfrm>
            <a:off x="594360" y="2130552"/>
            <a:ext cx="2743200" cy="256032"/>
          </a:xfrm>
          <a:prstGeom prst="rect">
            <a:avLst/>
          </a:prstGeom>
          <a:noFill/>
        </p:spPr>
        <p:txBody>
          <a:bodyPr wrap="square"/>
          <a:lstStyle/>
          <a:p>
            <a:pPr algn="l"/>
            <a:r>
              <a:rPr sz="1300" b="1">
                <a:solidFill>
                  <a:srgbClr val="1A56A8"/>
                </a:solidFill>
              </a:rPr>
              <a:t>五阶段评估流程</a:t>
            </a:r>
            <a:endParaRPr sz="1300" b="1">
              <a:solidFill>
                <a:srgbClr val="1A56A8"/>
              </a:solidFill>
            </a:endParaRPr>
          </a:p>
        </p:txBody>
      </p:sp>
      <p:pic>
        <p:nvPicPr>
          <p:cNvPr id="10" name="Picture 9" descr="gameplay_evaluate.png"/>
          <p:cNvPicPr>
            <a:picLocks noChangeAspect="1"/>
          </p:cNvPicPr>
          <p:nvPr/>
        </p:nvPicPr>
        <p:blipFill>
          <a:blip r:embed="rId1"/>
          <a:stretch>
            <a:fillRect/>
          </a:stretch>
        </p:blipFill>
        <p:spPr>
          <a:xfrm>
            <a:off x="731520" y="2423160"/>
            <a:ext cx="5943600" cy="3758453"/>
          </a:xfrm>
          <a:prstGeom prst="rect">
            <a:avLst/>
          </a:prstGeom>
        </p:spPr>
      </p:pic>
      <p:sp>
        <p:nvSpPr>
          <p:cNvPr id="11" name="Rounded Rectangle 10"/>
          <p:cNvSpPr/>
          <p:nvPr/>
        </p:nvSpPr>
        <p:spPr>
          <a:xfrm>
            <a:off x="6858000" y="2423160"/>
            <a:ext cx="4572000" cy="91440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2496312"/>
            <a:ext cx="4297680" cy="256032"/>
          </a:xfrm>
          <a:prstGeom prst="rect">
            <a:avLst/>
          </a:prstGeom>
          <a:noFill/>
        </p:spPr>
        <p:txBody>
          <a:bodyPr wrap="square"/>
          <a:lstStyle/>
          <a:p>
            <a:pPr algn="l"/>
            <a:r>
              <a:rPr sz="1200" b="1">
                <a:solidFill>
                  <a:srgbClr val="1A56A8"/>
                </a:solidFill>
              </a:rPr>
              <a:t>IPPO</a:t>
            </a:r>
            <a:endParaRPr sz="1200" b="1">
              <a:solidFill>
                <a:srgbClr val="1A56A8"/>
              </a:solidFill>
            </a:endParaRPr>
          </a:p>
        </p:txBody>
      </p:sp>
      <p:sp>
        <p:nvSpPr>
          <p:cNvPr id="13" name="TextBox 12"/>
          <p:cNvSpPr txBox="1"/>
          <p:nvPr/>
        </p:nvSpPr>
        <p:spPr>
          <a:xfrm>
            <a:off x="6995160" y="2788920"/>
            <a:ext cx="4297680" cy="475488"/>
          </a:xfrm>
          <a:prstGeom prst="rect">
            <a:avLst/>
          </a:prstGeom>
          <a:noFill/>
        </p:spPr>
        <p:txBody>
          <a:bodyPr wrap="square"/>
          <a:lstStyle/>
          <a:p>
            <a:pPr algn="l"/>
            <a:r>
              <a:rPr sz="1000" b="0">
                <a:solidFill>
                  <a:srgbClr val="2D2D2D"/>
                </a:solidFill>
              </a:rPr>
              <a:t>从初始策略开始，4 智能体同时独立 PPO 训练 800 万步</a:t>
            </a:r>
            <a:endParaRPr sz="1000" b="0">
              <a:solidFill>
                <a:srgbClr val="2D2D2D"/>
              </a:solidFill>
            </a:endParaRPr>
          </a:p>
        </p:txBody>
      </p:sp>
      <p:sp>
        <p:nvSpPr>
          <p:cNvPr id="14" name="Rounded Rectangle 13"/>
          <p:cNvSpPr/>
          <p:nvPr/>
        </p:nvSpPr>
        <p:spPr>
          <a:xfrm>
            <a:off x="6858000" y="3474720"/>
            <a:ext cx="4572000" cy="91440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3547872"/>
            <a:ext cx="4297680" cy="256032"/>
          </a:xfrm>
          <a:prstGeom prst="rect">
            <a:avLst/>
          </a:prstGeom>
          <a:noFill/>
        </p:spPr>
        <p:txBody>
          <a:bodyPr wrap="square"/>
          <a:lstStyle/>
          <a:p>
            <a:pPr algn="l"/>
            <a:r>
              <a:rPr sz="1200" b="1">
                <a:solidFill>
                  <a:srgbClr val="1A56A8"/>
                </a:solidFill>
              </a:rPr>
              <a:t>对手池博弈 (PFSP)</a:t>
            </a:r>
            <a:endParaRPr sz="1200" b="1">
              <a:solidFill>
                <a:srgbClr val="1A56A8"/>
              </a:solidFill>
            </a:endParaRPr>
          </a:p>
        </p:txBody>
      </p:sp>
      <p:sp>
        <p:nvSpPr>
          <p:cNvPr id="16" name="TextBox 15"/>
          <p:cNvSpPr txBox="1"/>
          <p:nvPr/>
        </p:nvSpPr>
        <p:spPr>
          <a:xfrm>
            <a:off x="6995160" y="3840480"/>
            <a:ext cx="4297680" cy="475488"/>
          </a:xfrm>
          <a:prstGeom prst="rect">
            <a:avLst/>
          </a:prstGeom>
          <a:noFill/>
        </p:spPr>
        <p:txBody>
          <a:bodyPr wrap="square"/>
          <a:lstStyle/>
          <a:p>
            <a:pPr algn="l"/>
            <a:r>
              <a:rPr sz="1000" b="0">
                <a:solidFill>
                  <a:srgbClr val="2D2D2D"/>
                </a:solidFill>
              </a:rPr>
              <a:t>参考 AlphaStar 联盟训练，PFSP 采样对手，聚焦困难对手</a:t>
            </a:r>
            <a:endParaRPr sz="1000" b="0">
              <a:solidFill>
                <a:srgbClr val="2D2D2D"/>
              </a:solidFill>
            </a:endParaRPr>
          </a:p>
        </p:txBody>
      </p:sp>
      <p:sp>
        <p:nvSpPr>
          <p:cNvPr id="17" name="Rounded Rectangle 16"/>
          <p:cNvSpPr/>
          <p:nvPr/>
        </p:nvSpPr>
        <p:spPr>
          <a:xfrm>
            <a:off x="6858000" y="4526280"/>
            <a:ext cx="4572000" cy="91440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4599432"/>
            <a:ext cx="4297680" cy="256032"/>
          </a:xfrm>
          <a:prstGeom prst="rect">
            <a:avLst/>
          </a:prstGeom>
          <a:noFill/>
        </p:spPr>
        <p:txBody>
          <a:bodyPr wrap="square"/>
          <a:lstStyle/>
          <a:p>
            <a:pPr algn="l"/>
            <a:r>
              <a:rPr sz="1200" b="1">
                <a:solidFill>
                  <a:srgbClr val="1A56A8"/>
                </a:solidFill>
              </a:rPr>
              <a:t>平均策略博弈</a:t>
            </a:r>
            <a:endParaRPr sz="1200" b="1">
              <a:solidFill>
                <a:srgbClr val="1A56A8"/>
              </a:solidFill>
            </a:endParaRPr>
          </a:p>
        </p:txBody>
      </p:sp>
      <p:sp>
        <p:nvSpPr>
          <p:cNvPr id="19" name="TextBox 18"/>
          <p:cNvSpPr txBox="1"/>
          <p:nvPr/>
        </p:nvSpPr>
        <p:spPr>
          <a:xfrm>
            <a:off x="6995160" y="4892040"/>
            <a:ext cx="4297680" cy="475488"/>
          </a:xfrm>
          <a:prstGeom prst="rect">
            <a:avLst/>
          </a:prstGeom>
          <a:noFill/>
        </p:spPr>
        <p:txBody>
          <a:bodyPr wrap="square"/>
          <a:lstStyle/>
          <a:p>
            <a:pPr algn="l"/>
            <a:r>
              <a:rPr sz="1000" b="0">
                <a:solidFill>
                  <a:srgbClr val="2D2D2D"/>
                </a:solidFill>
              </a:rPr>
              <a:t>基于虚拟博弈思想，20 个对手动作概率分布取算术平均</a:t>
            </a:r>
            <a:endParaRPr sz="1000" b="0">
              <a:solidFill>
                <a:srgbClr val="2D2D2D"/>
              </a:solidFill>
            </a:endParaRPr>
          </a:p>
        </p:txBody>
      </p:sp>
      <p:sp>
        <p:nvSpPr>
          <p:cNvPr id="20" name="Rounded Rectangle 19"/>
          <p:cNvSpPr/>
          <p:nvPr/>
        </p:nvSpPr>
        <p:spPr>
          <a:xfrm>
            <a:off x="594360" y="5605272"/>
            <a:ext cx="6400800" cy="118872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678424"/>
            <a:ext cx="5943600" cy="256032"/>
          </a:xfrm>
          <a:prstGeom prst="rect">
            <a:avLst/>
          </a:prstGeom>
          <a:noFill/>
        </p:spPr>
        <p:txBody>
          <a:bodyPr wrap="square"/>
          <a:lstStyle/>
          <a:p>
            <a:pPr algn="l"/>
            <a:r>
              <a:rPr sz="1200" b="1">
                <a:solidFill>
                  <a:srgbClr val="1A56A8"/>
                </a:solidFill>
              </a:rPr>
              <a:t>对手池初始化：轮换冻结迭代博弈</a:t>
            </a:r>
            <a:endParaRPr sz="1200" b="1">
              <a:solidFill>
                <a:srgbClr val="1A56A8"/>
              </a:solidFill>
            </a:endParaRPr>
          </a:p>
        </p:txBody>
      </p:sp>
      <p:sp>
        <p:nvSpPr>
          <p:cNvPr id="22" name="TextBox 21"/>
          <p:cNvSpPr txBox="1"/>
          <p:nvPr/>
        </p:nvSpPr>
        <p:spPr>
          <a:xfrm>
            <a:off x="777240" y="5952744"/>
            <a:ext cx="5943600" cy="822960"/>
          </a:xfrm>
          <a:prstGeom prst="rect">
            <a:avLst/>
          </a:prstGeom>
          <a:noFill/>
        </p:spPr>
        <p:txBody>
          <a:bodyPr wrap="square"/>
          <a:lstStyle/>
          <a:p>
            <a:pPr algn="l">
              <a:lnSpc>
                <a:spcPts val="1400"/>
              </a:lnSpc>
              <a:spcAft>
                <a:spcPts val="200"/>
              </a:spcAft>
            </a:pPr>
            <a:r>
              <a:rPr sz="1000" b="0">
                <a:solidFill>
                  <a:srgbClr val="2D2D2D"/>
                </a:solidFill>
              </a:rPr>
              <a:t>  IPPO 同步训练 → 轮流冻结训练 → 多轮迭代</a:t>
            </a:r>
            <a:endParaRPr sz="1000" b="0">
              <a:solidFill>
                <a:srgbClr val="2D2D2D"/>
              </a:solidFill>
            </a:endParaRPr>
          </a:p>
          <a:p>
            <a:pPr algn="l">
              <a:lnSpc>
                <a:spcPts val="1400"/>
              </a:lnSpc>
              <a:spcAft>
                <a:spcPts val="200"/>
              </a:spcAft>
            </a:pPr>
            <a:r>
              <a:rPr sz="1000" b="0">
                <a:solidFill>
                  <a:srgbClr val="2D2D2D"/>
                </a:solidFill>
              </a:rPr>
              <a:t>  每智能体最近 20 个检查点构成对手池</a:t>
            </a:r>
            <a:endParaRPr sz="1000" b="0">
              <a:solidFill>
                <a:srgbClr val="2D2D2D"/>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475488"/>
          </a:xfrm>
          <a:prstGeom prst="rect">
            <a:avLst/>
          </a:prstGeom>
          <a:noFill/>
        </p:spPr>
        <p:txBody>
          <a:bodyPr wrap="square"/>
          <a:lstStyle/>
          <a:p>
            <a:pPr algn="l"/>
            <a:r>
              <a:rPr sz="2300" b="1">
                <a:solidFill>
                  <a:srgbClr val="1A56A8"/>
                </a:solidFill>
              </a:rPr>
              <a:t>三种博弈训练方法</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0" y="384048"/>
            <a:ext cx="2926080" cy="475488"/>
          </a:xfrm>
          <a:prstGeom prst="rect">
            <a:avLst/>
          </a:prstGeom>
          <a:noFill/>
        </p:spPr>
        <p:txBody>
          <a:bodyPr wrap="square"/>
          <a:lstStyle/>
          <a:p>
            <a:pPr algn="r"/>
            <a:r>
              <a:rPr sz="1200" b="0">
                <a:solidFill>
                  <a:srgbClr val="6B7B8D"/>
                </a:solidFill>
              </a:rPr>
              <a:t>IPPO / 对手池博弈 / 平均策略博弈</a:t>
            </a:r>
            <a:endParaRPr sz="1200" b="0">
              <a:solidFill>
                <a:srgbClr val="6B7B8D"/>
              </a:solidFill>
            </a:endParaRPr>
          </a:p>
        </p:txBody>
      </p:sp>
      <p:sp>
        <p:nvSpPr>
          <p:cNvPr id="7" name="Rounded Rectangle 6"/>
          <p:cNvSpPr/>
          <p:nvPr/>
        </p:nvSpPr>
        <p:spPr>
          <a:xfrm>
            <a:off x="594360" y="1078992"/>
            <a:ext cx="3429000" cy="475488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04088" y="1188720"/>
            <a:ext cx="2743200" cy="320040"/>
          </a:xfrm>
          <a:prstGeom prst="roundRect">
            <a:avLst>
              <a:gd name="adj" fmla="val 5000"/>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IPPO</a:t>
            </a:r>
            <a:endParaRPr sz="1200" b="1">
              <a:solidFill>
                <a:srgbClr val="FFFFFF"/>
              </a:solidFill>
            </a:endParaRPr>
          </a:p>
        </p:txBody>
      </p:sp>
      <p:sp>
        <p:nvSpPr>
          <p:cNvPr id="9" name="TextBox 8"/>
          <p:cNvSpPr txBox="1"/>
          <p:nvPr/>
        </p:nvSpPr>
        <p:spPr>
          <a:xfrm>
            <a:off x="731520" y="1627632"/>
            <a:ext cx="3108960" cy="228600"/>
          </a:xfrm>
          <a:prstGeom prst="rect">
            <a:avLst/>
          </a:prstGeom>
          <a:noFill/>
        </p:spPr>
        <p:txBody>
          <a:bodyPr wrap="square"/>
          <a:lstStyle/>
          <a:p>
            <a:pPr algn="l"/>
            <a:r>
              <a:rPr sz="1100" b="1">
                <a:solidFill>
                  <a:srgbClr val="1A56A8"/>
                </a:solidFill>
              </a:rPr>
              <a:t>独立训练</a:t>
            </a:r>
            <a:endParaRPr sz="1100" b="1">
              <a:solidFill>
                <a:srgbClr val="1A56A8"/>
              </a:solidFill>
            </a:endParaRPr>
          </a:p>
        </p:txBody>
      </p:sp>
      <p:sp>
        <p:nvSpPr>
          <p:cNvPr id="10" name="TextBox 9"/>
          <p:cNvSpPr txBox="1"/>
          <p:nvPr/>
        </p:nvSpPr>
        <p:spPr>
          <a:xfrm>
            <a:off x="731520" y="1883664"/>
            <a:ext cx="3108960" cy="201168"/>
          </a:xfrm>
          <a:prstGeom prst="rect">
            <a:avLst/>
          </a:prstGeom>
          <a:noFill/>
        </p:spPr>
        <p:txBody>
          <a:bodyPr wrap="square"/>
          <a:lstStyle/>
          <a:p>
            <a:pPr algn="l"/>
            <a:r>
              <a:rPr sz="900" b="0">
                <a:solidFill>
                  <a:srgbClr val="2D2D2D"/>
                </a:solidFill>
              </a:rPr>
              <a:t>  • 从初始策略 π₀ 开始，4 智能体同时独立 PPO 训练</a:t>
            </a:r>
            <a:endParaRPr sz="900" b="0">
              <a:solidFill>
                <a:srgbClr val="2D2D2D"/>
              </a:solidFill>
            </a:endParaRPr>
          </a:p>
        </p:txBody>
      </p:sp>
      <p:sp>
        <p:nvSpPr>
          <p:cNvPr id="11" name="TextBox 10"/>
          <p:cNvSpPr txBox="1"/>
          <p:nvPr/>
        </p:nvSpPr>
        <p:spPr>
          <a:xfrm>
            <a:off x="731520" y="2103120"/>
            <a:ext cx="3108960" cy="201168"/>
          </a:xfrm>
          <a:prstGeom prst="rect">
            <a:avLst/>
          </a:prstGeom>
          <a:noFill/>
        </p:spPr>
        <p:txBody>
          <a:bodyPr wrap="square"/>
          <a:lstStyle/>
          <a:p>
            <a:pPr algn="l"/>
            <a:r>
              <a:rPr sz="900" b="0">
                <a:solidFill>
                  <a:srgbClr val="2D2D2D"/>
                </a:solidFill>
              </a:rPr>
              <a:t>  • 每个智能体拥有独立的 Actor 和 Critic</a:t>
            </a:r>
            <a:endParaRPr sz="900" b="0">
              <a:solidFill>
                <a:srgbClr val="2D2D2D"/>
              </a:solidFill>
            </a:endParaRPr>
          </a:p>
        </p:txBody>
      </p:sp>
      <p:sp>
        <p:nvSpPr>
          <p:cNvPr id="12" name="TextBox 11"/>
          <p:cNvSpPr txBox="1"/>
          <p:nvPr/>
        </p:nvSpPr>
        <p:spPr>
          <a:xfrm>
            <a:off x="731520" y="2322576"/>
            <a:ext cx="3108960" cy="201168"/>
          </a:xfrm>
          <a:prstGeom prst="rect">
            <a:avLst/>
          </a:prstGeom>
          <a:noFill/>
        </p:spPr>
        <p:txBody>
          <a:bodyPr wrap="square"/>
          <a:lstStyle/>
          <a:p>
            <a:pPr algn="l"/>
            <a:r>
              <a:rPr sz="900" b="0">
                <a:solidFill>
                  <a:srgbClr val="2D2D2D"/>
                </a:solidFill>
              </a:rPr>
              <a:t>  • 其他智能体视为环境一部分</a:t>
            </a:r>
            <a:endParaRPr sz="900" b="0">
              <a:solidFill>
                <a:srgbClr val="2D2D2D"/>
              </a:solidFill>
            </a:endParaRPr>
          </a:p>
        </p:txBody>
      </p:sp>
      <p:sp>
        <p:nvSpPr>
          <p:cNvPr id="13" name="TextBox 12"/>
          <p:cNvSpPr txBox="1"/>
          <p:nvPr/>
        </p:nvSpPr>
        <p:spPr>
          <a:xfrm>
            <a:off x="731520" y="2679192"/>
            <a:ext cx="3108960" cy="228600"/>
          </a:xfrm>
          <a:prstGeom prst="rect">
            <a:avLst/>
          </a:prstGeom>
          <a:noFill/>
        </p:spPr>
        <p:txBody>
          <a:bodyPr wrap="square"/>
          <a:lstStyle/>
          <a:p>
            <a:pPr algn="l"/>
            <a:r>
              <a:rPr sz="1100" b="1">
                <a:solidFill>
                  <a:srgbClr val="1A56A8"/>
                </a:solidFill>
              </a:rPr>
              <a:t>特点</a:t>
            </a:r>
            <a:endParaRPr sz="1100" b="1">
              <a:solidFill>
                <a:srgbClr val="1A56A8"/>
              </a:solidFill>
            </a:endParaRPr>
          </a:p>
        </p:txBody>
      </p:sp>
      <p:sp>
        <p:nvSpPr>
          <p:cNvPr id="14" name="TextBox 13"/>
          <p:cNvSpPr txBox="1"/>
          <p:nvPr/>
        </p:nvSpPr>
        <p:spPr>
          <a:xfrm>
            <a:off x="731520" y="2935224"/>
            <a:ext cx="3108960" cy="201168"/>
          </a:xfrm>
          <a:prstGeom prst="rect">
            <a:avLst/>
          </a:prstGeom>
          <a:noFill/>
        </p:spPr>
        <p:txBody>
          <a:bodyPr wrap="square"/>
          <a:lstStyle/>
          <a:p>
            <a:pPr algn="l"/>
            <a:r>
              <a:rPr sz="900" b="0">
                <a:solidFill>
                  <a:srgbClr val="2D2D2D"/>
                </a:solidFill>
              </a:rPr>
              <a:t>  • 无需通信开销</a:t>
            </a:r>
            <a:endParaRPr sz="900" b="0">
              <a:solidFill>
                <a:srgbClr val="2D2D2D"/>
              </a:solidFill>
            </a:endParaRPr>
          </a:p>
        </p:txBody>
      </p:sp>
      <p:sp>
        <p:nvSpPr>
          <p:cNvPr id="15" name="TextBox 14"/>
          <p:cNvSpPr txBox="1"/>
          <p:nvPr/>
        </p:nvSpPr>
        <p:spPr>
          <a:xfrm>
            <a:off x="731520" y="3154680"/>
            <a:ext cx="3108960" cy="201168"/>
          </a:xfrm>
          <a:prstGeom prst="rect">
            <a:avLst/>
          </a:prstGeom>
          <a:noFill/>
        </p:spPr>
        <p:txBody>
          <a:bodyPr wrap="square"/>
          <a:lstStyle/>
          <a:p>
            <a:pPr algn="l"/>
            <a:r>
              <a:rPr sz="900" b="0">
                <a:solidFill>
                  <a:srgbClr val="2D2D2D"/>
                </a:solidFill>
              </a:rPr>
              <a:t>  • PPO 裁剪机制缓解非平稳性</a:t>
            </a:r>
            <a:endParaRPr sz="900" b="0">
              <a:solidFill>
                <a:srgbClr val="2D2D2D"/>
              </a:solidFill>
            </a:endParaRPr>
          </a:p>
        </p:txBody>
      </p:sp>
      <p:sp>
        <p:nvSpPr>
          <p:cNvPr id="16" name="TextBox 15"/>
          <p:cNvSpPr txBox="1"/>
          <p:nvPr/>
        </p:nvSpPr>
        <p:spPr>
          <a:xfrm>
            <a:off x="731520" y="3374136"/>
            <a:ext cx="3108960" cy="201168"/>
          </a:xfrm>
          <a:prstGeom prst="rect">
            <a:avLst/>
          </a:prstGeom>
          <a:noFill/>
        </p:spPr>
        <p:txBody>
          <a:bodyPr wrap="square"/>
          <a:lstStyle/>
          <a:p>
            <a:pPr algn="l"/>
            <a:r>
              <a:rPr sz="900" b="0">
                <a:solidFill>
                  <a:srgbClr val="2D2D2D"/>
                </a:solidFill>
              </a:rPr>
              <a:t>  • 训练环境非平稳（对手也在更新）</a:t>
            </a:r>
            <a:endParaRPr sz="900" b="0">
              <a:solidFill>
                <a:srgbClr val="2D2D2D"/>
              </a:solidFill>
            </a:endParaRPr>
          </a:p>
        </p:txBody>
      </p:sp>
      <p:sp>
        <p:nvSpPr>
          <p:cNvPr id="17" name="Rounded Rectangle 16"/>
          <p:cNvSpPr/>
          <p:nvPr/>
        </p:nvSpPr>
        <p:spPr>
          <a:xfrm>
            <a:off x="4297680" y="1078992"/>
            <a:ext cx="3429000" cy="475488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07408" y="1188720"/>
            <a:ext cx="2743200" cy="320040"/>
          </a:xfrm>
          <a:prstGeom prst="roundRect">
            <a:avLst>
              <a:gd name="adj" fmla="val 5000"/>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对手池博弈 (PFSP)</a:t>
            </a:r>
            <a:endParaRPr sz="1200" b="1">
              <a:solidFill>
                <a:srgbClr val="FFFFFF"/>
              </a:solidFill>
            </a:endParaRPr>
          </a:p>
        </p:txBody>
      </p:sp>
      <p:sp>
        <p:nvSpPr>
          <p:cNvPr id="19" name="TextBox 18"/>
          <p:cNvSpPr txBox="1"/>
          <p:nvPr/>
        </p:nvSpPr>
        <p:spPr>
          <a:xfrm>
            <a:off x="4434840" y="1627632"/>
            <a:ext cx="3108960" cy="228600"/>
          </a:xfrm>
          <a:prstGeom prst="rect">
            <a:avLst/>
          </a:prstGeom>
          <a:noFill/>
        </p:spPr>
        <p:txBody>
          <a:bodyPr wrap="square"/>
          <a:lstStyle/>
          <a:p>
            <a:pPr algn="l"/>
            <a:r>
              <a:rPr sz="1100" b="1">
                <a:solidFill>
                  <a:srgbClr val="1A56A8"/>
                </a:solidFill>
              </a:rPr>
              <a:t>PSRO 框架轻量变体</a:t>
            </a:r>
            <a:endParaRPr sz="1100" b="1">
              <a:solidFill>
                <a:srgbClr val="1A56A8"/>
              </a:solidFill>
            </a:endParaRPr>
          </a:p>
        </p:txBody>
      </p:sp>
      <p:sp>
        <p:nvSpPr>
          <p:cNvPr id="20" name="TextBox 19"/>
          <p:cNvSpPr txBox="1"/>
          <p:nvPr/>
        </p:nvSpPr>
        <p:spPr>
          <a:xfrm>
            <a:off x="4434840" y="1883664"/>
            <a:ext cx="3108960" cy="201168"/>
          </a:xfrm>
          <a:prstGeom prst="rect">
            <a:avLst/>
          </a:prstGeom>
          <a:noFill/>
        </p:spPr>
        <p:txBody>
          <a:bodyPr wrap="square"/>
          <a:lstStyle/>
          <a:p>
            <a:pPr algn="l"/>
            <a:r>
              <a:rPr sz="900" b="0">
                <a:solidFill>
                  <a:srgbClr val="2D2D2D"/>
                </a:solidFill>
              </a:rPr>
              <a:t>  • 每回合从对手池采样对手组合</a:t>
            </a:r>
            <a:endParaRPr sz="900" b="0">
              <a:solidFill>
                <a:srgbClr val="2D2D2D"/>
              </a:solidFill>
            </a:endParaRPr>
          </a:p>
        </p:txBody>
      </p:sp>
      <p:sp>
        <p:nvSpPr>
          <p:cNvPr id="21" name="TextBox 20"/>
          <p:cNvSpPr txBox="1"/>
          <p:nvPr/>
        </p:nvSpPr>
        <p:spPr>
          <a:xfrm>
            <a:off x="4434840" y="2103120"/>
            <a:ext cx="3108960" cy="201168"/>
          </a:xfrm>
          <a:prstGeom prst="rect">
            <a:avLst/>
          </a:prstGeom>
          <a:noFill/>
        </p:spPr>
        <p:txBody>
          <a:bodyPr wrap="square"/>
          <a:lstStyle/>
          <a:p>
            <a:pPr algn="l"/>
            <a:r>
              <a:rPr sz="900" b="0">
                <a:solidFill>
                  <a:srgbClr val="2D2D2D"/>
                </a:solidFill>
              </a:rPr>
              <a:t>  • PFSP 采样：以概率 ε 随机，以 1−ε 按 EMA 奖励加权</a:t>
            </a:r>
            <a:endParaRPr sz="900" b="0">
              <a:solidFill>
                <a:srgbClr val="2D2D2D"/>
              </a:solidFill>
            </a:endParaRPr>
          </a:p>
        </p:txBody>
      </p:sp>
      <p:sp>
        <p:nvSpPr>
          <p:cNvPr id="22" name="TextBox 21"/>
          <p:cNvSpPr txBox="1"/>
          <p:nvPr/>
        </p:nvSpPr>
        <p:spPr>
          <a:xfrm>
            <a:off x="4434840" y="2322576"/>
            <a:ext cx="3108960" cy="201168"/>
          </a:xfrm>
          <a:prstGeom prst="rect">
            <a:avLst/>
          </a:prstGeom>
          <a:noFill/>
        </p:spPr>
        <p:txBody>
          <a:bodyPr wrap="square"/>
          <a:lstStyle/>
          <a:p>
            <a:pPr algn="l"/>
            <a:r>
              <a:rPr sz="900" b="0">
                <a:solidFill>
                  <a:srgbClr val="2D2D2D"/>
                </a:solidFill>
              </a:rPr>
              <a:t>  • 聚焦困难对手：奖励越低 → 采样概率越高</a:t>
            </a:r>
            <a:endParaRPr sz="900" b="0">
              <a:solidFill>
                <a:srgbClr val="2D2D2D"/>
              </a:solidFill>
            </a:endParaRPr>
          </a:p>
        </p:txBody>
      </p:sp>
      <p:sp>
        <p:nvSpPr>
          <p:cNvPr id="23" name="TextBox 22"/>
          <p:cNvSpPr txBox="1"/>
          <p:nvPr/>
        </p:nvSpPr>
        <p:spPr>
          <a:xfrm>
            <a:off x="4434840" y="2679192"/>
            <a:ext cx="3108960" cy="228600"/>
          </a:xfrm>
          <a:prstGeom prst="rect">
            <a:avLst/>
          </a:prstGeom>
          <a:noFill/>
        </p:spPr>
        <p:txBody>
          <a:bodyPr wrap="square"/>
          <a:lstStyle/>
          <a:p>
            <a:pPr algn="l"/>
            <a:r>
              <a:rPr sz="1100" b="1">
                <a:solidFill>
                  <a:srgbClr val="1A56A8"/>
                </a:solidFill>
              </a:rPr>
              <a:t>与标准 PFSP 差异</a:t>
            </a:r>
            <a:endParaRPr sz="1100" b="1">
              <a:solidFill>
                <a:srgbClr val="1A56A8"/>
              </a:solidFill>
            </a:endParaRPr>
          </a:p>
        </p:txBody>
      </p:sp>
      <p:sp>
        <p:nvSpPr>
          <p:cNvPr id="24" name="TextBox 23"/>
          <p:cNvSpPr txBox="1"/>
          <p:nvPr/>
        </p:nvSpPr>
        <p:spPr>
          <a:xfrm>
            <a:off x="4434840" y="2935224"/>
            <a:ext cx="3108960" cy="201168"/>
          </a:xfrm>
          <a:prstGeom prst="rect">
            <a:avLst/>
          </a:prstGeom>
          <a:noFill/>
        </p:spPr>
        <p:txBody>
          <a:bodyPr wrap="square"/>
          <a:lstStyle/>
          <a:p>
            <a:pPr algn="l"/>
            <a:r>
              <a:rPr sz="900" b="0">
                <a:solidFill>
                  <a:srgbClr val="2D2D2D"/>
                </a:solidFill>
              </a:rPr>
              <a:t>  • 静态对手池（不增长更新）</a:t>
            </a:r>
            <a:endParaRPr sz="900" b="0">
              <a:solidFill>
                <a:srgbClr val="2D2D2D"/>
              </a:solidFill>
            </a:endParaRPr>
          </a:p>
        </p:txBody>
      </p:sp>
      <p:sp>
        <p:nvSpPr>
          <p:cNvPr id="25" name="TextBox 24"/>
          <p:cNvSpPr txBox="1"/>
          <p:nvPr/>
        </p:nvSpPr>
        <p:spPr>
          <a:xfrm>
            <a:off x="4434840" y="3154680"/>
            <a:ext cx="3108960" cy="201168"/>
          </a:xfrm>
          <a:prstGeom prst="rect">
            <a:avLst/>
          </a:prstGeom>
          <a:noFill/>
        </p:spPr>
        <p:txBody>
          <a:bodyPr wrap="square"/>
          <a:lstStyle/>
          <a:p>
            <a:pPr algn="l"/>
            <a:r>
              <a:rPr sz="900" b="0">
                <a:solidFill>
                  <a:srgbClr val="2D2D2D"/>
                </a:solidFill>
              </a:rPr>
              <a:t>  • 无自博弈阶段</a:t>
            </a:r>
            <a:endParaRPr sz="900" b="0">
              <a:solidFill>
                <a:srgbClr val="2D2D2D"/>
              </a:solidFill>
            </a:endParaRPr>
          </a:p>
        </p:txBody>
      </p:sp>
      <p:sp>
        <p:nvSpPr>
          <p:cNvPr id="26" name="Rounded Rectangle 25"/>
          <p:cNvSpPr/>
          <p:nvPr/>
        </p:nvSpPr>
        <p:spPr>
          <a:xfrm>
            <a:off x="8001000" y="1078992"/>
            <a:ext cx="3429000" cy="475488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10728" y="1188720"/>
            <a:ext cx="2743200" cy="320040"/>
          </a:xfrm>
          <a:prstGeom prst="roundRect">
            <a:avLst>
              <a:gd name="adj" fmla="val 5000"/>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平均策略博弈</a:t>
            </a:r>
            <a:endParaRPr sz="1200" b="1">
              <a:solidFill>
                <a:srgbClr val="FFFFFF"/>
              </a:solidFill>
            </a:endParaRPr>
          </a:p>
        </p:txBody>
      </p:sp>
      <p:sp>
        <p:nvSpPr>
          <p:cNvPr id="28" name="TextBox 27"/>
          <p:cNvSpPr txBox="1"/>
          <p:nvPr/>
        </p:nvSpPr>
        <p:spPr>
          <a:xfrm>
            <a:off x="8138160" y="1627632"/>
            <a:ext cx="3108960" cy="228600"/>
          </a:xfrm>
          <a:prstGeom prst="rect">
            <a:avLst/>
          </a:prstGeom>
          <a:noFill/>
        </p:spPr>
        <p:txBody>
          <a:bodyPr wrap="square"/>
          <a:lstStyle/>
          <a:p>
            <a:pPr algn="l"/>
            <a:r>
              <a:rPr sz="1100" b="1">
                <a:solidFill>
                  <a:srgbClr val="1A56A8"/>
                </a:solidFill>
              </a:rPr>
              <a:t>虚拟博弈思想</a:t>
            </a:r>
            <a:endParaRPr sz="1100" b="1">
              <a:solidFill>
                <a:srgbClr val="1A56A8"/>
              </a:solidFill>
            </a:endParaRPr>
          </a:p>
        </p:txBody>
      </p:sp>
      <p:sp>
        <p:nvSpPr>
          <p:cNvPr id="29" name="TextBox 28"/>
          <p:cNvSpPr txBox="1"/>
          <p:nvPr/>
        </p:nvSpPr>
        <p:spPr>
          <a:xfrm>
            <a:off x="8138160" y="1883664"/>
            <a:ext cx="3108960" cy="201168"/>
          </a:xfrm>
          <a:prstGeom prst="rect">
            <a:avLst/>
          </a:prstGeom>
          <a:noFill/>
        </p:spPr>
        <p:txBody>
          <a:bodyPr wrap="square"/>
          <a:lstStyle/>
          <a:p>
            <a:pPr algn="l"/>
            <a:r>
              <a:rPr sz="900" b="0">
                <a:solidFill>
                  <a:srgbClr val="2D2D2D"/>
                </a:solidFill>
              </a:rPr>
              <a:t>  • 将 20 个对手抽象为均匀平均策略</a:t>
            </a:r>
            <a:endParaRPr sz="900" b="0">
              <a:solidFill>
                <a:srgbClr val="2D2D2D"/>
              </a:solidFill>
            </a:endParaRPr>
          </a:p>
        </p:txBody>
      </p:sp>
      <p:sp>
        <p:nvSpPr>
          <p:cNvPr id="30" name="TextBox 29"/>
          <p:cNvSpPr txBox="1"/>
          <p:nvPr/>
        </p:nvSpPr>
        <p:spPr>
          <a:xfrm>
            <a:off x="8138160" y="2103120"/>
            <a:ext cx="3108960" cy="201168"/>
          </a:xfrm>
          <a:prstGeom prst="rect">
            <a:avLst/>
          </a:prstGeom>
          <a:noFill/>
        </p:spPr>
        <p:txBody>
          <a:bodyPr wrap="square"/>
          <a:lstStyle/>
          <a:p>
            <a:pPr algn="l"/>
            <a:r>
              <a:rPr sz="900" b="0">
                <a:solidFill>
                  <a:srgbClr val="2D2D2D"/>
                </a:solidFill>
              </a:rPr>
              <a:t>  • 对动作概率分布取算术平均</a:t>
            </a:r>
            <a:endParaRPr sz="900" b="0">
              <a:solidFill>
                <a:srgbClr val="2D2D2D"/>
              </a:solidFill>
            </a:endParaRPr>
          </a:p>
        </p:txBody>
      </p:sp>
      <p:sp>
        <p:nvSpPr>
          <p:cNvPr id="31" name="TextBox 30"/>
          <p:cNvSpPr txBox="1"/>
          <p:nvPr/>
        </p:nvSpPr>
        <p:spPr>
          <a:xfrm>
            <a:off x="8138160" y="2459736"/>
            <a:ext cx="3108960" cy="228600"/>
          </a:xfrm>
          <a:prstGeom prst="rect">
            <a:avLst/>
          </a:prstGeom>
          <a:noFill/>
        </p:spPr>
        <p:txBody>
          <a:bodyPr wrap="square"/>
          <a:lstStyle/>
          <a:p>
            <a:pPr algn="l"/>
            <a:r>
              <a:rPr sz="1100" b="1">
                <a:solidFill>
                  <a:srgbClr val="1A56A8"/>
                </a:solidFill>
              </a:rPr>
              <a:t>特点</a:t>
            </a:r>
            <a:endParaRPr sz="1100" b="1">
              <a:solidFill>
                <a:srgbClr val="1A56A8"/>
              </a:solidFill>
            </a:endParaRPr>
          </a:p>
        </p:txBody>
      </p:sp>
      <p:sp>
        <p:nvSpPr>
          <p:cNvPr id="32" name="TextBox 31"/>
          <p:cNvSpPr txBox="1"/>
          <p:nvPr/>
        </p:nvSpPr>
        <p:spPr>
          <a:xfrm>
            <a:off x="8138160" y="2715768"/>
            <a:ext cx="3108960" cy="201168"/>
          </a:xfrm>
          <a:prstGeom prst="rect">
            <a:avLst/>
          </a:prstGeom>
          <a:noFill/>
        </p:spPr>
        <p:txBody>
          <a:bodyPr wrap="square"/>
          <a:lstStyle/>
          <a:p>
            <a:pPr algn="l"/>
            <a:r>
              <a:rPr sz="900" b="0">
                <a:solidFill>
                  <a:srgbClr val="2D2D2D"/>
                </a:solidFill>
              </a:rPr>
              <a:t>  • 对手分布稳定、可预测</a:t>
            </a:r>
            <a:endParaRPr sz="900" b="0">
              <a:solidFill>
                <a:srgbClr val="2D2D2D"/>
              </a:solidFill>
            </a:endParaRPr>
          </a:p>
        </p:txBody>
      </p:sp>
      <p:sp>
        <p:nvSpPr>
          <p:cNvPr id="33" name="TextBox 32"/>
          <p:cNvSpPr txBox="1"/>
          <p:nvPr/>
        </p:nvSpPr>
        <p:spPr>
          <a:xfrm>
            <a:off x="8138160" y="2935224"/>
            <a:ext cx="3108960" cy="201168"/>
          </a:xfrm>
          <a:prstGeom prst="rect">
            <a:avLst/>
          </a:prstGeom>
          <a:noFill/>
        </p:spPr>
        <p:txBody>
          <a:bodyPr wrap="square"/>
          <a:lstStyle/>
          <a:p>
            <a:pPr algn="l"/>
            <a:r>
              <a:rPr sz="900" b="0">
                <a:solidFill>
                  <a:srgbClr val="2D2D2D"/>
                </a:solidFill>
              </a:rPr>
              <a:t>  • 梯度噪声小，更新方向单一</a:t>
            </a:r>
            <a:endParaRPr sz="900" b="0">
              <a:solidFill>
                <a:srgbClr val="2D2D2D"/>
              </a:solidFill>
            </a:endParaRPr>
          </a:p>
        </p:txBody>
      </p:sp>
      <p:sp>
        <p:nvSpPr>
          <p:cNvPr id="34" name="TextBox 33"/>
          <p:cNvSpPr txBox="1"/>
          <p:nvPr/>
        </p:nvSpPr>
        <p:spPr>
          <a:xfrm>
            <a:off x="8138160" y="3154680"/>
            <a:ext cx="3108960" cy="201168"/>
          </a:xfrm>
          <a:prstGeom prst="rect">
            <a:avLst/>
          </a:prstGeom>
          <a:noFill/>
        </p:spPr>
        <p:txBody>
          <a:bodyPr wrap="square"/>
          <a:lstStyle/>
          <a:p>
            <a:pPr algn="l"/>
            <a:r>
              <a:rPr sz="900" b="0">
                <a:solidFill>
                  <a:srgbClr val="2D2D2D"/>
                </a:solidFill>
              </a:rPr>
              <a:t>  • 最有利于保持 PvE 行为</a:t>
            </a:r>
            <a:endParaRPr sz="900" b="0">
              <a:solidFill>
                <a:srgbClr val="2D2D2D"/>
              </a:solidFill>
            </a:endParaRPr>
          </a:p>
        </p:txBody>
      </p:sp>
      <p:pic>
        <p:nvPicPr>
          <p:cNvPr id="35" name="Picture 34" descr="gameplay_training_curves.png"/>
          <p:cNvPicPr>
            <a:picLocks noChangeAspect="1"/>
          </p:cNvPicPr>
          <p:nvPr/>
        </p:nvPicPr>
        <p:blipFill>
          <a:blip r:embed="rId1"/>
          <a:stretch>
            <a:fillRect/>
          </a:stretch>
        </p:blipFill>
        <p:spPr>
          <a:xfrm>
            <a:off x="7772400" y="2907792"/>
            <a:ext cx="3657600" cy="22086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475488"/>
          </a:xfrm>
          <a:prstGeom prst="rect">
            <a:avLst/>
          </a:prstGeom>
          <a:noFill/>
        </p:spPr>
        <p:txBody>
          <a:bodyPr wrap="square"/>
          <a:lstStyle/>
          <a:p>
            <a:pPr algn="l"/>
            <a:r>
              <a:rPr sz="2300" b="1">
                <a:solidFill>
                  <a:srgbClr val="1A56A8"/>
                </a:solidFill>
              </a:rPr>
              <a:t>多智能体实验结果</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0" y="384048"/>
            <a:ext cx="2926080" cy="475488"/>
          </a:xfrm>
          <a:prstGeom prst="rect">
            <a:avLst/>
          </a:prstGeom>
          <a:noFill/>
        </p:spPr>
        <p:txBody>
          <a:bodyPr wrap="square"/>
          <a:lstStyle/>
          <a:p>
            <a:pPr algn="r"/>
            <a:r>
              <a:rPr sz="1200" b="0">
                <a:solidFill>
                  <a:srgbClr val="6B7B8D"/>
                </a:solidFill>
              </a:rPr>
              <a:t>总体表现与统计显著性检验</a:t>
            </a:r>
            <a:endParaRPr sz="1200" b="0">
              <a:solidFill>
                <a:srgbClr val="6B7B8D"/>
              </a:solidFill>
            </a:endParaRPr>
          </a:p>
        </p:txBody>
      </p:sp>
      <p:sp>
        <p:nvSpPr>
          <p:cNvPr id="7" name="TextBox 6"/>
          <p:cNvSpPr txBox="1"/>
          <p:nvPr/>
        </p:nvSpPr>
        <p:spPr>
          <a:xfrm>
            <a:off x="594360" y="1078992"/>
            <a:ext cx="4572000" cy="274320"/>
          </a:xfrm>
          <a:prstGeom prst="rect">
            <a:avLst/>
          </a:prstGeom>
          <a:noFill/>
        </p:spPr>
        <p:txBody>
          <a:bodyPr wrap="square"/>
          <a:lstStyle/>
          <a:p>
            <a:pPr algn="l"/>
            <a:r>
              <a:rPr sz="1300" b="1">
                <a:solidFill>
                  <a:srgbClr val="1A56A8"/>
                </a:solidFill>
              </a:rPr>
              <a:t>评估结果总览（1000 局评估）</a:t>
            </a:r>
            <a:endParaRPr sz="1300" b="1">
              <a:solidFill>
                <a:srgbClr val="1A56A8"/>
              </a:solidFill>
            </a:endParaRPr>
          </a:p>
        </p:txBody>
      </p:sp>
      <p:graphicFrame>
        <p:nvGraphicFramePr>
          <p:cNvPr id="8" name="Table 7"/>
          <p:cNvGraphicFramePr>
            <a:graphicFrameLocks noGrp="1"/>
          </p:cNvGraphicFramePr>
          <p:nvPr/>
        </p:nvGraphicFramePr>
        <p:xfrm>
          <a:off x="594360" y="1426464"/>
          <a:ext cx="5486400" cy="1645920"/>
        </p:xfrm>
        <a:graphic>
          <a:graphicData uri="http://schemas.openxmlformats.org/drawingml/2006/table">
            <a:tbl>
              <a:tblPr firstRow="1" bandRow="1">
                <a:tableStyleId>{5C22544A-7EE6-4342-B048-85BDC9FD1C3A}</a:tableStyleId>
              </a:tblPr>
              <a:tblGrid>
                <a:gridCol w="1463040"/>
                <a:gridCol w="2103120"/>
                <a:gridCol w="822960"/>
                <a:gridCol w="1097280"/>
              </a:tblGrid>
              <a:tr h="329184">
                <a:tc>
                  <a:txBody>
                    <a:bodyPr wrap="square"/>
                    <a:lstStyle/>
                    <a:p>
                      <a:r>
                        <a:rPr sz="1100" b="1">
                          <a:solidFill>
                            <a:srgbClr val="FFFFFF"/>
                          </a:solidFill>
                        </a:rPr>
                        <a:t>方法</a:t>
                      </a:r>
                      <a:endParaRPr sz="1100" b="1">
                        <a:solidFill>
                          <a:srgbClr val="FFFFFF"/>
                        </a:solidFill>
                      </a:endParaRPr>
                    </a:p>
                  </a:txBody>
                  <a:tcPr>
                    <a:solidFill>
                      <a:srgbClr val="1A56A8"/>
                    </a:solidFill>
                  </a:tcPr>
                </a:tc>
                <a:tc>
                  <a:txBody>
                    <a:bodyPr wrap="square"/>
                    <a:lstStyle/>
                    <a:p>
                      <a:r>
                        <a:rPr sz="1100" b="1">
                          <a:solidFill>
                            <a:srgbClr val="FFFFFF"/>
                          </a:solidFill>
                        </a:rPr>
                        <a:t>均奖励 [95% CI]</a:t>
                      </a:r>
                      <a:endParaRPr sz="1100" b="1">
                        <a:solidFill>
                          <a:srgbClr val="FFFFFF"/>
                        </a:solidFill>
                      </a:endParaRPr>
                    </a:p>
                  </a:txBody>
                  <a:tcPr>
                    <a:solidFill>
                      <a:srgbClr val="1A56A8"/>
                    </a:solidFill>
                  </a:tcPr>
                </a:tc>
                <a:tc>
                  <a:txBody>
                    <a:bodyPr wrap="square"/>
                    <a:lstStyle/>
                    <a:p>
                      <a:r>
                        <a:rPr sz="1100" b="1">
                          <a:solidFill>
                            <a:srgbClr val="FFFFFF"/>
                          </a:solidFill>
                        </a:rPr>
                        <a:t>σ</a:t>
                      </a:r>
                      <a:endParaRPr sz="1100" b="1">
                        <a:solidFill>
                          <a:srgbClr val="FFFFFF"/>
                        </a:solidFill>
                      </a:endParaRPr>
                    </a:p>
                  </a:txBody>
                  <a:tcPr>
                    <a:solidFill>
                      <a:srgbClr val="1A56A8"/>
                    </a:solidFill>
                  </a:tcPr>
                </a:tc>
                <a:tc>
                  <a:txBody>
                    <a:bodyPr wrap="square"/>
                    <a:lstStyle/>
                    <a:p>
                      <a:r>
                        <a:rPr sz="1100" b="1">
                          <a:solidFill>
                            <a:srgbClr val="FFFFFF"/>
                          </a:solidFill>
                        </a:rPr>
                        <a:t>Cohen's d</a:t>
                      </a:r>
                      <a:endParaRPr sz="1100" b="1">
                        <a:solidFill>
                          <a:srgbClr val="FFFFFF"/>
                        </a:solidFill>
                      </a:endParaRPr>
                    </a:p>
                  </a:txBody>
                  <a:tcPr>
                    <a:solidFill>
                      <a:srgbClr val="1A56A8"/>
                    </a:solidFill>
                  </a:tcPr>
                </a:tc>
              </a:tr>
              <a:tr h="329184">
                <a:tc>
                  <a:txBody>
                    <a:bodyPr wrap="square"/>
                    <a:lstStyle/>
                    <a:p>
                      <a:r>
                        <a:rPr sz="1100">
                          <a:solidFill>
                            <a:srgbClr val="2D2D2D"/>
                          </a:solidFill>
                        </a:rPr>
                        <a:t>初始策略对照</a:t>
                      </a:r>
                      <a:endParaRPr sz="1100">
                        <a:solidFill>
                          <a:srgbClr val="2D2D2D"/>
                        </a:solidFill>
                      </a:endParaRPr>
                    </a:p>
                  </a:txBody>
                  <a:tcPr/>
                </a:tc>
                <a:tc>
                  <a:txBody>
                    <a:bodyPr wrap="square"/>
                    <a:lstStyle/>
                    <a:p>
                      <a:r>
                        <a:rPr sz="1100">
                          <a:solidFill>
                            <a:srgbClr val="2D2D2D"/>
                          </a:solidFill>
                        </a:rPr>
                        <a:t>598.5 [589.2, 607.5]</a:t>
                      </a:r>
                      <a:endParaRPr sz="1100">
                        <a:solidFill>
                          <a:srgbClr val="2D2D2D"/>
                        </a:solidFill>
                      </a:endParaRPr>
                    </a:p>
                  </a:txBody>
                  <a:tcPr/>
                </a:tc>
                <a:tc>
                  <a:txBody>
                    <a:bodyPr wrap="square"/>
                    <a:lstStyle/>
                    <a:p>
                      <a:r>
                        <a:rPr sz="1100">
                          <a:solidFill>
                            <a:srgbClr val="2D2D2D"/>
                          </a:solidFill>
                        </a:rPr>
                        <a:t>130.9</a:t>
                      </a:r>
                      <a:endParaRPr sz="1100">
                        <a:solidFill>
                          <a:srgbClr val="2D2D2D"/>
                        </a:solidFill>
                      </a:endParaRPr>
                    </a:p>
                  </a:txBody>
                  <a:tcPr/>
                </a:tc>
                <a:tc>
                  <a:txBody>
                    <a:bodyPr wrap="square"/>
                    <a:lstStyle/>
                    <a:p>
                      <a:r>
                        <a:rPr sz="1100">
                          <a:solidFill>
                            <a:srgbClr val="2D2D2D"/>
                          </a:solidFill>
                        </a:rPr>
                        <a:t>—</a:t>
                      </a:r>
                      <a:endParaRPr sz="1100">
                        <a:solidFill>
                          <a:srgbClr val="2D2D2D"/>
                        </a:solidFill>
                      </a:endParaRPr>
                    </a:p>
                  </a:txBody>
                  <a:tcPr/>
                </a:tc>
              </a:tr>
              <a:tr h="329184">
                <a:tc>
                  <a:txBody>
                    <a:bodyPr wrap="square"/>
                    <a:lstStyle/>
                    <a:p>
                      <a:r>
                        <a:rPr sz="1100">
                          <a:solidFill>
                            <a:srgbClr val="2D2D2D"/>
                          </a:solidFill>
                        </a:rPr>
                        <a:t>平均策略博弈</a:t>
                      </a:r>
                      <a:endParaRPr sz="1100">
                        <a:solidFill>
                          <a:srgbClr val="2D2D2D"/>
                        </a:solidFill>
                      </a:endParaRPr>
                    </a:p>
                  </a:txBody>
                  <a:tcPr/>
                </a:tc>
                <a:tc>
                  <a:txBody>
                    <a:bodyPr wrap="square"/>
                    <a:lstStyle/>
                    <a:p>
                      <a:r>
                        <a:rPr sz="1100">
                          <a:solidFill>
                            <a:srgbClr val="2D2D2D"/>
                          </a:solidFill>
                        </a:rPr>
                        <a:t>573.2 [563.2, 584.1]</a:t>
                      </a:r>
                      <a:endParaRPr sz="1100">
                        <a:solidFill>
                          <a:srgbClr val="2D2D2D"/>
                        </a:solidFill>
                      </a:endParaRPr>
                    </a:p>
                  </a:txBody>
                  <a:tcPr/>
                </a:tc>
                <a:tc>
                  <a:txBody>
                    <a:bodyPr wrap="square"/>
                    <a:lstStyle/>
                    <a:p>
                      <a:r>
                        <a:rPr sz="1100">
                          <a:solidFill>
                            <a:srgbClr val="2D2D2D"/>
                          </a:solidFill>
                        </a:rPr>
                        <a:t>116.7</a:t>
                      </a:r>
                      <a:endParaRPr sz="1100">
                        <a:solidFill>
                          <a:srgbClr val="2D2D2D"/>
                        </a:solidFill>
                      </a:endParaRPr>
                    </a:p>
                  </a:txBody>
                  <a:tcPr/>
                </a:tc>
                <a:tc>
                  <a:txBody>
                    <a:bodyPr wrap="square"/>
                    <a:lstStyle/>
                    <a:p>
                      <a:r>
                        <a:rPr sz="1100">
                          <a:solidFill>
                            <a:srgbClr val="2D2D2D"/>
                          </a:solidFill>
                        </a:rPr>
                        <a:t>−0.95</a:t>
                      </a:r>
                      <a:endParaRPr sz="1100">
                        <a:solidFill>
                          <a:srgbClr val="2D2D2D"/>
                        </a:solidFill>
                      </a:endParaRPr>
                    </a:p>
                  </a:txBody>
                  <a:tcPr/>
                </a:tc>
              </a:tr>
              <a:tr h="329184">
                <a:tc>
                  <a:txBody>
                    <a:bodyPr wrap="square"/>
                    <a:lstStyle/>
                    <a:p>
                      <a:r>
                        <a:rPr sz="1100">
                          <a:solidFill>
                            <a:srgbClr val="2D2D2D"/>
                          </a:solidFill>
                        </a:rPr>
                        <a:t>IPPO</a:t>
                      </a:r>
                      <a:endParaRPr sz="1100">
                        <a:solidFill>
                          <a:srgbClr val="2D2D2D"/>
                        </a:solidFill>
                      </a:endParaRPr>
                    </a:p>
                  </a:txBody>
                  <a:tcPr/>
                </a:tc>
                <a:tc>
                  <a:txBody>
                    <a:bodyPr wrap="square"/>
                    <a:lstStyle/>
                    <a:p>
                      <a:r>
                        <a:rPr sz="1100">
                          <a:solidFill>
                            <a:srgbClr val="2D2D2D"/>
                          </a:solidFill>
                        </a:rPr>
                        <a:t>534.4 [526.3, 542.8]</a:t>
                      </a:r>
                      <a:endParaRPr sz="1100">
                        <a:solidFill>
                          <a:srgbClr val="2D2D2D"/>
                        </a:solidFill>
                      </a:endParaRPr>
                    </a:p>
                  </a:txBody>
                  <a:tcPr/>
                </a:tc>
                <a:tc>
                  <a:txBody>
                    <a:bodyPr wrap="square"/>
                    <a:lstStyle/>
                    <a:p>
                      <a:r>
                        <a:rPr sz="1100">
                          <a:solidFill>
                            <a:srgbClr val="2D2D2D"/>
                          </a:solidFill>
                        </a:rPr>
                        <a:t>113.4</a:t>
                      </a:r>
                      <a:endParaRPr sz="1100">
                        <a:solidFill>
                          <a:srgbClr val="2D2D2D"/>
                        </a:solidFill>
                      </a:endParaRPr>
                    </a:p>
                  </a:txBody>
                  <a:tcPr/>
                </a:tc>
                <a:tc>
                  <a:txBody>
                    <a:bodyPr wrap="square"/>
                    <a:lstStyle/>
                    <a:p>
                      <a:r>
                        <a:rPr sz="1100">
                          <a:solidFill>
                            <a:srgbClr val="2D2D2D"/>
                          </a:solidFill>
                        </a:rPr>
                        <a:t>−2.47</a:t>
                      </a:r>
                      <a:endParaRPr sz="1100">
                        <a:solidFill>
                          <a:srgbClr val="2D2D2D"/>
                        </a:solidFill>
                      </a:endParaRPr>
                    </a:p>
                  </a:txBody>
                  <a:tcPr/>
                </a:tc>
              </a:tr>
              <a:tr h="329184">
                <a:tc>
                  <a:txBody>
                    <a:bodyPr wrap="square"/>
                    <a:lstStyle/>
                    <a:p>
                      <a:r>
                        <a:rPr sz="1100">
                          <a:solidFill>
                            <a:srgbClr val="2D2D2D"/>
                          </a:solidFill>
                        </a:rPr>
                        <a:t>对手池博弈</a:t>
                      </a:r>
                      <a:endParaRPr sz="1100">
                        <a:solidFill>
                          <a:srgbClr val="2D2D2D"/>
                        </a:solidFill>
                      </a:endParaRPr>
                    </a:p>
                  </a:txBody>
                  <a:tcPr/>
                </a:tc>
                <a:tc>
                  <a:txBody>
                    <a:bodyPr wrap="square"/>
                    <a:lstStyle/>
                    <a:p>
                      <a:r>
                        <a:rPr sz="1100">
                          <a:solidFill>
                            <a:srgbClr val="2D2D2D"/>
                          </a:solidFill>
                        </a:rPr>
                        <a:t>328.2 [319.0, 336.8]</a:t>
                      </a:r>
                      <a:endParaRPr sz="1100">
                        <a:solidFill>
                          <a:srgbClr val="2D2D2D"/>
                        </a:solidFill>
                      </a:endParaRPr>
                    </a:p>
                  </a:txBody>
                  <a:tcPr/>
                </a:tc>
                <a:tc>
                  <a:txBody>
                    <a:bodyPr wrap="square"/>
                    <a:lstStyle/>
                    <a:p>
                      <a:r>
                        <a:rPr sz="1100">
                          <a:solidFill>
                            <a:srgbClr val="2D2D2D"/>
                          </a:solidFill>
                        </a:rPr>
                        <a:t>134.6</a:t>
                      </a:r>
                      <a:endParaRPr sz="1100">
                        <a:solidFill>
                          <a:srgbClr val="2D2D2D"/>
                        </a:solidFill>
                      </a:endParaRPr>
                    </a:p>
                  </a:txBody>
                  <a:tcPr/>
                </a:tc>
                <a:tc>
                  <a:txBody>
                    <a:bodyPr wrap="square"/>
                    <a:lstStyle/>
                    <a:p>
                      <a:r>
                        <a:rPr sz="1100">
                          <a:solidFill>
                            <a:srgbClr val="2D2D2D"/>
                          </a:solidFill>
                        </a:rPr>
                        <a:t>−8.03</a:t>
                      </a:r>
                      <a:endParaRPr sz="1100">
                        <a:solidFill>
                          <a:srgbClr val="2D2D2D"/>
                        </a:solidFill>
                      </a:endParaRPr>
                    </a:p>
                  </a:txBody>
                  <a:tcPr/>
                </a:tc>
              </a:tr>
            </a:tbl>
          </a:graphicData>
        </a:graphic>
      </p:graphicFrame>
      <p:sp>
        <p:nvSpPr>
          <p:cNvPr id="9" name="TextBox 8"/>
          <p:cNvSpPr txBox="1"/>
          <p:nvPr/>
        </p:nvSpPr>
        <p:spPr>
          <a:xfrm>
            <a:off x="6583680" y="1078992"/>
            <a:ext cx="5029200" cy="274320"/>
          </a:xfrm>
          <a:prstGeom prst="rect">
            <a:avLst/>
          </a:prstGeom>
          <a:noFill/>
        </p:spPr>
        <p:txBody>
          <a:bodyPr wrap="square"/>
          <a:lstStyle/>
          <a:p>
            <a:pPr algn="l"/>
            <a:r>
              <a:rPr sz="1300" b="1">
                <a:solidFill>
                  <a:srgbClr val="1A56A8"/>
                </a:solidFill>
              </a:rPr>
              <a:t>配对效应量 (Cohen's d)</a:t>
            </a:r>
            <a:endParaRPr sz="1300" b="1">
              <a:solidFill>
                <a:srgbClr val="1A56A8"/>
              </a:solidFill>
            </a:endParaRPr>
          </a:p>
        </p:txBody>
      </p:sp>
      <p:pic>
        <p:nvPicPr>
          <p:cNvPr id="10" name="Picture 9" descr="eval_compare_effectsize.png"/>
          <p:cNvPicPr>
            <a:picLocks noChangeAspect="1"/>
          </p:cNvPicPr>
          <p:nvPr/>
        </p:nvPicPr>
        <p:blipFill>
          <a:blip r:embed="rId1"/>
          <a:stretch>
            <a:fillRect/>
          </a:stretch>
        </p:blipFill>
        <p:spPr>
          <a:xfrm>
            <a:off x="6583680" y="1426464"/>
            <a:ext cx="5029200" cy="3074095"/>
          </a:xfrm>
          <a:prstGeom prst="rect">
            <a:avLst/>
          </a:prstGeom>
        </p:spPr>
      </p:pic>
      <p:sp>
        <p:nvSpPr>
          <p:cNvPr id="11" name="TextBox 10"/>
          <p:cNvSpPr txBox="1"/>
          <p:nvPr/>
        </p:nvSpPr>
        <p:spPr>
          <a:xfrm>
            <a:off x="594360" y="3364992"/>
            <a:ext cx="5943600" cy="274320"/>
          </a:xfrm>
          <a:prstGeom prst="rect">
            <a:avLst/>
          </a:prstGeom>
          <a:noFill/>
        </p:spPr>
        <p:txBody>
          <a:bodyPr wrap="square"/>
          <a:lstStyle/>
          <a:p>
            <a:pPr algn="l"/>
            <a:r>
              <a:rPr sz="1300" b="1">
                <a:solidFill>
                  <a:srgbClr val="1A56A8"/>
                </a:solidFill>
              </a:rPr>
              <a:t>奖励对比与逐组表现</a:t>
            </a:r>
            <a:endParaRPr sz="1300" b="1">
              <a:solidFill>
                <a:srgbClr val="1A56A8"/>
              </a:solidFill>
            </a:endParaRPr>
          </a:p>
        </p:txBody>
      </p:sp>
      <p:pic>
        <p:nvPicPr>
          <p:cNvPr id="12" name="Picture 11" descr="eval_compare_reward.png"/>
          <p:cNvPicPr>
            <a:picLocks noChangeAspect="1"/>
          </p:cNvPicPr>
          <p:nvPr/>
        </p:nvPicPr>
        <p:blipFill>
          <a:blip r:embed="rId2"/>
          <a:stretch>
            <a:fillRect/>
          </a:stretch>
        </p:blipFill>
        <p:spPr>
          <a:xfrm>
            <a:off x="594360" y="3685032"/>
            <a:ext cx="5303520" cy="3750068"/>
          </a:xfrm>
          <a:prstGeom prst="rect">
            <a:avLst/>
          </a:prstGeom>
        </p:spPr>
      </p:pic>
      <p:pic>
        <p:nvPicPr>
          <p:cNvPr id="13" name="Picture 12" descr="eval_compare_pergroup.png"/>
          <p:cNvPicPr>
            <a:picLocks noChangeAspect="1"/>
          </p:cNvPicPr>
          <p:nvPr/>
        </p:nvPicPr>
        <p:blipFill>
          <a:blip r:embed="rId3"/>
          <a:stretch>
            <a:fillRect/>
          </a:stretch>
        </p:blipFill>
        <p:spPr>
          <a:xfrm>
            <a:off x="5943600" y="3685032"/>
            <a:ext cx="5303520" cy="2206705"/>
          </a:xfrm>
          <a:prstGeom prst="rect">
            <a:avLst/>
          </a:prstGeom>
        </p:spPr>
      </p:pic>
      <p:sp>
        <p:nvSpPr>
          <p:cNvPr id="14" name="Rounded Rectangle 13"/>
          <p:cNvSpPr/>
          <p:nvPr/>
        </p:nvSpPr>
        <p:spPr>
          <a:xfrm>
            <a:off x="594360" y="5879592"/>
            <a:ext cx="11000232" cy="594360"/>
          </a:xfrm>
          <a:prstGeom prst="roundRect">
            <a:avLst>
              <a:gd name="adj" fmla="val 5000"/>
            </a:avLst>
          </a:prstGeom>
          <a:solidFill>
            <a:srgbClr val="EBF0F7"/>
          </a:solidFill>
          <a:ln w="9525">
            <a:solidFill>
              <a:srgbClr val="C8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934456"/>
            <a:ext cx="10515600" cy="228600"/>
          </a:xfrm>
          <a:prstGeom prst="rect">
            <a:avLst/>
          </a:prstGeom>
          <a:noFill/>
        </p:spPr>
        <p:txBody>
          <a:bodyPr wrap="square"/>
          <a:lstStyle/>
          <a:p>
            <a:pPr algn="l"/>
            <a:r>
              <a:rPr sz="1300" b="1">
                <a:solidFill>
                  <a:srgbClr val="EF4444"/>
                </a:solidFill>
              </a:rPr>
              <a:t>核心发现：初始策略（PvE 主导）在所有指标上全面领先，三种博弈训练方法均导致系统性性能退化</a:t>
            </a:r>
            <a:endParaRPr sz="1300" b="1">
              <a:solidFill>
                <a:srgbClr val="EF4444"/>
              </a:solidFill>
            </a:endParaRPr>
          </a:p>
        </p:txBody>
      </p:sp>
      <p:sp>
        <p:nvSpPr>
          <p:cNvPr id="16" name="TextBox 15"/>
          <p:cNvSpPr txBox="1"/>
          <p:nvPr/>
        </p:nvSpPr>
        <p:spPr>
          <a:xfrm>
            <a:off x="777240" y="6181344"/>
            <a:ext cx="10515600" cy="228600"/>
          </a:xfrm>
          <a:prstGeom prst="rect">
            <a:avLst/>
          </a:prstGeom>
          <a:noFill/>
        </p:spPr>
        <p:txBody>
          <a:bodyPr wrap="square"/>
          <a:lstStyle/>
          <a:p>
            <a:pPr algn="l"/>
            <a:r>
              <a:rPr sz="1100" b="0">
                <a:solidFill>
                  <a:srgbClr val="6B7B8D"/>
                </a:solidFill>
              </a:rPr>
              <a:t>退化程度与对手分布稳定性正相关：平均策略博弈(d=−0.95) &gt; IPPO(d=−2.47) &gt; 对手池博弈(d=−8.03)</a:t>
            </a:r>
            <a:endParaRPr sz="1100" b="0">
              <a:solidFill>
                <a:srgbClr val="6B7B8D"/>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475488"/>
          </a:xfrm>
          <a:prstGeom prst="rect">
            <a:avLst/>
          </a:prstGeom>
          <a:noFill/>
        </p:spPr>
        <p:txBody>
          <a:bodyPr wrap="square"/>
          <a:lstStyle/>
          <a:p>
            <a:pPr algn="l"/>
            <a:r>
              <a:rPr sz="2300" b="1">
                <a:solidFill>
                  <a:srgbClr val="1A56A8"/>
                </a:solidFill>
              </a:rPr>
              <a:t>行为策略画像分析</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0" y="384048"/>
            <a:ext cx="2926080" cy="475488"/>
          </a:xfrm>
          <a:prstGeom prst="rect">
            <a:avLst/>
          </a:prstGeom>
          <a:noFill/>
        </p:spPr>
        <p:txBody>
          <a:bodyPr wrap="square"/>
          <a:lstStyle/>
          <a:p>
            <a:pPr algn="r"/>
            <a:r>
              <a:rPr sz="1200" b="0">
                <a:solidFill>
                  <a:srgbClr val="6B7B8D"/>
                </a:solidFill>
              </a:rPr>
              <a:t>退化机制：战斗投入 vs 资源收集的权衡</a:t>
            </a:r>
            <a:endParaRPr sz="1200" b="0">
              <a:solidFill>
                <a:srgbClr val="6B7B8D"/>
              </a:solidFill>
            </a:endParaRPr>
          </a:p>
        </p:txBody>
      </p:sp>
      <p:sp>
        <p:nvSpPr>
          <p:cNvPr id="7" name="TextBox 6"/>
          <p:cNvSpPr txBox="1"/>
          <p:nvPr/>
        </p:nvSpPr>
        <p:spPr>
          <a:xfrm>
            <a:off x="594360" y="1078992"/>
            <a:ext cx="5486400" cy="274320"/>
          </a:xfrm>
          <a:prstGeom prst="rect">
            <a:avLst/>
          </a:prstGeom>
          <a:noFill/>
        </p:spPr>
        <p:txBody>
          <a:bodyPr wrap="square"/>
          <a:lstStyle/>
          <a:p>
            <a:pPr algn="l"/>
            <a:r>
              <a:rPr sz="1300" b="1">
                <a:solidFill>
                  <a:srgbClr val="1A56A8"/>
                </a:solidFill>
              </a:rPr>
              <a:t>行为事件频率对比</a:t>
            </a:r>
            <a:endParaRPr sz="1300" b="1">
              <a:solidFill>
                <a:srgbClr val="1A56A8"/>
              </a:solidFill>
            </a:endParaRPr>
          </a:p>
        </p:txBody>
      </p:sp>
      <p:pic>
        <p:nvPicPr>
          <p:cNvPr id="8" name="Picture 7" descr="eval_compare_behavior_events.png"/>
          <p:cNvPicPr>
            <a:picLocks noChangeAspect="1"/>
          </p:cNvPicPr>
          <p:nvPr/>
        </p:nvPicPr>
        <p:blipFill>
          <a:blip r:embed="rId1"/>
          <a:stretch>
            <a:fillRect/>
          </a:stretch>
        </p:blipFill>
        <p:spPr>
          <a:xfrm>
            <a:off x="594360" y="1399032"/>
            <a:ext cx="5669280" cy="2305032"/>
          </a:xfrm>
          <a:prstGeom prst="rect">
            <a:avLst/>
          </a:prstGeom>
        </p:spPr>
      </p:pic>
      <p:sp>
        <p:nvSpPr>
          <p:cNvPr id="9" name="TextBox 8"/>
          <p:cNvSpPr txBox="1"/>
          <p:nvPr/>
        </p:nvSpPr>
        <p:spPr>
          <a:xfrm>
            <a:off x="6400800" y="1078992"/>
            <a:ext cx="5029200" cy="274320"/>
          </a:xfrm>
          <a:prstGeom prst="rect">
            <a:avLst/>
          </a:prstGeom>
          <a:noFill/>
        </p:spPr>
        <p:txBody>
          <a:bodyPr wrap="square"/>
          <a:lstStyle/>
          <a:p>
            <a:pPr algn="l"/>
            <a:r>
              <a:rPr sz="1300" b="1">
                <a:solidFill>
                  <a:srgbClr val="1A56A8"/>
                </a:solidFill>
              </a:rPr>
              <a:t>归一化行为画像</a:t>
            </a:r>
            <a:endParaRPr sz="1300" b="1">
              <a:solidFill>
                <a:srgbClr val="1A56A8"/>
              </a:solidFill>
            </a:endParaRPr>
          </a:p>
        </p:txBody>
      </p:sp>
      <p:pic>
        <p:nvPicPr>
          <p:cNvPr id="10" name="Picture 9" descr="eval_compare_behavior_profile.png"/>
          <p:cNvPicPr>
            <a:picLocks noChangeAspect="1"/>
          </p:cNvPicPr>
          <p:nvPr/>
        </p:nvPicPr>
        <p:blipFill>
          <a:blip r:embed="rId2"/>
          <a:stretch>
            <a:fillRect/>
          </a:stretch>
        </p:blipFill>
        <p:spPr>
          <a:xfrm>
            <a:off x="6400800" y="1399032"/>
            <a:ext cx="5029200" cy="3018666"/>
          </a:xfrm>
          <a:prstGeom prst="rect">
            <a:avLst/>
          </a:prstGeom>
        </p:spPr>
      </p:pic>
      <p:sp>
        <p:nvSpPr>
          <p:cNvPr id="11" name="TextBox 10"/>
          <p:cNvSpPr txBox="1"/>
          <p:nvPr/>
        </p:nvSpPr>
        <p:spPr>
          <a:xfrm>
            <a:off x="594360" y="4187952"/>
            <a:ext cx="5486400" cy="274320"/>
          </a:xfrm>
          <a:prstGeom prst="rect">
            <a:avLst/>
          </a:prstGeom>
          <a:noFill/>
        </p:spPr>
        <p:txBody>
          <a:bodyPr wrap="square"/>
          <a:lstStyle/>
          <a:p>
            <a:pPr algn="l"/>
            <a:r>
              <a:rPr sz="1300" b="1">
                <a:solidFill>
                  <a:srgbClr val="1A56A8"/>
                </a:solidFill>
              </a:rPr>
              <a:t>进攻 vs 资源收集权衡</a:t>
            </a:r>
            <a:endParaRPr sz="1300" b="1">
              <a:solidFill>
                <a:srgbClr val="1A56A8"/>
              </a:solidFill>
            </a:endParaRPr>
          </a:p>
        </p:txBody>
      </p:sp>
      <p:pic>
        <p:nvPicPr>
          <p:cNvPr id="12" name="Picture 11" descr="eval_compare_combat_collection.png"/>
          <p:cNvPicPr>
            <a:picLocks noChangeAspect="1"/>
          </p:cNvPicPr>
          <p:nvPr/>
        </p:nvPicPr>
        <p:blipFill>
          <a:blip r:embed="rId3"/>
          <a:stretch>
            <a:fillRect/>
          </a:stretch>
        </p:blipFill>
        <p:spPr>
          <a:xfrm>
            <a:off x="594360" y="4507992"/>
            <a:ext cx="5669280" cy="2303940"/>
          </a:xfrm>
          <a:prstGeom prst="rect">
            <a:avLst/>
          </a:prstGeom>
        </p:spPr>
      </p:pic>
      <p:sp>
        <p:nvSpPr>
          <p:cNvPr id="13" name="Rounded Rectangle 12"/>
          <p:cNvSpPr/>
          <p:nvPr/>
        </p:nvSpPr>
        <p:spPr>
          <a:xfrm>
            <a:off x="6400800" y="4187952"/>
            <a:ext cx="5212080" cy="246888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4279392"/>
            <a:ext cx="4754880" cy="256032"/>
          </a:xfrm>
          <a:prstGeom prst="rect">
            <a:avLst/>
          </a:prstGeom>
          <a:noFill/>
        </p:spPr>
        <p:txBody>
          <a:bodyPr wrap="square"/>
          <a:lstStyle/>
          <a:p>
            <a:pPr algn="l"/>
            <a:r>
              <a:rPr sz="1200" b="1">
                <a:solidFill>
                  <a:srgbClr val="1A56A8"/>
                </a:solidFill>
              </a:rPr>
              <a:t>行为画像结论</a:t>
            </a:r>
            <a:endParaRPr sz="1200" b="1">
              <a:solidFill>
                <a:srgbClr val="1A56A8"/>
              </a:solidFill>
            </a:endParaRPr>
          </a:p>
        </p:txBody>
      </p:sp>
      <p:sp>
        <p:nvSpPr>
          <p:cNvPr id="15" name="TextBox 14"/>
          <p:cNvSpPr txBox="1"/>
          <p:nvPr/>
        </p:nvSpPr>
        <p:spPr>
          <a:xfrm>
            <a:off x="6583680" y="4599432"/>
            <a:ext cx="4754880" cy="2011680"/>
          </a:xfrm>
          <a:prstGeom prst="rect">
            <a:avLst/>
          </a:prstGeom>
          <a:noFill/>
        </p:spPr>
        <p:txBody>
          <a:bodyPr wrap="square"/>
          <a:lstStyle/>
          <a:p>
            <a:pPr algn="l">
              <a:lnSpc>
                <a:spcPts val="1400"/>
              </a:lnSpc>
              <a:spcAft>
                <a:spcPts val="200"/>
              </a:spcAft>
            </a:pPr>
            <a:r>
              <a:rPr sz="1000" b="0">
                <a:solidFill>
                  <a:srgbClr val="2D2D2D"/>
                </a:solidFill>
              </a:rPr>
              <a:t>  初始策略：偏好 PvE，攻击频率 81.2 次/局（最高）</a:t>
            </a:r>
            <a:endParaRPr sz="1000" b="0">
              <a:solidFill>
                <a:srgbClr val="2D2D2D"/>
              </a:solidFill>
            </a:endParaRPr>
          </a:p>
          <a:p>
            <a:pPr algn="l">
              <a:lnSpc>
                <a:spcPts val="1400"/>
              </a:lnSpc>
              <a:spcAft>
                <a:spcPts val="200"/>
              </a:spcAft>
            </a:pPr>
            <a:r>
              <a:rPr sz="1000" b="0">
                <a:solidFill>
                  <a:srgbClr val="2D2D2D"/>
                </a:solidFill>
              </a:rPr>
              <a:t>  平均策略：均衡型，战斗减少 17%，收集提升 3.4 倍</a:t>
            </a:r>
            <a:endParaRPr sz="1000" b="0">
              <a:solidFill>
                <a:srgbClr val="2D2D2D"/>
              </a:solidFill>
            </a:endParaRPr>
          </a:p>
          <a:p>
            <a:pPr algn="l">
              <a:lnSpc>
                <a:spcPts val="1400"/>
              </a:lnSpc>
              <a:spcAft>
                <a:spcPts val="200"/>
              </a:spcAft>
            </a:pPr>
            <a:r>
              <a:rPr sz="1000" b="0">
                <a:solidFill>
                  <a:srgbClr val="2D2D2D"/>
                </a:solidFill>
              </a:rPr>
              <a:t>  IPPO：资源收集型，拾取 B 球 21.8 次（最高）</a:t>
            </a:r>
            <a:endParaRPr sz="1000" b="0">
              <a:solidFill>
                <a:srgbClr val="2D2D2D"/>
              </a:solidFill>
            </a:endParaRPr>
          </a:p>
          <a:p>
            <a:pPr algn="l">
              <a:lnSpc>
                <a:spcPts val="1400"/>
              </a:lnSpc>
              <a:spcAft>
                <a:spcPts val="200"/>
              </a:spcAft>
            </a:pPr>
            <a:r>
              <a:rPr sz="1000" b="0">
                <a:solidFill>
                  <a:srgbClr val="2D2D2D"/>
                </a:solidFill>
              </a:rPr>
              <a:t>  对手池：全面衰退，所有指标末位</a:t>
            </a:r>
            <a:endParaRPr sz="1000" b="0">
              <a:solidFill>
                <a:srgbClr val="2D2D2D"/>
              </a:solidFill>
            </a:endParaRPr>
          </a:p>
          <a:p>
            <a:pPr algn="l">
              <a:lnSpc>
                <a:spcPts val="1400"/>
              </a:lnSpc>
              <a:spcAft>
                <a:spcPts val="200"/>
              </a:spcAft>
            </a:pPr>
            <a:r>
              <a:rPr sz="1000" b="0">
                <a:solidFill>
                  <a:srgbClr val="2D2D2D"/>
                </a:solidFill>
              </a:rPr>
              <a:t>  PvE 是主要奖励来源，博弈训练使攻击性减弱</a:t>
            </a:r>
            <a:endParaRPr sz="1000" b="0">
              <a:solidFill>
                <a:srgbClr val="2D2D2D"/>
              </a:solidFill>
            </a:endParaRPr>
          </a:p>
          <a:p>
            <a:pPr algn="l">
              <a:lnSpc>
                <a:spcPts val="1400"/>
              </a:lnSpc>
              <a:spcAft>
                <a:spcPts val="200"/>
              </a:spcAft>
            </a:pPr>
            <a:r>
              <a:rPr sz="1000" b="0">
                <a:solidFill>
                  <a:srgbClr val="2D2D2D"/>
                </a:solidFill>
              </a:rPr>
              <a:t>  PvP 近乎对冲：近战对称，主动攻击收益低</a:t>
            </a:r>
            <a:endParaRPr sz="1000" b="0">
              <a:solidFill>
                <a:srgbClr val="2D2D2D"/>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475488"/>
          </a:xfrm>
          <a:prstGeom prst="rect">
            <a:avLst/>
          </a:prstGeom>
          <a:noFill/>
        </p:spPr>
        <p:txBody>
          <a:bodyPr wrap="square"/>
          <a:lstStyle/>
          <a:p>
            <a:pPr algn="l"/>
            <a:r>
              <a:rPr sz="2300" b="1">
                <a:solidFill>
                  <a:srgbClr val="1A56A8"/>
                </a:solidFill>
              </a:rPr>
              <a:t>迁移实验</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0" y="384048"/>
            <a:ext cx="2926080" cy="475488"/>
          </a:xfrm>
          <a:prstGeom prst="rect">
            <a:avLst/>
          </a:prstGeom>
          <a:noFill/>
        </p:spPr>
        <p:txBody>
          <a:bodyPr wrap="square"/>
          <a:lstStyle/>
          <a:p>
            <a:pPr algn="r"/>
            <a:r>
              <a:rPr sz="1200" b="0">
                <a:solidFill>
                  <a:srgbClr val="6B7B8D"/>
                </a:solidFill>
              </a:rPr>
              <a:t>PvP → PvE：因果层面验证</a:t>
            </a:r>
            <a:endParaRPr sz="1200" b="0">
              <a:solidFill>
                <a:srgbClr val="6B7B8D"/>
              </a:solidFill>
            </a:endParaRPr>
          </a:p>
        </p:txBody>
      </p:sp>
      <p:sp>
        <p:nvSpPr>
          <p:cNvPr id="7" name="Rounded Rectangle 6"/>
          <p:cNvSpPr/>
          <p:nvPr/>
        </p:nvSpPr>
        <p:spPr>
          <a:xfrm>
            <a:off x="594360" y="1078992"/>
            <a:ext cx="5303520" cy="91440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52144"/>
            <a:ext cx="4846320" cy="228600"/>
          </a:xfrm>
          <a:prstGeom prst="rect">
            <a:avLst/>
          </a:prstGeom>
          <a:noFill/>
        </p:spPr>
        <p:txBody>
          <a:bodyPr wrap="square"/>
          <a:lstStyle/>
          <a:p>
            <a:pPr algn="l"/>
            <a:r>
              <a:rPr sz="1200" b="1">
                <a:solidFill>
                  <a:srgbClr val="1A56A8"/>
                </a:solidFill>
              </a:rPr>
              <a:t>第一阶段：纯博弈环境训练 PvP</a:t>
            </a:r>
            <a:endParaRPr sz="1200" b="1">
              <a:solidFill>
                <a:srgbClr val="1A56A8"/>
              </a:solidFill>
            </a:endParaRPr>
          </a:p>
        </p:txBody>
      </p:sp>
      <p:sp>
        <p:nvSpPr>
          <p:cNvPr id="9" name="TextBox 8"/>
          <p:cNvSpPr txBox="1"/>
          <p:nvPr/>
        </p:nvSpPr>
        <p:spPr>
          <a:xfrm>
            <a:off x="777240" y="1426464"/>
            <a:ext cx="4846320" cy="457200"/>
          </a:xfrm>
          <a:prstGeom prst="rect">
            <a:avLst/>
          </a:prstGeom>
          <a:noFill/>
        </p:spPr>
        <p:txBody>
          <a:bodyPr wrap="square"/>
          <a:lstStyle/>
          <a:p>
            <a:pPr algn="l"/>
            <a:r>
              <a:rPr sz="1000" b="0">
                <a:solidFill>
                  <a:srgbClr val="2D2D2D"/>
                </a:solidFill>
              </a:rPr>
              <a:t>无敌人无奖励球，迫使发展 PvP 策略，约 500 万步达 600+ 分</a:t>
            </a:r>
            <a:endParaRPr sz="1000" b="0">
              <a:solidFill>
                <a:srgbClr val="2D2D2D"/>
              </a:solidFill>
            </a:endParaRPr>
          </a:p>
        </p:txBody>
      </p:sp>
      <p:sp>
        <p:nvSpPr>
          <p:cNvPr id="10" name="Rounded Rectangle 9"/>
          <p:cNvSpPr/>
          <p:nvPr/>
        </p:nvSpPr>
        <p:spPr>
          <a:xfrm>
            <a:off x="6126480" y="1078992"/>
            <a:ext cx="5303520" cy="914400"/>
          </a:xfrm>
          <a:prstGeom prst="roundRect">
            <a:avLst>
              <a:gd name="adj" fmla="val 5000"/>
            </a:avLst>
          </a:prstGeom>
          <a:solidFill>
            <a:srgbClr val="F5F7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152144"/>
            <a:ext cx="4846320" cy="228600"/>
          </a:xfrm>
          <a:prstGeom prst="rect">
            <a:avLst/>
          </a:prstGeom>
          <a:noFill/>
        </p:spPr>
        <p:txBody>
          <a:bodyPr wrap="square"/>
          <a:lstStyle/>
          <a:p>
            <a:pPr algn="l"/>
            <a:r>
              <a:rPr sz="1200" b="1">
                <a:solidFill>
                  <a:srgbClr val="1A56A8"/>
                </a:solidFill>
              </a:rPr>
              <a:t>第二阶段：迁移至完整环境</a:t>
            </a:r>
            <a:endParaRPr sz="1200" b="1">
              <a:solidFill>
                <a:srgbClr val="1A56A8"/>
              </a:solidFill>
            </a:endParaRPr>
          </a:p>
        </p:txBody>
      </p:sp>
      <p:sp>
        <p:nvSpPr>
          <p:cNvPr id="12" name="TextBox 11"/>
          <p:cNvSpPr txBox="1"/>
          <p:nvPr/>
        </p:nvSpPr>
        <p:spPr>
          <a:xfrm>
            <a:off x="6309360" y="1426464"/>
            <a:ext cx="4846320" cy="457200"/>
          </a:xfrm>
          <a:prstGeom prst="rect">
            <a:avLst/>
          </a:prstGeom>
          <a:noFill/>
        </p:spPr>
        <p:txBody>
          <a:bodyPr wrap="square"/>
          <a:lstStyle/>
          <a:p>
            <a:pPr algn="l"/>
            <a:r>
              <a:rPr sz="1000" b="0">
                <a:solidFill>
                  <a:srgbClr val="2D2D2D"/>
                </a:solidFill>
              </a:rPr>
              <a:t>引入 PvE 得分渠道，设策略更新组 + 冻结对照组，继续 650 万步</a:t>
            </a:r>
            <a:endParaRPr sz="1000" b="0">
              <a:solidFill>
                <a:srgbClr val="2D2D2D"/>
              </a:solidFill>
            </a:endParaRPr>
          </a:p>
        </p:txBody>
      </p:sp>
      <p:sp>
        <p:nvSpPr>
          <p:cNvPr id="13" name="TextBox 12"/>
          <p:cNvSpPr txBox="1"/>
          <p:nvPr/>
        </p:nvSpPr>
        <p:spPr>
          <a:xfrm>
            <a:off x="594360" y="2176272"/>
            <a:ext cx="5486400" cy="256032"/>
          </a:xfrm>
          <a:prstGeom prst="rect">
            <a:avLst/>
          </a:prstGeom>
          <a:noFill/>
        </p:spPr>
        <p:txBody>
          <a:bodyPr wrap="square"/>
          <a:lstStyle/>
          <a:p>
            <a:pPr algn="ctr"/>
            <a:r>
              <a:rPr sz="1200" b="0">
                <a:solidFill>
                  <a:srgbClr val="6B7B8D"/>
                </a:solidFill>
              </a:rPr>
              <a:t>策略更新组行为演化</a:t>
            </a:r>
            <a:endParaRPr sz="1200" b="0">
              <a:solidFill>
                <a:srgbClr val="6B7B8D"/>
              </a:solidFill>
            </a:endParaRPr>
          </a:p>
        </p:txBody>
      </p:sp>
      <p:pic>
        <p:nvPicPr>
          <p:cNvPr id="14" name="Picture 13" descr="migration_pvp_to_pve_unfrozen.png"/>
          <p:cNvPicPr>
            <a:picLocks noChangeAspect="1"/>
          </p:cNvPicPr>
          <p:nvPr/>
        </p:nvPicPr>
        <p:blipFill>
          <a:blip r:embed="rId1"/>
          <a:stretch>
            <a:fillRect/>
          </a:stretch>
        </p:blipFill>
        <p:spPr>
          <a:xfrm>
            <a:off x="594360" y="2450592"/>
            <a:ext cx="5486400" cy="3518034"/>
          </a:xfrm>
          <a:prstGeom prst="rect">
            <a:avLst/>
          </a:prstGeom>
        </p:spPr>
      </p:pic>
      <p:sp>
        <p:nvSpPr>
          <p:cNvPr id="15" name="TextBox 14"/>
          <p:cNvSpPr txBox="1"/>
          <p:nvPr/>
        </p:nvSpPr>
        <p:spPr>
          <a:xfrm>
            <a:off x="6126480" y="2176272"/>
            <a:ext cx="5486400" cy="256032"/>
          </a:xfrm>
          <a:prstGeom prst="rect">
            <a:avLst/>
          </a:prstGeom>
          <a:noFill/>
        </p:spPr>
        <p:txBody>
          <a:bodyPr wrap="square"/>
          <a:lstStyle/>
          <a:p>
            <a:pPr algn="ctr"/>
            <a:r>
              <a:rPr sz="1200" b="0">
                <a:solidFill>
                  <a:srgbClr val="6B7B8D"/>
                </a:solidFill>
              </a:rPr>
              <a:t>策略更新 vs 策略冻结对比</a:t>
            </a:r>
            <a:endParaRPr sz="1200" b="0">
              <a:solidFill>
                <a:srgbClr val="6B7B8D"/>
              </a:solidFill>
            </a:endParaRPr>
          </a:p>
        </p:txBody>
      </p:sp>
      <p:pic>
        <p:nvPicPr>
          <p:cNvPr id="16" name="Picture 15" descr="migration_pvp_to_pve_frozen_comparison.png"/>
          <p:cNvPicPr>
            <a:picLocks noChangeAspect="1"/>
          </p:cNvPicPr>
          <p:nvPr/>
        </p:nvPicPr>
        <p:blipFill>
          <a:blip r:embed="rId2"/>
          <a:stretch>
            <a:fillRect/>
          </a:stretch>
        </p:blipFill>
        <p:spPr>
          <a:xfrm>
            <a:off x="6126480" y="2450592"/>
            <a:ext cx="5486400" cy="4564031"/>
          </a:xfrm>
          <a:prstGeom prst="rect">
            <a:avLst/>
          </a:prstGeom>
        </p:spPr>
      </p:pic>
      <p:pic>
        <p:nvPicPr>
          <p:cNvPr id="17" name="Picture 16" descr="ch5_pvp_training_curve.png"/>
          <p:cNvPicPr>
            <a:picLocks noChangeAspect="1"/>
          </p:cNvPicPr>
          <p:nvPr/>
        </p:nvPicPr>
        <p:blipFill>
          <a:blip r:embed="rId3"/>
          <a:stretch>
            <a:fillRect/>
          </a:stretch>
        </p:blipFill>
        <p:spPr>
          <a:xfrm>
            <a:off x="3840480" y="2450592"/>
            <a:ext cx="4114800" cy="2441243"/>
          </a:xfrm>
          <a:prstGeom prst="rect">
            <a:avLst/>
          </a:prstGeom>
        </p:spPr>
      </p:pic>
      <p:sp>
        <p:nvSpPr>
          <p:cNvPr id="18" name="Rounded Rectangle 17"/>
          <p:cNvSpPr/>
          <p:nvPr/>
        </p:nvSpPr>
        <p:spPr>
          <a:xfrm>
            <a:off x="594360" y="5285232"/>
            <a:ext cx="11000232" cy="1188720"/>
          </a:xfrm>
          <a:prstGeom prst="roundRect">
            <a:avLst>
              <a:gd name="adj" fmla="val 5000"/>
            </a:avLst>
          </a:prstGeom>
          <a:solidFill>
            <a:srgbClr val="EBF0F7"/>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376672"/>
            <a:ext cx="10515600" cy="274320"/>
          </a:xfrm>
          <a:prstGeom prst="rect">
            <a:avLst/>
          </a:prstGeom>
          <a:noFill/>
        </p:spPr>
        <p:txBody>
          <a:bodyPr wrap="square"/>
          <a:lstStyle/>
          <a:p>
            <a:pPr algn="l"/>
            <a:r>
              <a:rPr sz="1400" b="1">
                <a:solidFill>
                  <a:srgbClr val="EF4444"/>
                </a:solidFill>
              </a:rPr>
              <a:t>因果推断</a:t>
            </a:r>
            <a:endParaRPr sz="1400" b="1">
              <a:solidFill>
                <a:srgbClr val="EF4444"/>
              </a:solidFill>
            </a:endParaRPr>
          </a:p>
        </p:txBody>
      </p:sp>
      <p:sp>
        <p:nvSpPr>
          <p:cNvPr id="20" name="TextBox 19"/>
          <p:cNvSpPr txBox="1"/>
          <p:nvPr/>
        </p:nvSpPr>
        <p:spPr>
          <a:xfrm>
            <a:off x="777240" y="5696712"/>
            <a:ext cx="10515600" cy="777240"/>
          </a:xfrm>
          <a:prstGeom prst="rect">
            <a:avLst/>
          </a:prstGeom>
          <a:noFill/>
        </p:spPr>
        <p:txBody>
          <a:bodyPr wrap="square"/>
          <a:lstStyle/>
          <a:p>
            <a:pPr algn="l">
              <a:lnSpc>
                <a:spcPts val="1500"/>
              </a:lnSpc>
              <a:spcAft>
                <a:spcPts val="200"/>
              </a:spcAft>
            </a:pPr>
            <a:r>
              <a:rPr sz="1100" b="0">
                <a:solidFill>
                  <a:srgbClr val="2D2D2D"/>
                </a:solidFill>
              </a:rPr>
              <a:t>  智能体具备充分 PvP 能力（纯博弈环境 600+ 分），但在存在 PvE 渠道时选择性放弃 PvP</a:t>
            </a:r>
            <a:endParaRPr sz="1100" b="0">
              <a:solidFill>
                <a:srgbClr val="2D2D2D"/>
              </a:solidFill>
            </a:endParaRPr>
          </a:p>
          <a:p>
            <a:pPr algn="l">
              <a:lnSpc>
                <a:spcPts val="1500"/>
              </a:lnSpc>
              <a:spcAft>
                <a:spcPts val="200"/>
              </a:spcAft>
            </a:pPr>
            <a:r>
              <a:rPr sz="1100" b="0">
                <a:solidFill>
                  <a:srgbClr val="2D2D2D"/>
                </a:solidFill>
              </a:rPr>
              <a:t>  PvP 伤害下降 61%，PvE 伤害上升 23%，攻击总次数稳定但目标重新分配</a:t>
            </a:r>
            <a:endParaRPr sz="1100" b="0">
              <a:solidFill>
                <a:srgbClr val="2D2D2D"/>
              </a:solidFill>
            </a:endParaRPr>
          </a:p>
          <a:p>
            <a:pPr algn="l">
              <a:lnSpc>
                <a:spcPts val="1500"/>
              </a:lnSpc>
              <a:spcAft>
                <a:spcPts val="200"/>
              </a:spcAft>
            </a:pPr>
            <a:r>
              <a:rPr sz="1100" b="0">
                <a:solidFill>
                  <a:srgbClr val="2D2D2D"/>
                </a:solidFill>
              </a:rPr>
              <a:t>  PvP 缺失是环境奖励结构驱动的理性选择，而非智能体能力限制</a:t>
            </a:r>
            <a:endParaRPr sz="1100" b="0">
              <a:solidFill>
                <a:srgbClr val="2D2D2D"/>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475488"/>
          </a:xfrm>
          <a:prstGeom prst="rect">
            <a:avLst/>
          </a:prstGeom>
          <a:noFill/>
        </p:spPr>
        <p:txBody>
          <a:bodyPr wrap="square"/>
          <a:lstStyle/>
          <a:p>
            <a:pPr algn="l"/>
            <a:r>
              <a:rPr sz="2300" b="1">
                <a:solidFill>
                  <a:srgbClr val="1A56A8"/>
                </a:solidFill>
              </a:rPr>
              <a:t>结论与展望</a:t>
            </a:r>
            <a:endParaRPr sz="2300" b="1">
              <a:solidFill>
                <a:srgbClr val="1A56A8"/>
              </a:solidFill>
            </a:endParaRPr>
          </a:p>
        </p:txBody>
      </p:sp>
      <p:cxnSp>
        <p:nvCxnSpPr>
          <p:cNvPr id="5" name="Connector 4"/>
          <p:cNvCxnSpPr/>
          <p:nvPr/>
        </p:nvCxnSpPr>
        <p:spPr>
          <a:xfrm>
            <a:off x="594360" y="932688"/>
            <a:ext cx="11000232"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1078992"/>
            <a:ext cx="5669280" cy="274320"/>
          </a:xfrm>
          <a:prstGeom prst="rect">
            <a:avLst/>
          </a:prstGeom>
          <a:noFill/>
        </p:spPr>
        <p:txBody>
          <a:bodyPr wrap="square"/>
          <a:lstStyle/>
          <a:p>
            <a:pPr algn="l"/>
            <a:r>
              <a:rPr sz="1500" b="1">
                <a:solidFill>
                  <a:srgbClr val="1A56A8"/>
                </a:solidFill>
              </a:rPr>
              <a:t>主要结论</a:t>
            </a:r>
            <a:endParaRPr sz="1500" b="1">
              <a:solidFill>
                <a:srgbClr val="1A56A8"/>
              </a:solidFill>
            </a:endParaRPr>
          </a:p>
        </p:txBody>
      </p:sp>
      <p:sp>
        <p:nvSpPr>
          <p:cNvPr id="7" name="TextBox 6"/>
          <p:cNvSpPr txBox="1"/>
          <p:nvPr/>
        </p:nvSpPr>
        <p:spPr>
          <a:xfrm>
            <a:off x="594360" y="1426464"/>
            <a:ext cx="5669280" cy="4114800"/>
          </a:xfrm>
          <a:prstGeom prst="rect">
            <a:avLst/>
          </a:prstGeom>
          <a:noFill/>
        </p:spPr>
        <p:txBody>
          <a:bodyPr wrap="square"/>
          <a:lstStyle/>
          <a:p>
            <a:pPr algn="l">
              <a:lnSpc>
                <a:spcPts val="1600"/>
              </a:lnSpc>
              <a:spcAft>
                <a:spcPts val="200"/>
              </a:spcAft>
            </a:pPr>
            <a:r>
              <a:rPr sz="1100" b="0">
                <a:solidFill>
                  <a:srgbClr val="2D2D2D"/>
                </a:solidFill>
              </a:rPr>
              <a:t>  线性势函数 + 最近球 + 0.5 稀疏撞墙惩罚为最优奖励配置</a:t>
            </a:r>
            <a:endParaRPr sz="1100" b="0">
              <a:solidFill>
                <a:srgbClr val="2D2D2D"/>
              </a:solidFill>
            </a:endParaRPr>
          </a:p>
          <a:p>
            <a:pPr algn="l">
              <a:lnSpc>
                <a:spcPts val="1600"/>
              </a:lnSpc>
              <a:spcAft>
                <a:spcPts val="200"/>
              </a:spcAft>
            </a:pPr>
            <a:r>
              <a:rPr sz="1100" b="0">
                <a:solidFill>
                  <a:srgbClr val="2D2D2D"/>
                </a:solidFill>
              </a:rPr>
              <a:t>  GRU 时序建模在本文环境（大视野+显式状态编码）中未转化为优势</a:t>
            </a:r>
            <a:endParaRPr sz="1100" b="0">
              <a:solidFill>
                <a:srgbClr val="2D2D2D"/>
              </a:solidFill>
            </a:endParaRPr>
          </a:p>
          <a:p>
            <a:pPr algn="l">
              <a:lnSpc>
                <a:spcPts val="1600"/>
              </a:lnSpc>
              <a:spcAft>
                <a:spcPts val="200"/>
              </a:spcAft>
            </a:pPr>
            <a:r>
              <a:rPr sz="1100" b="0">
                <a:solidFill>
                  <a:srgbClr val="2D2D2D"/>
                </a:solidFill>
              </a:rPr>
              <a:t>  初始策略（PvE 主导，598.5）显著优于三种博弈训练方法</a:t>
            </a:r>
            <a:endParaRPr sz="1100" b="0">
              <a:solidFill>
                <a:srgbClr val="2D2D2D"/>
              </a:solidFill>
            </a:endParaRPr>
          </a:p>
          <a:p>
            <a:pPr algn="l">
              <a:lnSpc>
                <a:spcPts val="1600"/>
              </a:lnSpc>
              <a:spcAft>
                <a:spcPts val="200"/>
              </a:spcAft>
            </a:pPr>
            <a:r>
              <a:rPr sz="1100" b="0">
                <a:solidFill>
                  <a:srgbClr val="2D2D2D"/>
                </a:solidFill>
              </a:rPr>
              <a:t>    • 平均策略博弈 573.2 (d=−0.95)</a:t>
            </a:r>
            <a:endParaRPr sz="1100" b="0">
              <a:solidFill>
                <a:srgbClr val="2D2D2D"/>
              </a:solidFill>
            </a:endParaRPr>
          </a:p>
          <a:p>
            <a:pPr algn="l">
              <a:lnSpc>
                <a:spcPts val="1600"/>
              </a:lnSpc>
              <a:spcAft>
                <a:spcPts val="200"/>
              </a:spcAft>
            </a:pPr>
            <a:r>
              <a:rPr sz="1100" b="0">
                <a:solidFill>
                  <a:srgbClr val="2D2D2D"/>
                </a:solidFill>
              </a:rPr>
              <a:t>    • IPPO 534.4 (d=−2.47)</a:t>
            </a:r>
            <a:endParaRPr sz="1100" b="0">
              <a:solidFill>
                <a:srgbClr val="2D2D2D"/>
              </a:solidFill>
            </a:endParaRPr>
          </a:p>
          <a:p>
            <a:pPr algn="l">
              <a:lnSpc>
                <a:spcPts val="1600"/>
              </a:lnSpc>
              <a:spcAft>
                <a:spcPts val="200"/>
              </a:spcAft>
            </a:pPr>
            <a:r>
              <a:rPr sz="1100" b="0">
                <a:solidFill>
                  <a:srgbClr val="2D2D2D"/>
                </a:solidFill>
              </a:rPr>
              <a:t>    • 对手池博弈 328.2 (d=−8.03)</a:t>
            </a:r>
            <a:endParaRPr sz="1100" b="0">
              <a:solidFill>
                <a:srgbClr val="2D2D2D"/>
              </a:solidFill>
            </a:endParaRPr>
          </a:p>
          <a:p>
            <a:pPr algn="l">
              <a:lnSpc>
                <a:spcPts val="1600"/>
              </a:lnSpc>
              <a:spcAft>
                <a:spcPts val="200"/>
              </a:spcAft>
            </a:pPr>
            <a:r>
              <a:rPr sz="1100" b="0">
                <a:solidFill>
                  <a:srgbClr val="2D2D2D"/>
                </a:solidFill>
              </a:rPr>
              <a:t>  博弈训练退化源于奖励结构驱动，非能力限制（迁移实验证实）</a:t>
            </a:r>
            <a:endParaRPr sz="1100" b="0">
              <a:solidFill>
                <a:srgbClr val="2D2D2D"/>
              </a:solidFill>
            </a:endParaRPr>
          </a:p>
          <a:p>
            <a:pPr algn="l">
              <a:lnSpc>
                <a:spcPts val="1600"/>
              </a:lnSpc>
              <a:spcAft>
                <a:spcPts val="200"/>
              </a:spcAft>
            </a:pPr>
            <a:r>
              <a:rPr sz="1100" b="0">
                <a:solidFill>
                  <a:srgbClr val="2D2D2D"/>
                </a:solidFill>
              </a:rPr>
              <a:t>  退化程度与训练过程对手分布稳定性正相关</a:t>
            </a:r>
            <a:endParaRPr sz="1100" b="0">
              <a:solidFill>
                <a:srgbClr val="2D2D2D"/>
              </a:solidFill>
            </a:endParaRPr>
          </a:p>
        </p:txBody>
      </p:sp>
      <p:sp>
        <p:nvSpPr>
          <p:cNvPr id="8" name="Rounded Rectangle 7"/>
          <p:cNvSpPr/>
          <p:nvPr/>
        </p:nvSpPr>
        <p:spPr>
          <a:xfrm>
            <a:off x="6583680" y="1078992"/>
            <a:ext cx="4846320" cy="4754880"/>
          </a:xfrm>
          <a:prstGeom prst="roundRect">
            <a:avLst>
              <a:gd name="adj" fmla="val 5000"/>
            </a:avLst>
          </a:prstGeom>
          <a:solidFill>
            <a:srgbClr val="EBF0F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188720"/>
            <a:ext cx="4389120" cy="274320"/>
          </a:xfrm>
          <a:prstGeom prst="rect">
            <a:avLst/>
          </a:prstGeom>
          <a:noFill/>
        </p:spPr>
        <p:txBody>
          <a:bodyPr wrap="square"/>
          <a:lstStyle/>
          <a:p>
            <a:pPr algn="l"/>
            <a:r>
              <a:rPr sz="1500" b="1">
                <a:solidFill>
                  <a:srgbClr val="1A56A8"/>
                </a:solidFill>
              </a:rPr>
              <a:t>未来方向</a:t>
            </a:r>
            <a:endParaRPr sz="1500" b="1">
              <a:solidFill>
                <a:srgbClr val="1A56A8"/>
              </a:solidFill>
            </a:endParaRPr>
          </a:p>
        </p:txBody>
      </p:sp>
      <p:sp>
        <p:nvSpPr>
          <p:cNvPr id="10" name="TextBox 9"/>
          <p:cNvSpPr txBox="1"/>
          <p:nvPr/>
        </p:nvSpPr>
        <p:spPr>
          <a:xfrm>
            <a:off x="6766560" y="1581912"/>
            <a:ext cx="4389120" cy="4114800"/>
          </a:xfrm>
          <a:prstGeom prst="rect">
            <a:avLst/>
          </a:prstGeom>
          <a:noFill/>
        </p:spPr>
        <p:txBody>
          <a:bodyPr wrap="square"/>
          <a:lstStyle/>
          <a:p>
            <a:pPr algn="l">
              <a:lnSpc>
                <a:spcPts val="1700"/>
              </a:lnSpc>
              <a:spcAft>
                <a:spcPts val="200"/>
              </a:spcAft>
            </a:pPr>
            <a:r>
              <a:rPr sz="1100" b="0">
                <a:solidFill>
                  <a:srgbClr val="2D2D2D"/>
                </a:solidFill>
              </a:rPr>
              <a:t>  延长训练至收敛，验证更长训练后能否超越基线</a:t>
            </a:r>
            <a:endParaRPr sz="1100" b="0">
              <a:solidFill>
                <a:srgbClr val="2D2D2D"/>
              </a:solidFill>
            </a:endParaRPr>
          </a:p>
          <a:p>
            <a:pPr algn="l">
              <a:lnSpc>
                <a:spcPts val="1700"/>
              </a:lnSpc>
              <a:spcAft>
                <a:spcPts val="200"/>
              </a:spcAft>
            </a:pPr>
            <a:r>
              <a:rPr sz="1100" b="0">
                <a:solidFill>
                  <a:srgbClr val="2D2D2D"/>
                </a:solidFill>
              </a:rPr>
              <a:t>  为每种网络架构进行独立充分的超参数搜索</a:t>
            </a:r>
            <a:endParaRPr sz="1100" b="0">
              <a:solidFill>
                <a:srgbClr val="2D2D2D"/>
              </a:solidFill>
            </a:endParaRPr>
          </a:p>
          <a:p>
            <a:pPr algn="l">
              <a:lnSpc>
                <a:spcPts val="1700"/>
              </a:lnSpc>
              <a:spcAft>
                <a:spcPts val="200"/>
              </a:spcAft>
            </a:pPr>
            <a:r>
              <a:rPr sz="1100" b="0">
                <a:solidFill>
                  <a:srgbClr val="2D2D2D"/>
                </a:solidFill>
              </a:rPr>
              <a:t>  引入远程攻击、技能差异化等不对称对抗机制</a:t>
            </a:r>
            <a:endParaRPr sz="1100" b="0">
              <a:solidFill>
                <a:srgbClr val="2D2D2D"/>
              </a:solidFill>
            </a:endParaRPr>
          </a:p>
          <a:p>
            <a:pPr algn="l">
              <a:lnSpc>
                <a:spcPts val="1700"/>
              </a:lnSpc>
              <a:spcAft>
                <a:spcPts val="200"/>
              </a:spcAft>
            </a:pPr>
            <a:r>
              <a:rPr sz="1100" b="0">
                <a:solidFill>
                  <a:srgbClr val="2D2D2D"/>
                </a:solidFill>
              </a:rPr>
              <a:t>  改进对手池博弈：维护增长策略池，恢复自博弈阶段</a:t>
            </a:r>
            <a:endParaRPr sz="1100" b="0">
              <a:solidFill>
                <a:srgbClr val="2D2D2D"/>
              </a:solidFill>
            </a:endParaRPr>
          </a:p>
          <a:p>
            <a:pPr algn="l">
              <a:lnSpc>
                <a:spcPts val="1700"/>
              </a:lnSpc>
              <a:spcAft>
                <a:spcPts val="200"/>
              </a:spcAft>
            </a:pPr>
            <a:r>
              <a:rPr sz="1100" b="0">
                <a:solidFill>
                  <a:srgbClr val="2D2D2D"/>
                </a:solidFill>
              </a:rPr>
              <a:t>  引入胜率矩阵、策略多样性指数等博弈论评估指标</a:t>
            </a:r>
            <a:endParaRPr sz="1100" b="0">
              <a:solidFill>
                <a:srgbClr val="2D2D2D"/>
              </a:solidFill>
            </a:endParaRPr>
          </a:p>
          <a:p>
            <a:pPr algn="l">
              <a:lnSpc>
                <a:spcPts val="1700"/>
              </a:lnSpc>
              <a:spcAft>
                <a:spcPts val="200"/>
              </a:spcAft>
            </a:pPr>
            <a:r>
              <a:rPr sz="1100" b="0">
                <a:solidFill>
                  <a:srgbClr val="2D2D2D"/>
                </a:solidFill>
              </a:rPr>
              <a:t>  重新评估网络架构在多智能体博弈任务中的表现</a:t>
            </a:r>
            <a:endParaRPr sz="1100" b="0">
              <a:solidFill>
                <a:srgbClr val="2D2D2D"/>
              </a:solidFill>
            </a:endParaRPr>
          </a:p>
        </p:txBody>
      </p:sp>
      <p:sp>
        <p:nvSpPr>
          <p:cNvPr id="11" name="Rounded Rectangle 10"/>
          <p:cNvSpPr/>
          <p:nvPr/>
        </p:nvSpPr>
        <p:spPr>
          <a:xfrm>
            <a:off x="594360" y="6108192"/>
            <a:ext cx="11000232" cy="502920"/>
          </a:xfrm>
          <a:prstGeom prst="roundRect">
            <a:avLst>
              <a:gd name="adj" fmla="val 5000"/>
            </a:avLst>
          </a:prstGeom>
          <a:solidFill>
            <a:srgbClr val="EBF0F7"/>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6181344"/>
            <a:ext cx="10515600" cy="365760"/>
          </a:xfrm>
          <a:prstGeom prst="rect">
            <a:avLst/>
          </a:prstGeom>
          <a:noFill/>
        </p:spPr>
        <p:txBody>
          <a:bodyPr wrap="square"/>
          <a:lstStyle/>
          <a:p>
            <a:pPr algn="ctr"/>
            <a:r>
              <a:rPr sz="1200" b="1">
                <a:solidFill>
                  <a:srgbClr val="1A56A8"/>
                </a:solidFill>
              </a:rPr>
              <a:t>贡献：完整实验方案 + 非对称多人博弈实证比较 + [退化]发现与行为机制分析 + 因果层面迁移实验验证</a:t>
            </a:r>
            <a:endParaRPr sz="1200" b="1">
              <a:solidFill>
                <a:srgbClr val="1A56A8"/>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0"/>
            <a:ext cx="12191695" cy="32004"/>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0" y="2103120"/>
            <a:ext cx="3017520" cy="2286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377440"/>
            <a:ext cx="8503920" cy="1097280"/>
          </a:xfrm>
          <a:prstGeom prst="rect">
            <a:avLst/>
          </a:prstGeom>
          <a:noFill/>
        </p:spPr>
        <p:txBody>
          <a:bodyPr wrap="square"/>
          <a:lstStyle/>
          <a:p>
            <a:pPr algn="ctr"/>
            <a:r>
              <a:rPr sz="4800" b="1">
                <a:solidFill>
                  <a:srgbClr val="1A56A8"/>
                </a:solidFill>
              </a:rPr>
              <a:t>谢谢！</a:t>
            </a:r>
            <a:endParaRPr sz="4800" b="1">
              <a:solidFill>
                <a:srgbClr val="1A56A8"/>
              </a:solidFill>
            </a:endParaRPr>
          </a:p>
        </p:txBody>
      </p:sp>
      <p:sp>
        <p:nvSpPr>
          <p:cNvPr id="7" name="TextBox 6"/>
          <p:cNvSpPr txBox="1"/>
          <p:nvPr/>
        </p:nvSpPr>
        <p:spPr>
          <a:xfrm>
            <a:off x="1828800" y="3749039"/>
            <a:ext cx="8503920" cy="548640"/>
          </a:xfrm>
          <a:prstGeom prst="rect">
            <a:avLst/>
          </a:prstGeom>
          <a:noFill/>
        </p:spPr>
        <p:txBody>
          <a:bodyPr wrap="square"/>
          <a:lstStyle/>
          <a:p>
            <a:pPr algn="ctr"/>
            <a:r>
              <a:rPr sz="2000" b="0">
                <a:solidFill>
                  <a:srgbClr val="6B7B8D"/>
                </a:solidFill>
              </a:rPr>
              <a:t>敬请各位老师批评指正</a:t>
            </a:r>
            <a:endParaRPr sz="2000" b="0">
              <a:solidFill>
                <a:srgbClr val="6B7B8D"/>
              </a:solidFill>
            </a:endParaRPr>
          </a:p>
        </p:txBody>
      </p:sp>
      <p:sp>
        <p:nvSpPr>
          <p:cNvPr id="8" name="Rectangle 7"/>
          <p:cNvSpPr/>
          <p:nvPr/>
        </p:nvSpPr>
        <p:spPr>
          <a:xfrm>
            <a:off x="4572000" y="4572000"/>
            <a:ext cx="3017520" cy="2286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4937760"/>
            <a:ext cx="8503920" cy="365760"/>
          </a:xfrm>
          <a:prstGeom prst="rect">
            <a:avLst/>
          </a:prstGeom>
          <a:noFill/>
        </p:spPr>
        <p:txBody>
          <a:bodyPr wrap="square"/>
          <a:lstStyle/>
          <a:p>
            <a:pPr algn="ctr"/>
            <a:r>
              <a:rPr sz="1200" b="0">
                <a:solidFill>
                  <a:srgbClr val="9AA5AF"/>
                </a:solidFill>
              </a:rPr>
              <a:t>答辩人：蒋伦吉    |    指导教师：刘春阳    |    华北电力大学</a:t>
            </a:r>
            <a:endParaRPr sz="1200" b="0">
              <a:solidFill>
                <a:srgbClr val="9AA5AF"/>
              </a:solidFill>
            </a:endParaRPr>
          </a:p>
        </p:txBody>
      </p:sp>
      <p:pic>
        <p:nvPicPr>
          <p:cNvPr id="10" name="Picture 9" descr="ncepu.png"/>
          <p:cNvPicPr>
            <a:picLocks noChangeAspect="1"/>
          </p:cNvPicPr>
          <p:nvPr/>
        </p:nvPicPr>
        <p:blipFill>
          <a:blip r:embed="rId1"/>
          <a:stretch>
            <a:fillRect/>
          </a:stretch>
        </p:blipFill>
        <p:spPr>
          <a:xfrm>
            <a:off x="4116705" y="502920"/>
            <a:ext cx="3472984" cy="7772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4347</Words>
  <Application>WPS 演示</Application>
  <PresentationFormat>On-screen Show (4:3)</PresentationFormat>
  <Paragraphs>570</Paragraphs>
  <Slides>17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Arial</vt:lpstr>
      <vt:lpstr>宋体</vt:lpstr>
      <vt:lpstr>Wingdings</vt:lpstr>
      <vt:lpstr>Arial</vt:lpstr>
      <vt:lpstr>Calibri</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橘子</cp:lastModifiedBy>
  <cp:revision>3</cp:revision>
  <dcterms:created xsi:type="dcterms:W3CDTF">2013-01-27T09:14:00Z</dcterms:created>
  <dcterms:modified xsi:type="dcterms:W3CDTF">2026-06-07T11:40:00Z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458987B6B45E4124AA14B060C6AD8339_12</vt:lpwstr>
  </property>
</Properties>
</file>