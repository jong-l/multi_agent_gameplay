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schoolTour/softwares/multi-agent-gameplay/article/imgs/ncepu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182880"/>
            <a:ext cx="6400800" cy="822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97280" y="1143000"/>
            <a:ext cx="0" cy="3474720"/>
          </a:xfrm>
          <a:prstGeom prst="line">
            <a:avLst/>
          </a:prstGeom>
          <a:noFill/>
          <a:ln w="19050">
            <a:solidFill>
              <a:srgbClr val="5DADE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463040" y="173736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DADE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基于机器学习的对抗性机器博弈研究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2286000" y="2606040"/>
            <a:ext cx="4572000" cy="0"/>
          </a:xfrm>
          <a:prstGeom prst="line">
            <a:avLst/>
          </a:prstGeom>
          <a:noFill/>
          <a:ln w="9525">
            <a:solidFill>
              <a:srgbClr val="5DADE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463040" y="278892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F8C8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华北电力大学本科毕业设计答辩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63040" y="352044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答辩人：蒋伦吉　|　专业：计算机科学与技术　|　指导教师：刘春阳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463040" y="393192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2026年6月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8046720" cy="0"/>
          </a:xfrm>
          <a:prstGeom prst="line">
            <a:avLst/>
          </a:prstGeom>
          <a:noFill/>
          <a:ln w="6350">
            <a:solidFill>
              <a:srgbClr val="BDC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内容概览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71600" y="1353312"/>
            <a:ext cx="365760" cy="0"/>
          </a:xfrm>
          <a:prstGeom prst="line">
            <a:avLst/>
          </a:prstGeom>
          <a:noFill/>
          <a:ln w="6350">
            <a:solidFill>
              <a:srgbClr val="BDC3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2801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研究背景与目标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153619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博弈对抗是AI的试金石，明确研究问题与框架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1810512"/>
            <a:ext cx="7680960" cy="0"/>
          </a:xfrm>
          <a:prstGeom prst="line">
            <a:avLst/>
          </a:prstGeom>
          <a:noFill/>
          <a:ln w="6350">
            <a:solidFill>
              <a:srgbClr val="F8F9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93852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371600" y="2011680"/>
            <a:ext cx="365760" cy="0"/>
          </a:xfrm>
          <a:prstGeom prst="line">
            <a:avLst/>
          </a:prstGeom>
          <a:noFill/>
          <a:ln w="6350">
            <a:solidFill>
              <a:srgbClr val="BDC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1938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环境设计与基础训练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8800" y="219456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Swords竞技场构建、奖励工程与消融实验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468880"/>
            <a:ext cx="7680960" cy="0"/>
          </a:xfrm>
          <a:prstGeom prst="line">
            <a:avLst/>
          </a:prstGeom>
          <a:noFill/>
          <a:ln w="6350">
            <a:solidFill>
              <a:srgbClr val="F8F9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59689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371600" y="2670048"/>
            <a:ext cx="365760" cy="0"/>
          </a:xfrm>
          <a:prstGeom prst="line">
            <a:avLst/>
          </a:prstGeom>
          <a:noFill/>
          <a:ln w="6350">
            <a:solidFill>
              <a:srgbClr val="BDC3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2596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网络架构设计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28800" y="28529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/ Segmented MLP / GRU-MLP 对比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127248"/>
            <a:ext cx="7680960" cy="0"/>
          </a:xfrm>
          <a:prstGeom prst="line">
            <a:avLst/>
          </a:prstGeom>
          <a:noFill/>
          <a:ln w="6350">
            <a:solidFill>
              <a:srgbClr val="F8F9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25526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371600" y="3328416"/>
            <a:ext cx="365760" cy="0"/>
          </a:xfrm>
          <a:prstGeom prst="line">
            <a:avLst/>
          </a:prstGeom>
          <a:noFill/>
          <a:ln w="6350">
            <a:solidFill>
              <a:srgbClr val="BDC3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32552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多智能体博弈训练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28800" y="351129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IPPO / 对手池博弈 / 平均策略博弈 三种方法对比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3785616"/>
            <a:ext cx="7680960" cy="0"/>
          </a:xfrm>
          <a:prstGeom prst="line">
            <a:avLst/>
          </a:prstGeom>
          <a:noFill/>
          <a:ln w="6350">
            <a:solidFill>
              <a:srgbClr val="F8F9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91363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371600" y="3986784"/>
            <a:ext cx="365760" cy="0"/>
          </a:xfrm>
          <a:prstGeom prst="line">
            <a:avLst/>
          </a:prstGeom>
          <a:noFill/>
          <a:ln w="6350">
            <a:solidFill>
              <a:srgbClr val="BDC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0" y="39136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结论与展望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828800" y="416966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核心发现、实验结论与未来方向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4443984"/>
            <a:ext cx="7680960" cy="0"/>
          </a:xfrm>
          <a:prstGeom prst="line">
            <a:avLst/>
          </a:prstGeom>
          <a:noFill/>
          <a:ln w="6350">
            <a:solidFill>
              <a:srgbClr val="F8F9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8046720" cy="0"/>
          </a:xfrm>
          <a:prstGeom prst="line">
            <a:avLst/>
          </a:prstGeom>
          <a:noFill/>
          <a:ln w="6350">
            <a:solidFill>
              <a:srgbClr val="BDC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研究内容与框架</a:t>
            </a:r>
            <a:endParaRPr lang="en-US" sz="2400" dirty="0"/>
          </a:p>
        </p:txBody>
      </p:sp>
      <p:pic>
        <p:nvPicPr>
          <p:cNvPr id="5" name="Image 0" descr="D:/schoolTour/softwares/multi-agent-gameplay/article/imgs/research_framewo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097280"/>
            <a:ext cx="768096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华北电力大学 本科毕业设计答辩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8046720" cy="0"/>
          </a:xfrm>
          <a:prstGeom prst="line">
            <a:avLst/>
          </a:prstGeom>
          <a:noFill/>
          <a:ln w="6350">
            <a:solidFill>
              <a:srgbClr val="BDC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 Swords — 2D俯视角四人混战竞技场</a:t>
            </a:r>
            <a:endParaRPr lang="en-US" sz="2400" dirty="0"/>
          </a:p>
        </p:txBody>
      </p:sp>
      <p:pic>
        <p:nvPicPr>
          <p:cNvPr id="5" name="Image 0" descr="D:/schoolTour/softwares/multi-agent-gameplay/article/imgs/game_snapshot_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05840"/>
            <a:ext cx="4754880" cy="3108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0" y="1097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引擎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583680" y="1097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4.x + Godot RL Agents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0" y="1463040"/>
            <a:ext cx="3383280" cy="0"/>
          </a:xfrm>
          <a:prstGeom prst="line">
            <a:avLst/>
          </a:prstGeom>
          <a:noFill/>
          <a:ln w="6350">
            <a:solidFill>
              <a:srgbClr val="F8F9F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0" y="16459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地图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583680" y="1645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18×18栅格，封闭竞技场，含障碍物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0" y="2011680"/>
            <a:ext cx="3383280" cy="0"/>
          </a:xfrm>
          <a:prstGeom prst="line">
            <a:avLst/>
          </a:prstGeom>
          <a:noFill/>
          <a:ln w="6350">
            <a:solidFill>
              <a:srgbClr val="F8F9F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0" y="2194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583680" y="2194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4智能体（四角出生，差异化奖励）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0" y="2560320"/>
            <a:ext cx="3383280" cy="0"/>
          </a:xfrm>
          <a:prstGeom prst="line">
            <a:avLst/>
          </a:prstGeom>
          <a:noFill/>
          <a:ln w="6350">
            <a:solidFill>
              <a:srgbClr val="F8F9F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0" y="2743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元素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583680" y="2743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敌人NPC、A/B类奖励球、中央资源区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0" y="3108960"/>
            <a:ext cx="3383280" cy="0"/>
          </a:xfrm>
          <a:prstGeom prst="line">
            <a:avLst/>
          </a:prstGeom>
          <a:noFill/>
          <a:ln w="6350">
            <a:solidFill>
              <a:srgbClr val="F8F9F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0" y="3291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视角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583680" y="3291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2D俯视，视野半径200px部分可观测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0" y="3657600"/>
            <a:ext cx="3383280" cy="0"/>
          </a:xfrm>
          <a:prstGeom prst="line">
            <a:avLst/>
          </a:prstGeom>
          <a:noFill/>
          <a:ln w="6350">
            <a:solidFill>
              <a:srgbClr val="F8F9F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0" y="3840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机制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583680" y="3840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近战扇形攻击、生命值系统、3分钟对局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华北电力大学 本科毕业设计答辩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8046720" cy="0"/>
          </a:xfrm>
          <a:prstGeom prst="line">
            <a:avLst/>
          </a:prstGeom>
          <a:noFill/>
          <a:ln w="6350">
            <a:solidFill>
              <a:srgbClr val="BDC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观测空间设计 — 174维分段式编码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31520"/>
                <a:gridCol w="1097280"/>
                <a:gridCol w="51206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AD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AD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编码方式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AD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关键设计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ADE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坐标、血量、上一动作 one-hot、朝向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3×11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相对位置、血量、有效位掩码、固定槽位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8×5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按距离排序、类型、有效位掩码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ENEMY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5×10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固定槽位、攻击状态、视野内追踪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LiDAR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36×1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36条射线归一化距离 [0,1]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6576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核心设计原则：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以自身为中心编码（平移不变性）  ② 固定槽位编码（时序一致性）  ③ 有效位掩码（区分零填充与无效信息）  ④ 动力学信息（攻击状态、冷却）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华北电力大学 本科毕业设计答辩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8046720" cy="0"/>
          </a:xfrm>
          <a:prstGeom prst="line">
            <a:avLst/>
          </a:prstGeom>
          <a:noFill/>
          <a:ln w="6350">
            <a:solidFill>
              <a:srgbClr val="BDC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奖励函数设计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280160"/>
                <a:gridCol w="1280160"/>
                <a:gridCol w="1280160"/>
                <a:gridCol w="1280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奖励事件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AD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默认值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AD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战士型(0,2)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AD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采集型(1)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AD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均衡型(3)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ADE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拾取 A 球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拾取 B 球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对敌人造成伤害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对玩家造成伤害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击杀敌人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击杀玩家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受到伤害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死亡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攻击动作（/次）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移动（/通信帧）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静止（/通信帧）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中心区域奖励（/帧）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撞墙惩罚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稠密塑形：PBRS 奖励球势能引导 + 中心区域稠密奖励 + 移动/待机/攻击微惩罚（中心区域待机惩罚豁免）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华北电力大学 本科毕业设计答辩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ABLATION: MASK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8046720" cy="0"/>
          </a:xfrm>
          <a:prstGeom prst="line">
            <a:avLst/>
          </a:prstGeom>
          <a:noFill/>
          <a:ln w="6350">
            <a:solidFill>
              <a:srgbClr val="BDC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消融实验 — 有效位掩码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区分"数值为0的有效观测"与"实体不可见的零填充"</a:t>
            </a:r>
            <a:endParaRPr lang="en-US" sz="1200" dirty="0"/>
          </a:p>
        </p:txBody>
      </p:sp>
      <p:pic>
        <p:nvPicPr>
          <p:cNvPr id="6" name="Image 0" descr="D:/schoolTour/softwares/multi-agent-gameplay/article/imgs/valid_mask_comparison_player_ball_sco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371600"/>
            <a:ext cx="3931920" cy="2011680"/>
          </a:xfrm>
          <a:prstGeom prst="rect">
            <a:avLst/>
          </a:prstGeom>
        </p:spPr>
      </p:pic>
      <p:pic>
        <p:nvPicPr>
          <p:cNvPr id="7" name="Image 1" descr="D:/schoolTour/softwares/multi-agent-gameplay/article/imgs/valid_mask_comparison_total_ball_scor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371600"/>
            <a:ext cx="3931920" cy="20116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3566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有效位掩码使网络能明确区分有效信息与填充噪声，提升后期训练质量。未使用掩码时，智能体难以区分视野外实体与零值有效数据，导致学习信号混乱。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华北电力大学 本科毕业设计答辩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ABLATION: PBRS METHODS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8046720" cy="0"/>
          </a:xfrm>
          <a:prstGeom prst="line">
            <a:avLst/>
          </a:prstGeom>
          <a:noFill/>
          <a:ln w="6350">
            <a:solidFill>
              <a:srgbClr val="BDC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奖励塑形方法 — 势函数与稠密引导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64008" cy="594360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430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稀疏奖励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37160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仅在拾球时获得 R，中间无引导信号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554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基线方案，学习速度最慢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64008" cy="594360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20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线性势函数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1488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Φ(s) = −(R / rᵥ) · d + 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3317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距球越近奖励越高，线性衰减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64008" cy="594360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697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反比例势函数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29260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Φ(s) = R · rᵥ / (d + rᵥ)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310896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近距离梯度大，远距离趋于平缓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64008" cy="594360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4747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指数势函数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37033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Φ(s) = R · exp(−d / rᵥ)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3886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近距离梯度大于线性，远距离快速衰减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4251960"/>
            <a:ext cx="64008" cy="594360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251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距离奖励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44805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Φ(s) = d_t − d_{t+1}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46634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不需球分值R，对所有球统一施加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0" y="1188720"/>
            <a:ext cx="0" cy="3474720"/>
          </a:xfrm>
          <a:prstGeom prst="line">
            <a:avLst/>
          </a:prstGeom>
          <a:noFill/>
          <a:ln w="6350">
            <a:solidFill>
              <a:srgbClr val="BDC3C7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530352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多球聚合策略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141732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最近球模式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仅对视野内最近的奖励球计算势能，将多目标导航分解为阶段性子目标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所有球模式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对所有可见球叠加势能，但球间势能可能相互抵消，稀释引导信号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华北电力大学 本科毕业设计答辩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ABLATION: PBRS RESULTS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8046720" cy="0"/>
          </a:xfrm>
          <a:prstGeom prst="line">
            <a:avLst/>
          </a:prstGeom>
          <a:noFill/>
          <a:ln w="6350">
            <a:solidFill>
              <a:srgbClr val="BDC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消融实验 — 奖励球势能塑形对比结果</a:t>
            </a:r>
            <a:endParaRPr lang="en-US" sz="2400" dirty="0"/>
          </a:p>
        </p:txBody>
      </p:sp>
      <p:pic>
        <p:nvPicPr>
          <p:cNvPr id="5" name="Image 0" descr="D:/schoolTour/softwares/multi-agent-gameplay/article/imgs/per_player_comparison-bal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88720"/>
            <a:ext cx="4114800" cy="3017520"/>
          </a:xfrm>
          <a:prstGeom prst="rect">
            <a:avLst/>
          </a:prstGeom>
        </p:spPr>
      </p:pic>
      <p:pic>
        <p:nvPicPr>
          <p:cNvPr id="6" name="Image 1" descr="D:/schoolTour/softwares/multi-agent-gameplay/article/imgs/total_comparison-bal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188720"/>
            <a:ext cx="4114800" cy="3017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华北电力大学 本科毕业设计答辩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ABLATION: PBRS RESULTS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8046720" cy="0"/>
          </a:xfrm>
          <a:prstGeom prst="line">
            <a:avLst/>
          </a:prstGeom>
          <a:noFill/>
          <a:ln w="6350">
            <a:solidFill>
              <a:srgbClr val="BDC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消融实验 — 奖励球势能塑形对比结果（续）</a:t>
            </a:r>
            <a:endParaRPr lang="en-US" sz="2400" dirty="0"/>
          </a:p>
        </p:txBody>
      </p:sp>
      <p:pic>
        <p:nvPicPr>
          <p:cNvPr id="5" name="Image 0" descr="D:/schoolTour/softwares/multi-agent-gameplay/article/imgs/nearest_vs_all_player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88720"/>
            <a:ext cx="4114800" cy="3017520"/>
          </a:xfrm>
          <a:prstGeom prst="rect">
            <a:avLst/>
          </a:prstGeom>
        </p:spPr>
      </p:pic>
      <p:pic>
        <p:nvPicPr>
          <p:cNvPr id="6" name="Image 1" descr="D:/schoolTour/softwares/multi-agent-gameplay/article/imgs/nearest_vs_all_total_comparis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188720"/>
            <a:ext cx="4114800" cy="3017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结论：线性势函数 + 最近球模式最优，多球叠加导致势能抵消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ABLATION: WALL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8046720" cy="0"/>
          </a:xfrm>
          <a:prstGeom prst="line">
            <a:avLst/>
          </a:prstGeom>
          <a:noFill/>
          <a:ln w="6350">
            <a:solidFill>
              <a:srgbClr val="BDC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避障方法对比</a:t>
            </a:r>
            <a:endParaRPr lang="en-US" sz="2400" dirty="0"/>
          </a:p>
        </p:txBody>
      </p:sp>
      <p:pic>
        <p:nvPicPr>
          <p:cNvPr id="5" name="Image 0" descr="D:/schoolTour/softwares/multi-agent-gameplay/article/imgs/wall_potential_comparison_total_sco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3931920" cy="2560320"/>
          </a:xfrm>
          <a:prstGeom prst="rect">
            <a:avLst/>
          </a:prstGeom>
        </p:spPr>
      </p:pic>
      <p:pic>
        <p:nvPicPr>
          <p:cNvPr id="6" name="Image 1" descr="D:/schoolTour/softwares/multi-agent-gameplay/article/imgs/wall_potential_comparison_total_wall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1188720"/>
            <a:ext cx="3931920" cy="2560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稠密塑形虽大幅降低撞墙，但导致智能体系统性回避障碍物附近的奖励球——"不是越远越好"。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华北电力大学 本科毕业设计答辩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8046720" cy="0"/>
          </a:xfrm>
          <a:prstGeom prst="line">
            <a:avLst/>
          </a:prstGeom>
          <a:noFill/>
          <a:ln w="6350">
            <a:solidFill>
              <a:srgbClr val="BDC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网络架构设计</a:t>
            </a:r>
            <a:endParaRPr lang="en-US" sz="2400" dirty="0"/>
          </a:p>
        </p:txBody>
      </p:sp>
      <p:pic>
        <p:nvPicPr>
          <p:cNvPr id="5" name="Image 0" descr="D:/schoolTour/softwares/multi-agent-gameplay/article/imgs/network_architectur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05840"/>
            <a:ext cx="804672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MLP：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观测直入全连接   </a:t>
            </a:r>
            <a:pPr indent="0" marL="0">
              <a:buNone/>
            </a:pPr>
            <a:r>
              <a:rPr lang="en-US" sz="11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MLP：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各语义段独立子MLP→融合   </a:t>
            </a:r>
            <a:pPr indent="0" marL="0">
              <a:buNone/>
            </a:pPr>
            <a:r>
              <a:rPr lang="en-US" sz="11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GRU-MLP：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时序段经GRU捕获时间依赖，BALL段独立MLP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华北电力大学 本科毕业设计答辩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COMPARISON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8046720" cy="0"/>
          </a:xfrm>
          <a:prstGeom prst="line">
            <a:avLst/>
          </a:prstGeom>
          <a:noFill/>
          <a:ln w="6350">
            <a:solidFill>
              <a:srgbClr val="BDC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网络架构对比</a:t>
            </a:r>
            <a:endParaRPr lang="en-US" sz="2400" dirty="0"/>
          </a:p>
        </p:txBody>
      </p:sp>
      <p:pic>
        <p:nvPicPr>
          <p:cNvPr id="5" name="Image 0" descr="D:/schoolTour/softwares/multi-agent-gameplay/article/imgs/s1_total_ball_sco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51560"/>
            <a:ext cx="3931920" cy="1737360"/>
          </a:xfrm>
          <a:prstGeom prst="rect">
            <a:avLst/>
          </a:prstGeom>
        </p:spPr>
      </p:pic>
      <p:pic>
        <p:nvPicPr>
          <p:cNvPr id="6" name="Image 1" descr="D:/schoolTour/softwares/multi-agent-gameplay/article/imgs/sarl_total_scor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051560"/>
            <a:ext cx="3931920" cy="1737360"/>
          </a:xfrm>
          <a:prstGeom prst="rect">
            <a:avLst/>
          </a:prstGeom>
        </p:spPr>
      </p:pic>
      <p:pic>
        <p:nvPicPr>
          <p:cNvPr id="7" name="Image 2" descr="D:/schoolTour/softwares/multi-agent-gameplay/article/imgs/optuna_round2_compar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48640" y="2880360"/>
            <a:ext cx="8046720" cy="17373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结论：MLP得分最高→采用为基础架构；GRU时序优势未转化为收益；SegMLP有优化潜力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8046720" cy="0"/>
          </a:xfrm>
          <a:prstGeom prst="line">
            <a:avLst/>
          </a:prstGeom>
          <a:noFill/>
          <a:ln w="6350">
            <a:solidFill>
              <a:srgbClr val="BDC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博弈方法评估与对比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构造一个包含20种策略的对手池，使用博弈训练方法，在多智能体场景下，以智能体0为训练对象评估不同方法的训练效果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864" cy="2743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25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三种博弈训练方法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73152" cy="77724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783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独立近端策略优化（IPPO）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13055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四个智能体同步IPPO训练，将其他智能体视为环境的一部分，不引入任何集中式组件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73152" cy="7772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对手池博弈 (PFSP)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04495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基于PSRO框架，PFSP采样对手组合，聚焦困难对手进行针对性训练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73152" cy="7772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611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平均策略博弈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95935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基于虚拟博弈思想，将20组对手策略在动作概率空间算术平均作为对手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华北电力大学 本科毕业设计答辩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8046720" cy="0"/>
          </a:xfrm>
          <a:prstGeom prst="line">
            <a:avLst/>
          </a:prstGeom>
          <a:noFill/>
          <a:ln w="6350">
            <a:solidFill>
              <a:srgbClr val="BDC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多智能体博弈 — 评估流程</a:t>
            </a:r>
            <a:endParaRPr lang="en-US" sz="2400" dirty="0"/>
          </a:p>
        </p:txBody>
      </p:sp>
      <p:pic>
        <p:nvPicPr>
          <p:cNvPr id="5" name="Image 0" descr="D:/schoolTour/softwares/multi-agent-gameplay/article/imgs/gameplay_evalua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822960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华北电力大学 本科毕业设计答辩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REWARD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8046720" cy="0"/>
          </a:xfrm>
          <a:prstGeom prst="line">
            <a:avLst/>
          </a:prstGeom>
          <a:noFill/>
          <a:ln w="6350">
            <a:solidFill>
              <a:srgbClr val="BDC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多智能体实验结果 — 奖励对比</a:t>
            </a:r>
            <a:endParaRPr lang="en-US" sz="2400" dirty="0"/>
          </a:p>
        </p:txBody>
      </p:sp>
      <p:pic>
        <p:nvPicPr>
          <p:cNvPr id="5" name="Image 0" descr="D:/schoolTour/softwares/multi-agent-gameplay/article/imgs/eval_compare_rew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4572000" cy="2377440"/>
          </a:xfrm>
          <a:prstGeom prst="rect">
            <a:avLst/>
          </a:prstGeom>
        </p:spPr>
      </p:pic>
      <p:pic>
        <p:nvPicPr>
          <p:cNvPr id="6" name="Image 1" descr="D:/schoolTour/softwares/multi-agent-gameplay/article/imgs/eval_compare_effectsiz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0" y="1005840"/>
            <a:ext cx="3840480" cy="23774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566160"/>
            <a:ext cx="8046720" cy="10972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361188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核心发现：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初始策略对照 (598.5) &gt; 平均策略博弈 (573.2) &gt; IPPO (534.4) &gt; 对手池博弈 (328.2)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全部六对比较均在 p&lt;0.01 水平显著，|d| 全部 &gt;0.8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三种博弈训练方法均未能超越初始策略——"</a:t>
            </a:r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博弈训练导致性能退化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华北电力大学 本科毕业设计答辩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BEHAVIOR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8046720" cy="0"/>
          </a:xfrm>
          <a:prstGeom prst="line">
            <a:avLst/>
          </a:prstGeom>
          <a:noFill/>
          <a:ln w="6350">
            <a:solidFill>
              <a:srgbClr val="BDC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多智能体实验结果 — 行为策略画像</a:t>
            </a:r>
            <a:endParaRPr lang="en-US" sz="2400" dirty="0"/>
          </a:p>
        </p:txBody>
      </p:sp>
      <p:pic>
        <p:nvPicPr>
          <p:cNvPr id="5" name="Image 0" descr="D:/schoolTour/softwares/multi-agent-gameplay/article/imgs/eval_compare_behavior_eve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05840"/>
            <a:ext cx="5669280" cy="2286000"/>
          </a:xfrm>
          <a:prstGeom prst="rect">
            <a:avLst/>
          </a:prstGeom>
        </p:spPr>
      </p:pic>
      <p:pic>
        <p:nvPicPr>
          <p:cNvPr id="6" name="Image 1" descr="D:/schoolTour/softwares/multi-agent-gameplay/article/imgs/eval_compare_behavior_profil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35040" y="1005840"/>
            <a:ext cx="2834640" cy="2286000"/>
          </a:xfrm>
          <a:prstGeom prst="rect">
            <a:avLst/>
          </a:prstGeom>
        </p:spPr>
      </p:pic>
      <p:pic>
        <p:nvPicPr>
          <p:cNvPr id="7" name="Image 2" descr="D:/schoolTour/softwares/multi-agent-gameplay/article/imgs/eval_compare_combat_collection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65760" y="3291840"/>
            <a:ext cx="3931920" cy="1371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572000" y="329184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退化机制：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博弈训练 → 攻击频率↓、攻击敌人次数↓ → PvE收入↓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博弈训练 → 资源收集↑ → 但不足以补偿战斗损失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PvP指标极低：每局击杀玩家≈0，四种策略均无有效PvP行为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对手越稳定 → 退化越轻（平均&gt;IPPO&gt;PFSP）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华北电力大学 本科毕业设计答辩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8046720" cy="0"/>
          </a:xfrm>
          <a:prstGeom prst="line">
            <a:avLst/>
          </a:prstGeom>
          <a:noFill/>
          <a:ln w="6350">
            <a:solidFill>
              <a:srgbClr val="BDC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PvP→PvE 迁移实验 — 设计与训练</a:t>
            </a:r>
            <a:endParaRPr lang="en-US" sz="2400" dirty="0"/>
          </a:p>
        </p:txBody>
      </p:sp>
      <p:pic>
        <p:nvPicPr>
          <p:cNvPr id="5" name="Image 0" descr="D:/schoolTour/softwares/multi-agent-gameplay/article/imgs/ch5_pvp_training_cur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97280"/>
            <a:ext cx="411480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Text 4"/>
          <p:cNvSpPr/>
          <p:nvPr/>
        </p:nvSpPr>
        <p:spPr>
          <a:xfrm>
            <a:off x="4937760" y="1188720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实验设计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目标：检验PvP行为缺失是能力限制还是环境奖励结构驱动？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方法：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在纯博弈环境（无敌人/无球）训练PvP智能体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将训练好的策略迁移至完整环境（含敌人+球）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比较冻结策略 vs 继续训练的策略表现差异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华北电力大学 本科毕业设计答辩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8046720" cy="0"/>
          </a:xfrm>
          <a:prstGeom prst="line">
            <a:avLst/>
          </a:prstGeom>
          <a:noFill/>
          <a:ln w="6350">
            <a:solidFill>
              <a:srgbClr val="BDC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PvP→PvE 迁移实验 — 训练过程</a:t>
            </a:r>
            <a:endParaRPr lang="en-US" sz="2400" dirty="0"/>
          </a:p>
        </p:txBody>
      </p:sp>
      <p:pic>
        <p:nvPicPr>
          <p:cNvPr id="5" name="Image 0" descr="D:/schoolTour/softwares/multi-agent-gameplay/article/imgs/migration_pvp_to_pve_unfroz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97280"/>
            <a:ext cx="8046720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华北电力大学 本科毕业设计答辩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(2/2)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8046720" cy="0"/>
          </a:xfrm>
          <a:prstGeom prst="line">
            <a:avLst/>
          </a:prstGeom>
          <a:noFill/>
          <a:ln w="6350">
            <a:solidFill>
              <a:srgbClr val="BDC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PvP→PvE 迁移实验 — 冻结 vs 继续训练</a:t>
            </a:r>
            <a:endParaRPr lang="en-US" sz="2400" dirty="0"/>
          </a:p>
        </p:txBody>
      </p:sp>
      <p:pic>
        <p:nvPicPr>
          <p:cNvPr id="5" name="Image 0" descr="D:/schoolTour/softwares/multi-agent-gameplay/article/imgs/migration_pvp_to_pve_frozen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8229600" cy="2560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3749040"/>
            <a:ext cx="8046720" cy="9144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7947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因果结论：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纯博弈环境训练的智能体具备充分的 PvP 能力，但迁移至完整环境后自发将攻击目标从玩家重新分配至敌人。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相比于冻结策略，继续训练的策略 PvP 伤害次数下降 61%，PvE 伤害次数上升 23%。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PvP 行为的缺失是环境奖励结构驱动的理性选择，而非智能体能力限制。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华北电力大学 本科毕业设计答辩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"/>
            <a:ext cx="9144000" cy="0"/>
          </a:xfrm>
          <a:prstGeom prst="line">
            <a:avLst/>
          </a:prstGeom>
          <a:noFill/>
          <a:ln w="19050">
            <a:solidFill>
              <a:srgbClr val="5DADE2"/>
            </a:solidFill>
            <a:prstDash val="solid"/>
          </a:ln>
        </p:spPr>
      </p:sp>
      <p:pic>
        <p:nvPicPr>
          <p:cNvPr id="3" name="Image 0" descr="D:/schoolTour/softwares/multi-agent-gameplay/article/imgs/ncepu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182880"/>
            <a:ext cx="6400800" cy="822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926080" y="1325880"/>
            <a:ext cx="3291840" cy="0"/>
          </a:xfrm>
          <a:prstGeom prst="line">
            <a:avLst/>
          </a:prstGeom>
          <a:noFill/>
          <a:ln w="12700">
            <a:solidFill>
              <a:srgbClr val="5DADE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645920" y="146304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DADE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谢谢！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645920" y="24231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敬请各位老师批评指正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926080" y="2971800"/>
            <a:ext cx="3291840" cy="0"/>
          </a:xfrm>
          <a:prstGeom prst="line">
            <a:avLst/>
          </a:prstGeom>
          <a:noFill/>
          <a:ln w="12700">
            <a:solidFill>
              <a:srgbClr val="5DADE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45920" y="324612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答辩人：蒋伦吉　|　指导教师：刘春阳　|　华北电力大学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956048"/>
            <a:ext cx="9144000" cy="0"/>
          </a:xfrm>
          <a:prstGeom prst="line">
            <a:avLst/>
          </a:prstGeom>
          <a:noFill/>
          <a:ln w="19050">
            <a:solidFill>
              <a:srgbClr val="5DADE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基于机器学习的对抗性机器博弈研究</dc:title>
  <dc:subject>PptxGenJS Presentation</dc:subject>
  <dc:creator>蒋伦吉</dc:creator>
  <cp:lastModifiedBy>蒋伦吉</cp:lastModifiedBy>
  <cp:revision>1</cp:revision>
  <dcterms:created xsi:type="dcterms:W3CDTF">2026-06-07T13:40:46Z</dcterms:created>
  <dcterms:modified xsi:type="dcterms:W3CDTF">2026-06-07T13:40:46Z</dcterms:modified>
</cp:coreProperties>
</file>